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4"/>
  </p:notesMasterIdLst>
  <p:sldIdLst>
    <p:sldId id="256" r:id="rId2"/>
    <p:sldId id="257" r:id="rId3"/>
    <p:sldId id="258" r:id="rId4"/>
    <p:sldId id="262" r:id="rId5"/>
    <p:sldId id="263" r:id="rId6"/>
    <p:sldId id="264" r:id="rId7"/>
    <p:sldId id="265" r:id="rId8"/>
    <p:sldId id="266" r:id="rId9"/>
    <p:sldId id="267" r:id="rId10"/>
    <p:sldId id="268" r:id="rId11"/>
    <p:sldId id="269" r:id="rId12"/>
    <p:sldId id="270" r:id="rId13"/>
    <p:sldId id="271" r:id="rId14"/>
    <p:sldId id="272" r:id="rId15"/>
    <p:sldId id="273" r:id="rId16"/>
    <p:sldId id="274" r:id="rId17"/>
    <p:sldId id="275" r:id="rId18"/>
    <p:sldId id="276" r:id="rId19"/>
    <p:sldId id="277" r:id="rId20"/>
    <p:sldId id="278" r:id="rId21"/>
    <p:sldId id="279" r:id="rId22"/>
    <p:sldId id="280" r:id="rId23"/>
    <p:sldId id="281" r:id="rId24"/>
    <p:sldId id="282" r:id="rId25"/>
    <p:sldId id="283" r:id="rId26"/>
    <p:sldId id="284" r:id="rId27"/>
    <p:sldId id="285" r:id="rId28"/>
    <p:sldId id="286" r:id="rId29"/>
    <p:sldId id="287" r:id="rId30"/>
    <p:sldId id="288" r:id="rId31"/>
    <p:sldId id="289" r:id="rId32"/>
    <p:sldId id="290" r:id="rId33"/>
    <p:sldId id="291" r:id="rId34"/>
    <p:sldId id="292" r:id="rId35"/>
    <p:sldId id="294" r:id="rId36"/>
    <p:sldId id="295" r:id="rId37"/>
    <p:sldId id="296" r:id="rId38"/>
    <p:sldId id="297" r:id="rId39"/>
    <p:sldId id="298" r:id="rId40"/>
    <p:sldId id="299" r:id="rId41"/>
    <p:sldId id="300" r:id="rId42"/>
    <p:sldId id="293" r:id="rId43"/>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397" autoAdjust="0"/>
    <p:restoredTop sz="94610"/>
  </p:normalViewPr>
  <p:slideViewPr>
    <p:cSldViewPr snapToGrid="0" snapToObjects="1">
      <p:cViewPr varScale="1">
        <p:scale>
          <a:sx n="98" d="100"/>
          <a:sy n="98" d="100"/>
        </p:scale>
        <p:origin x="540"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277203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628"/>
        </a:solidFill>
        <a:effectLst/>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0891B2"/>
          </a:solidFill>
          <a:ln w="12700">
            <a:solidFill>
              <a:srgbClr val="0891B2"/>
            </a:solidFill>
            <a:prstDash val="solid"/>
          </a:ln>
        </p:spPr>
      </p:sp>
      <p:sp>
        <p:nvSpPr>
          <p:cNvPr id="3" name="Text 1"/>
          <p:cNvSpPr/>
          <p:nvPr/>
        </p:nvSpPr>
        <p:spPr>
          <a:xfrm>
            <a:off x="411480" y="777240"/>
            <a:ext cx="7772400" cy="1920240"/>
          </a:xfrm>
          <a:prstGeom prst="rect">
            <a:avLst/>
          </a:prstGeom>
          <a:noFill/>
          <a:ln/>
        </p:spPr>
        <p:txBody>
          <a:bodyPr wrap="square" rtlCol="0" anchor="ctr"/>
          <a:lstStyle/>
          <a:p>
            <a:pPr marL="0" indent="0">
              <a:buNone/>
            </a:pPr>
            <a:r>
              <a:rPr lang="en-US" sz="3800" b="1" dirty="0">
                <a:solidFill>
                  <a:srgbClr val="FFFFFF"/>
                </a:solidFill>
                <a:latin typeface="Calibri" pitchFamily="34" charset="0"/>
                <a:ea typeface="Calibri" pitchFamily="34" charset="-122"/>
                <a:cs typeface="Calibri" pitchFamily="34" charset="-120"/>
              </a:rPr>
              <a:t>Alerte Fraude</a:t>
            </a:r>
            <a:endParaRPr lang="en-US" sz="3800" dirty="0"/>
          </a:p>
          <a:p>
            <a:pPr marL="0" indent="0">
              <a:buNone/>
            </a:pPr>
            <a:r>
              <a:rPr lang="en-US" sz="3800" b="1" dirty="0">
                <a:solidFill>
                  <a:srgbClr val="FFFFFF"/>
                </a:solidFill>
                <a:latin typeface="Calibri" pitchFamily="34" charset="0"/>
                <a:ea typeface="Calibri" pitchFamily="34" charset="-122"/>
                <a:cs typeface="Calibri" pitchFamily="34" charset="-120"/>
              </a:rPr>
              <a:t>Néo-Banque SecurePay</a:t>
            </a:r>
            <a:endParaRPr lang="en-US" sz="3800" dirty="0"/>
          </a:p>
        </p:txBody>
      </p:sp>
      <p:sp>
        <p:nvSpPr>
          <p:cNvPr id="4" name="Text 2"/>
          <p:cNvSpPr/>
          <p:nvPr/>
        </p:nvSpPr>
        <p:spPr>
          <a:xfrm>
            <a:off x="411480" y="2743200"/>
            <a:ext cx="6400800" cy="548640"/>
          </a:xfrm>
          <a:prstGeom prst="rect">
            <a:avLst/>
          </a:prstGeom>
          <a:noFill/>
          <a:ln/>
        </p:spPr>
        <p:txBody>
          <a:bodyPr wrap="square" rtlCol="0" anchor="ctr"/>
          <a:lstStyle/>
          <a:p>
            <a:pPr marL="0" indent="0">
              <a:buNone/>
            </a:pPr>
            <a:r>
              <a:rPr lang="en-US" sz="2200" dirty="0" smtClean="0">
                <a:solidFill>
                  <a:srgbClr val="22D3EE"/>
                </a:solidFill>
                <a:latin typeface="Calibri" pitchFamily="34" charset="0"/>
                <a:ea typeface="Calibri" pitchFamily="34" charset="-122"/>
                <a:cs typeface="Calibri" pitchFamily="34" charset="-120"/>
              </a:rPr>
              <a:t>37 </a:t>
            </a:r>
            <a:r>
              <a:rPr lang="en-US" sz="2200" dirty="0">
                <a:solidFill>
                  <a:srgbClr val="22D3EE"/>
                </a:solidFill>
                <a:latin typeface="Calibri" pitchFamily="34" charset="0"/>
                <a:ea typeface="Calibri" pitchFamily="34" charset="-122"/>
                <a:cs typeface="Calibri" pitchFamily="34" charset="-120"/>
              </a:rPr>
              <a:t>Requêtes Oracle SQL</a:t>
            </a:r>
            <a:endParaRPr lang="en-US" sz="2200" dirty="0"/>
          </a:p>
        </p:txBody>
      </p:sp>
      <p:sp>
        <p:nvSpPr>
          <p:cNvPr id="5" name="Shape 3"/>
          <p:cNvSpPr/>
          <p:nvPr/>
        </p:nvSpPr>
        <p:spPr>
          <a:xfrm>
            <a:off x="411480" y="3337560"/>
            <a:ext cx="6858000" cy="0"/>
          </a:xfrm>
          <a:prstGeom prst="line">
            <a:avLst/>
          </a:prstGeom>
          <a:noFill/>
          <a:ln w="12700">
            <a:solidFill>
              <a:srgbClr val="1E4060"/>
            </a:solidFill>
            <a:prstDash val="solid"/>
          </a:ln>
        </p:spPr>
      </p:sp>
      <p:sp>
        <p:nvSpPr>
          <p:cNvPr id="6" name="Text 4"/>
          <p:cNvSpPr/>
          <p:nvPr/>
        </p:nvSpPr>
        <p:spPr>
          <a:xfrm>
            <a:off x="411480" y="3456432"/>
            <a:ext cx="6400800" cy="347472"/>
          </a:xfrm>
          <a:prstGeom prst="rect">
            <a:avLst/>
          </a:prstGeom>
          <a:noFill/>
          <a:ln/>
        </p:spPr>
        <p:txBody>
          <a:bodyPr wrap="square" rtlCol="0" anchor="ctr"/>
          <a:lstStyle/>
          <a:p>
            <a:pPr marL="0" indent="0">
              <a:buNone/>
            </a:pPr>
            <a:r>
              <a:rPr lang="en-US" sz="1400" dirty="0">
                <a:solidFill>
                  <a:srgbClr val="94A3B8"/>
                </a:solidFill>
                <a:latin typeface="Calibri" pitchFamily="34" charset="0"/>
                <a:ea typeface="Calibri" pitchFamily="34" charset="-122"/>
                <a:cs typeface="Calibri" pitchFamily="34" charset="-120"/>
              </a:rPr>
              <a:t>Anas SAOUDI  ·  Mohamed BATTI</a:t>
            </a:r>
            <a:endParaRPr lang="en-US" sz="1400" dirty="0"/>
          </a:p>
        </p:txBody>
      </p:sp>
      <p:sp>
        <p:nvSpPr>
          <p:cNvPr id="7" name="Text 5"/>
          <p:cNvSpPr/>
          <p:nvPr/>
        </p:nvSpPr>
        <p:spPr>
          <a:xfrm>
            <a:off x="411480" y="3813048"/>
            <a:ext cx="6400800" cy="292608"/>
          </a:xfrm>
          <a:prstGeom prst="rect">
            <a:avLst/>
          </a:prstGeom>
          <a:noFill/>
          <a:ln/>
        </p:spPr>
        <p:txBody>
          <a:bodyPr wrap="square" rtlCol="0" anchor="ctr"/>
          <a:lstStyle/>
          <a:p>
            <a:pPr marL="0" indent="0">
              <a:buNone/>
            </a:pPr>
            <a:r>
              <a:rPr lang="en-US" sz="1100" dirty="0">
                <a:solidFill>
                  <a:srgbClr val="64748B"/>
                </a:solidFill>
                <a:latin typeface="Calibri" pitchFamily="34" charset="0"/>
                <a:ea typeface="Calibri" pitchFamily="34" charset="-122"/>
                <a:cs typeface="Calibri" pitchFamily="34" charset="-120"/>
              </a:rPr>
              <a:t>INDP1 C  ·  Sup'Com  ·  2025 – 2026</a:t>
            </a:r>
            <a:endParaRPr lang="en-US" sz="1100" dirty="0"/>
          </a:p>
        </p:txBody>
      </p:sp>
      <p:sp>
        <p:nvSpPr>
          <p:cNvPr id="8" name="Text 6"/>
          <p:cNvSpPr/>
          <p:nvPr/>
        </p:nvSpPr>
        <p:spPr>
          <a:xfrm>
            <a:off x="411480" y="4133088"/>
            <a:ext cx="6400800" cy="292608"/>
          </a:xfrm>
          <a:prstGeom prst="rect">
            <a:avLst/>
          </a:prstGeom>
          <a:noFill/>
          <a:ln/>
        </p:spPr>
        <p:txBody>
          <a:bodyPr wrap="square" rtlCol="0" anchor="ctr"/>
          <a:lstStyle/>
          <a:p>
            <a:pPr marL="0" indent="0">
              <a:buNone/>
            </a:pPr>
            <a:r>
              <a:rPr lang="en-US" sz="1100" i="1" dirty="0">
                <a:solidFill>
                  <a:srgbClr val="64748B"/>
                </a:solidFill>
                <a:latin typeface="Calibri" pitchFamily="34" charset="0"/>
                <a:ea typeface="Calibri" pitchFamily="34" charset="-122"/>
                <a:cs typeface="Calibri" pitchFamily="34" charset="-120"/>
              </a:rPr>
              <a:t>Sous la direction de Mme. Malek BEN YOUSSEF</a:t>
            </a:r>
            <a:endParaRPr lang="en-US" sz="1100" dirty="0"/>
          </a:p>
        </p:txBody>
      </p:sp>
      <p:sp>
        <p:nvSpPr>
          <p:cNvPr id="9" name="Shape 7"/>
          <p:cNvSpPr/>
          <p:nvPr/>
        </p:nvSpPr>
        <p:spPr>
          <a:xfrm>
            <a:off x="8046720" y="3291840"/>
            <a:ext cx="914400" cy="914400"/>
          </a:xfrm>
          <a:prstGeom prst="rect">
            <a:avLst/>
          </a:prstGeom>
          <a:solidFill>
            <a:srgbClr val="0891B2">
              <a:alpha val="25000"/>
            </a:srgbClr>
          </a:solidFill>
          <a:ln w="12700">
            <a:solidFill>
              <a:srgbClr val="0891B2">
                <a:alpha val="25000"/>
              </a:srgbClr>
            </a:solidFill>
            <a:prstDash val="solid"/>
          </a:ln>
        </p:spPr>
      </p:sp>
      <p:sp>
        <p:nvSpPr>
          <p:cNvPr id="10" name="Shape 8"/>
          <p:cNvSpPr/>
          <p:nvPr/>
        </p:nvSpPr>
        <p:spPr>
          <a:xfrm>
            <a:off x="8412480" y="3657600"/>
            <a:ext cx="640080" cy="640080"/>
          </a:xfrm>
          <a:prstGeom prst="rect">
            <a:avLst/>
          </a:prstGeom>
          <a:solidFill>
            <a:srgbClr val="0891B2">
              <a:alpha val="50000"/>
            </a:srgbClr>
          </a:solidFill>
          <a:ln w="12700">
            <a:solidFill>
              <a:srgbClr val="0891B2">
                <a:alpha val="50000"/>
              </a:srgbClr>
            </a:solidFill>
            <a:prstDash val="solid"/>
          </a:ln>
        </p:spPr>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0F6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B1628"/>
          </a:solidFill>
          <a:ln w="12700">
            <a:solidFill>
              <a:srgbClr val="0B1628"/>
            </a:solidFill>
            <a:prstDash val="solid"/>
          </a:ln>
        </p:spPr>
      </p:sp>
      <p:sp>
        <p:nvSpPr>
          <p:cNvPr id="3" name="Text 1"/>
          <p:cNvSpPr/>
          <p:nvPr/>
        </p:nvSpPr>
        <p:spPr>
          <a:xfrm>
            <a:off x="274320" y="0"/>
            <a:ext cx="8595360" cy="822960"/>
          </a:xfrm>
          <a:prstGeom prst="rect">
            <a:avLst/>
          </a:prstGeom>
          <a:noFill/>
          <a:ln/>
        </p:spPr>
        <p:txBody>
          <a:bodyPr wrap="square"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Cahier des Charges — Projet SecurePay</a:t>
            </a:r>
            <a:endParaRPr lang="en-US" sz="2000" dirty="0"/>
          </a:p>
        </p:txBody>
      </p:sp>
      <p:sp>
        <p:nvSpPr>
          <p:cNvPr id="4" name="Shape 2"/>
          <p:cNvSpPr/>
          <p:nvPr/>
        </p:nvSpPr>
        <p:spPr>
          <a:xfrm>
            <a:off x="8778240" y="182880"/>
            <a:ext cx="274320" cy="457200"/>
          </a:xfrm>
          <a:prstGeom prst="rect">
            <a:avLst/>
          </a:prstGeom>
          <a:solidFill>
            <a:srgbClr val="0891B2"/>
          </a:solidFill>
          <a:ln w="12700">
            <a:solidFill>
              <a:srgbClr val="0891B2"/>
            </a:solidFill>
            <a:prstDash val="solid"/>
          </a:ln>
        </p:spPr>
      </p:sp>
      <p:sp>
        <p:nvSpPr>
          <p:cNvPr id="5" name="Shape 3"/>
          <p:cNvSpPr/>
          <p:nvPr/>
        </p:nvSpPr>
        <p:spPr>
          <a:xfrm>
            <a:off x="228600" y="914400"/>
            <a:ext cx="8732520" cy="292608"/>
          </a:xfrm>
          <a:prstGeom prst="rect">
            <a:avLst/>
          </a:prstGeom>
          <a:solidFill>
            <a:srgbClr val="0891B2"/>
          </a:solidFill>
          <a:ln w="12700">
            <a:solidFill>
              <a:srgbClr val="0891B2"/>
            </a:solidFill>
            <a:prstDash val="solid"/>
          </a:ln>
        </p:spPr>
      </p:sp>
      <p:sp>
        <p:nvSpPr>
          <p:cNvPr id="6" name="Text 4"/>
          <p:cNvSpPr/>
          <p:nvPr/>
        </p:nvSpPr>
        <p:spPr>
          <a:xfrm>
            <a:off x="320040" y="914400"/>
            <a:ext cx="8549640" cy="292608"/>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Contexte du projet</a:t>
            </a:r>
            <a:endParaRPr lang="en-US" sz="1100" dirty="0"/>
          </a:p>
        </p:txBody>
      </p:sp>
      <p:sp>
        <p:nvSpPr>
          <p:cNvPr id="7" name="Text 5"/>
          <p:cNvSpPr/>
          <p:nvPr/>
        </p:nvSpPr>
        <p:spPr>
          <a:xfrm>
            <a:off x="228600" y="1225296"/>
            <a:ext cx="8732520" cy="502920"/>
          </a:xfrm>
          <a:prstGeom prst="rect">
            <a:avLst/>
          </a:prstGeom>
          <a:noFill/>
          <a:ln/>
        </p:spPr>
        <p:txBody>
          <a:bodyPr wrap="square" rtlCol="0" anchor="ctr"/>
          <a:lstStyle/>
          <a:p>
            <a:pPr marL="0" indent="0">
              <a:buNone/>
            </a:pPr>
            <a:r>
              <a:rPr lang="en-US" sz="1000" dirty="0">
                <a:solidFill>
                  <a:srgbClr val="1E293B"/>
                </a:solidFill>
                <a:latin typeface="Calibri" pitchFamily="34" charset="0"/>
                <a:ea typeface="Calibri" pitchFamily="34" charset="-122"/>
                <a:cs typeface="Calibri" pitchFamily="34" charset="-120"/>
              </a:rPr>
              <a:t>La néo-banque SecurePay fait face à une augmentation des fraudes (vol de carte, Account Takeover). L'objectif est de concevoir une base de données relationnelle permettant de stocker l'historique des clients et d'identifier les comportements frauduleux via des requêtes SQL d'analyse.</a:t>
            </a:r>
            <a:endParaRPr lang="en-US" sz="1000" dirty="0"/>
          </a:p>
        </p:txBody>
      </p:sp>
      <p:sp>
        <p:nvSpPr>
          <p:cNvPr id="8" name="Shape 6"/>
          <p:cNvSpPr/>
          <p:nvPr/>
        </p:nvSpPr>
        <p:spPr>
          <a:xfrm>
            <a:off x="228600" y="1801368"/>
            <a:ext cx="4251960" cy="292608"/>
          </a:xfrm>
          <a:prstGeom prst="rect">
            <a:avLst/>
          </a:prstGeom>
          <a:solidFill>
            <a:srgbClr val="0E7490"/>
          </a:solidFill>
          <a:ln w="12700">
            <a:solidFill>
              <a:srgbClr val="0E7490"/>
            </a:solidFill>
            <a:prstDash val="solid"/>
          </a:ln>
        </p:spPr>
      </p:sp>
      <p:sp>
        <p:nvSpPr>
          <p:cNvPr id="9" name="Text 7"/>
          <p:cNvSpPr/>
          <p:nvPr/>
        </p:nvSpPr>
        <p:spPr>
          <a:xfrm>
            <a:off x="320040" y="1801368"/>
            <a:ext cx="4069080" cy="292608"/>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Besoins Fonctionnels</a:t>
            </a:r>
            <a:endParaRPr lang="en-US" sz="1100" dirty="0"/>
          </a:p>
        </p:txBody>
      </p:sp>
      <p:sp>
        <p:nvSpPr>
          <p:cNvPr id="10" name="Shape 8"/>
          <p:cNvSpPr/>
          <p:nvPr/>
        </p:nvSpPr>
        <p:spPr>
          <a:xfrm>
            <a:off x="228600" y="2148840"/>
            <a:ext cx="292608" cy="256032"/>
          </a:xfrm>
          <a:prstGeom prst="rect">
            <a:avLst/>
          </a:prstGeom>
          <a:solidFill>
            <a:srgbClr val="0891B2"/>
          </a:solidFill>
          <a:ln w="12700">
            <a:solidFill>
              <a:srgbClr val="0891B2"/>
            </a:solidFill>
            <a:prstDash val="solid"/>
          </a:ln>
        </p:spPr>
      </p:sp>
      <p:sp>
        <p:nvSpPr>
          <p:cNvPr id="11" name="Text 9"/>
          <p:cNvSpPr/>
          <p:nvPr/>
        </p:nvSpPr>
        <p:spPr>
          <a:xfrm>
            <a:off x="228600" y="2148840"/>
            <a:ext cx="292608" cy="256032"/>
          </a:xfrm>
          <a:prstGeom prst="rect">
            <a:avLst/>
          </a:prstGeom>
          <a:noFill/>
          <a:ln/>
        </p:spPr>
        <p:txBody>
          <a:bodyPr wrap="square" rtlCol="0" anchor="ctr"/>
          <a:lstStyle/>
          <a:p>
            <a:pPr marL="0" indent="0" algn="ctr">
              <a:buNone/>
            </a:pPr>
            <a:r>
              <a:rPr lang="en-US" sz="900" dirty="0">
                <a:solidFill>
                  <a:srgbClr val="000000"/>
                </a:solidFill>
              </a:rPr>
              <a:t>📋</a:t>
            </a:r>
            <a:endParaRPr lang="en-US" sz="900" dirty="0"/>
          </a:p>
        </p:txBody>
      </p:sp>
      <p:sp>
        <p:nvSpPr>
          <p:cNvPr id="12" name="Text 10"/>
          <p:cNvSpPr/>
          <p:nvPr/>
        </p:nvSpPr>
        <p:spPr>
          <a:xfrm>
            <a:off x="566928" y="2167128"/>
            <a:ext cx="3913632" cy="237744"/>
          </a:xfrm>
          <a:prstGeom prst="rect">
            <a:avLst/>
          </a:prstGeom>
          <a:noFill/>
          <a:ln/>
        </p:spPr>
        <p:txBody>
          <a:bodyPr wrap="square" rtlCol="0" anchor="ctr"/>
          <a:lstStyle/>
          <a:p>
            <a:pPr marL="0" indent="0">
              <a:buNone/>
            </a:pPr>
            <a:r>
              <a:rPr lang="en-US" sz="950" dirty="0">
                <a:solidFill>
                  <a:srgbClr val="1E293B"/>
                </a:solidFill>
                <a:latin typeface="Calibri" pitchFamily="34" charset="0"/>
                <a:ea typeface="Calibri" pitchFamily="34" charset="-122"/>
                <a:cs typeface="Calibri" pitchFamily="34" charset="-120"/>
              </a:rPr>
              <a:t>Stocker les profils clients, leurs comptes, appareils et historique d'adresses IP</a:t>
            </a:r>
            <a:endParaRPr lang="en-US" sz="950" dirty="0"/>
          </a:p>
        </p:txBody>
      </p:sp>
      <p:sp>
        <p:nvSpPr>
          <p:cNvPr id="13" name="Shape 11"/>
          <p:cNvSpPr/>
          <p:nvPr/>
        </p:nvSpPr>
        <p:spPr>
          <a:xfrm>
            <a:off x="228600" y="2478024"/>
            <a:ext cx="292608" cy="256032"/>
          </a:xfrm>
          <a:prstGeom prst="rect">
            <a:avLst/>
          </a:prstGeom>
          <a:solidFill>
            <a:srgbClr val="0891B2"/>
          </a:solidFill>
          <a:ln w="12700">
            <a:solidFill>
              <a:srgbClr val="0891B2"/>
            </a:solidFill>
            <a:prstDash val="solid"/>
          </a:ln>
        </p:spPr>
      </p:sp>
      <p:sp>
        <p:nvSpPr>
          <p:cNvPr id="14" name="Text 12"/>
          <p:cNvSpPr/>
          <p:nvPr/>
        </p:nvSpPr>
        <p:spPr>
          <a:xfrm>
            <a:off x="228600" y="2478024"/>
            <a:ext cx="292608" cy="256032"/>
          </a:xfrm>
          <a:prstGeom prst="rect">
            <a:avLst/>
          </a:prstGeom>
          <a:noFill/>
          <a:ln/>
        </p:spPr>
        <p:txBody>
          <a:bodyPr wrap="square" rtlCol="0" anchor="ctr"/>
          <a:lstStyle/>
          <a:p>
            <a:pPr marL="0" indent="0" algn="ctr">
              <a:buNone/>
            </a:pPr>
            <a:r>
              <a:rPr lang="en-US" sz="900" dirty="0">
                <a:solidFill>
                  <a:srgbClr val="000000"/>
                </a:solidFill>
              </a:rPr>
              <a:t>🔍</a:t>
            </a:r>
            <a:endParaRPr lang="en-US" sz="900" dirty="0"/>
          </a:p>
        </p:txBody>
      </p:sp>
      <p:sp>
        <p:nvSpPr>
          <p:cNvPr id="15" name="Text 13"/>
          <p:cNvSpPr/>
          <p:nvPr/>
        </p:nvSpPr>
        <p:spPr>
          <a:xfrm>
            <a:off x="566928" y="2496312"/>
            <a:ext cx="3913632" cy="237744"/>
          </a:xfrm>
          <a:prstGeom prst="rect">
            <a:avLst/>
          </a:prstGeom>
          <a:noFill/>
          <a:ln/>
        </p:spPr>
        <p:txBody>
          <a:bodyPr wrap="square" rtlCol="0" anchor="ctr"/>
          <a:lstStyle/>
          <a:p>
            <a:pPr marL="0" indent="0">
              <a:buNone/>
            </a:pPr>
            <a:r>
              <a:rPr lang="en-US" sz="950" dirty="0">
                <a:solidFill>
                  <a:srgbClr val="1E293B"/>
                </a:solidFill>
                <a:latin typeface="Calibri" pitchFamily="34" charset="0"/>
                <a:ea typeface="Calibri" pitchFamily="34" charset="-122"/>
                <a:cs typeface="Calibri" pitchFamily="34" charset="-120"/>
              </a:rPr>
              <a:t>Tracer toutes les transactions financières et connexions à l'application</a:t>
            </a:r>
            <a:endParaRPr lang="en-US" sz="950" dirty="0"/>
          </a:p>
        </p:txBody>
      </p:sp>
      <p:sp>
        <p:nvSpPr>
          <p:cNvPr id="16" name="Shape 14"/>
          <p:cNvSpPr/>
          <p:nvPr/>
        </p:nvSpPr>
        <p:spPr>
          <a:xfrm>
            <a:off x="228600" y="2807208"/>
            <a:ext cx="292608" cy="256032"/>
          </a:xfrm>
          <a:prstGeom prst="rect">
            <a:avLst/>
          </a:prstGeom>
          <a:solidFill>
            <a:srgbClr val="0891B2"/>
          </a:solidFill>
          <a:ln w="12700">
            <a:solidFill>
              <a:srgbClr val="0891B2"/>
            </a:solidFill>
            <a:prstDash val="solid"/>
          </a:ln>
        </p:spPr>
      </p:sp>
      <p:sp>
        <p:nvSpPr>
          <p:cNvPr id="17" name="Text 15"/>
          <p:cNvSpPr/>
          <p:nvPr/>
        </p:nvSpPr>
        <p:spPr>
          <a:xfrm>
            <a:off x="228600" y="2807208"/>
            <a:ext cx="292608" cy="256032"/>
          </a:xfrm>
          <a:prstGeom prst="rect">
            <a:avLst/>
          </a:prstGeom>
          <a:noFill/>
          <a:ln/>
        </p:spPr>
        <p:txBody>
          <a:bodyPr wrap="square" rtlCol="0" anchor="ctr"/>
          <a:lstStyle/>
          <a:p>
            <a:pPr marL="0" indent="0" algn="ctr">
              <a:buNone/>
            </a:pPr>
            <a:r>
              <a:rPr lang="en-US" sz="900" dirty="0">
                <a:solidFill>
                  <a:srgbClr val="000000"/>
                </a:solidFill>
              </a:rPr>
              <a:t>⚡</a:t>
            </a:r>
            <a:endParaRPr lang="en-US" sz="900" dirty="0"/>
          </a:p>
        </p:txBody>
      </p:sp>
      <p:sp>
        <p:nvSpPr>
          <p:cNvPr id="18" name="Text 16"/>
          <p:cNvSpPr/>
          <p:nvPr/>
        </p:nvSpPr>
        <p:spPr>
          <a:xfrm>
            <a:off x="566928" y="2825496"/>
            <a:ext cx="3913632" cy="237744"/>
          </a:xfrm>
          <a:prstGeom prst="rect">
            <a:avLst/>
          </a:prstGeom>
          <a:noFill/>
          <a:ln/>
        </p:spPr>
        <p:txBody>
          <a:bodyPr wrap="square" rtlCol="0" anchor="ctr"/>
          <a:lstStyle/>
          <a:p>
            <a:pPr marL="0" indent="0">
              <a:buNone/>
            </a:pPr>
            <a:r>
              <a:rPr lang="en-US" sz="950" dirty="0">
                <a:solidFill>
                  <a:srgbClr val="1E293B"/>
                </a:solidFill>
                <a:latin typeface="Calibri" pitchFamily="34" charset="0"/>
                <a:ea typeface="Calibri" pitchFamily="34" charset="-122"/>
                <a:cs typeface="Calibri" pitchFamily="34" charset="-120"/>
              </a:rPr>
              <a:t>Détecter automatiquement les comportements suspects via des requêtes SQL ciblées</a:t>
            </a:r>
            <a:endParaRPr lang="en-US" sz="950" dirty="0"/>
          </a:p>
        </p:txBody>
      </p:sp>
      <p:sp>
        <p:nvSpPr>
          <p:cNvPr id="19" name="Shape 17"/>
          <p:cNvSpPr/>
          <p:nvPr/>
        </p:nvSpPr>
        <p:spPr>
          <a:xfrm>
            <a:off x="228600" y="3136392"/>
            <a:ext cx="292608" cy="256032"/>
          </a:xfrm>
          <a:prstGeom prst="rect">
            <a:avLst/>
          </a:prstGeom>
          <a:solidFill>
            <a:srgbClr val="0891B2"/>
          </a:solidFill>
          <a:ln w="12700">
            <a:solidFill>
              <a:srgbClr val="0891B2"/>
            </a:solidFill>
            <a:prstDash val="solid"/>
          </a:ln>
        </p:spPr>
      </p:sp>
      <p:sp>
        <p:nvSpPr>
          <p:cNvPr id="20" name="Text 18"/>
          <p:cNvSpPr/>
          <p:nvPr/>
        </p:nvSpPr>
        <p:spPr>
          <a:xfrm>
            <a:off x="228600" y="3136392"/>
            <a:ext cx="292608" cy="256032"/>
          </a:xfrm>
          <a:prstGeom prst="rect">
            <a:avLst/>
          </a:prstGeom>
          <a:noFill/>
          <a:ln/>
        </p:spPr>
        <p:txBody>
          <a:bodyPr wrap="square" rtlCol="0" anchor="ctr"/>
          <a:lstStyle/>
          <a:p>
            <a:pPr marL="0" indent="0" algn="ctr">
              <a:buNone/>
            </a:pPr>
            <a:r>
              <a:rPr lang="en-US" sz="900" dirty="0">
                <a:solidFill>
                  <a:srgbClr val="000000"/>
                </a:solidFill>
              </a:rPr>
              <a:t>🚨</a:t>
            </a:r>
            <a:endParaRPr lang="en-US" sz="900" dirty="0"/>
          </a:p>
        </p:txBody>
      </p:sp>
      <p:sp>
        <p:nvSpPr>
          <p:cNvPr id="21" name="Text 19"/>
          <p:cNvSpPr/>
          <p:nvPr/>
        </p:nvSpPr>
        <p:spPr>
          <a:xfrm>
            <a:off x="566928" y="3154680"/>
            <a:ext cx="3913632" cy="237744"/>
          </a:xfrm>
          <a:prstGeom prst="rect">
            <a:avLst/>
          </a:prstGeom>
          <a:noFill/>
          <a:ln/>
        </p:spPr>
        <p:txBody>
          <a:bodyPr wrap="square" rtlCol="0" anchor="ctr"/>
          <a:lstStyle/>
          <a:p>
            <a:pPr marL="0" indent="0">
              <a:buNone/>
            </a:pPr>
            <a:r>
              <a:rPr lang="en-US" sz="950" dirty="0">
                <a:solidFill>
                  <a:srgbClr val="1E293B"/>
                </a:solidFill>
                <a:latin typeface="Calibri" pitchFamily="34" charset="0"/>
                <a:ea typeface="Calibri" pitchFamily="34" charset="-122"/>
                <a:cs typeface="Calibri" pitchFamily="34" charset="-120"/>
              </a:rPr>
              <a:t>Gérer les alertes de fraude et permettre le suivi des investigations</a:t>
            </a:r>
            <a:endParaRPr lang="en-US" sz="950" dirty="0"/>
          </a:p>
        </p:txBody>
      </p:sp>
      <p:sp>
        <p:nvSpPr>
          <p:cNvPr id="22" name="Shape 20"/>
          <p:cNvSpPr/>
          <p:nvPr/>
        </p:nvSpPr>
        <p:spPr>
          <a:xfrm>
            <a:off x="4663440" y="1801368"/>
            <a:ext cx="4251960" cy="292608"/>
          </a:xfrm>
          <a:prstGeom prst="rect">
            <a:avLst/>
          </a:prstGeom>
          <a:solidFill>
            <a:srgbClr val="EA580C"/>
          </a:solidFill>
          <a:ln w="12700">
            <a:solidFill>
              <a:srgbClr val="EA580C"/>
            </a:solidFill>
            <a:prstDash val="solid"/>
          </a:ln>
        </p:spPr>
      </p:sp>
      <p:sp>
        <p:nvSpPr>
          <p:cNvPr id="23" name="Text 21"/>
          <p:cNvSpPr/>
          <p:nvPr/>
        </p:nvSpPr>
        <p:spPr>
          <a:xfrm>
            <a:off x="4754880" y="1801368"/>
            <a:ext cx="4069080" cy="292608"/>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Besoins Non Fonctionnels</a:t>
            </a:r>
            <a:endParaRPr lang="en-US" sz="1100" dirty="0"/>
          </a:p>
        </p:txBody>
      </p:sp>
      <p:sp>
        <p:nvSpPr>
          <p:cNvPr id="24" name="Shape 22"/>
          <p:cNvSpPr/>
          <p:nvPr/>
        </p:nvSpPr>
        <p:spPr>
          <a:xfrm>
            <a:off x="4663440" y="2148840"/>
            <a:ext cx="292608" cy="256032"/>
          </a:xfrm>
          <a:prstGeom prst="rect">
            <a:avLst/>
          </a:prstGeom>
          <a:solidFill>
            <a:srgbClr val="EA580C"/>
          </a:solidFill>
          <a:ln w="12700">
            <a:solidFill>
              <a:srgbClr val="EA580C"/>
            </a:solidFill>
            <a:prstDash val="solid"/>
          </a:ln>
        </p:spPr>
      </p:sp>
      <p:sp>
        <p:nvSpPr>
          <p:cNvPr id="25" name="Text 23"/>
          <p:cNvSpPr/>
          <p:nvPr/>
        </p:nvSpPr>
        <p:spPr>
          <a:xfrm>
            <a:off x="4663440" y="2148840"/>
            <a:ext cx="292608" cy="256032"/>
          </a:xfrm>
          <a:prstGeom prst="rect">
            <a:avLst/>
          </a:prstGeom>
          <a:noFill/>
          <a:ln/>
        </p:spPr>
        <p:txBody>
          <a:bodyPr wrap="square" rtlCol="0" anchor="ctr"/>
          <a:lstStyle/>
          <a:p>
            <a:pPr marL="0" indent="0" algn="ctr">
              <a:buNone/>
            </a:pPr>
            <a:r>
              <a:rPr lang="en-US" sz="900" dirty="0">
                <a:solidFill>
                  <a:srgbClr val="000000"/>
                </a:solidFill>
              </a:rPr>
              <a:t>🔒</a:t>
            </a:r>
            <a:endParaRPr lang="en-US" sz="900" dirty="0"/>
          </a:p>
        </p:txBody>
      </p:sp>
      <p:sp>
        <p:nvSpPr>
          <p:cNvPr id="26" name="Text 24"/>
          <p:cNvSpPr/>
          <p:nvPr/>
        </p:nvSpPr>
        <p:spPr>
          <a:xfrm>
            <a:off x="5001768" y="2167128"/>
            <a:ext cx="3913632" cy="237744"/>
          </a:xfrm>
          <a:prstGeom prst="rect">
            <a:avLst/>
          </a:prstGeom>
          <a:noFill/>
          <a:ln/>
        </p:spPr>
        <p:txBody>
          <a:bodyPr wrap="square" rtlCol="0" anchor="ctr"/>
          <a:lstStyle/>
          <a:p>
            <a:pPr marL="0" indent="0">
              <a:buNone/>
            </a:pPr>
            <a:r>
              <a:rPr lang="en-US" sz="950" dirty="0">
                <a:solidFill>
                  <a:srgbClr val="1E293B"/>
                </a:solidFill>
                <a:latin typeface="Calibri" pitchFamily="34" charset="0"/>
                <a:ea typeface="Calibri" pitchFamily="34" charset="-122"/>
                <a:cs typeface="Calibri" pitchFamily="34" charset="-120"/>
              </a:rPr>
              <a:t>Sécurité : numéros de cartes et données sensibles masqués/chiffrés</a:t>
            </a:r>
            <a:endParaRPr lang="en-US" sz="950" dirty="0"/>
          </a:p>
        </p:txBody>
      </p:sp>
      <p:sp>
        <p:nvSpPr>
          <p:cNvPr id="27" name="Shape 25"/>
          <p:cNvSpPr/>
          <p:nvPr/>
        </p:nvSpPr>
        <p:spPr>
          <a:xfrm>
            <a:off x="4663440" y="2478024"/>
            <a:ext cx="292608" cy="256032"/>
          </a:xfrm>
          <a:prstGeom prst="rect">
            <a:avLst/>
          </a:prstGeom>
          <a:solidFill>
            <a:srgbClr val="EA580C"/>
          </a:solidFill>
          <a:ln w="12700">
            <a:solidFill>
              <a:srgbClr val="EA580C"/>
            </a:solidFill>
            <a:prstDash val="solid"/>
          </a:ln>
        </p:spPr>
      </p:sp>
      <p:sp>
        <p:nvSpPr>
          <p:cNvPr id="28" name="Text 26"/>
          <p:cNvSpPr/>
          <p:nvPr/>
        </p:nvSpPr>
        <p:spPr>
          <a:xfrm>
            <a:off x="4663440" y="2478024"/>
            <a:ext cx="292608" cy="256032"/>
          </a:xfrm>
          <a:prstGeom prst="rect">
            <a:avLst/>
          </a:prstGeom>
          <a:noFill/>
          <a:ln/>
        </p:spPr>
        <p:txBody>
          <a:bodyPr wrap="square" rtlCol="0" anchor="ctr"/>
          <a:lstStyle/>
          <a:p>
            <a:pPr marL="0" indent="0" algn="ctr">
              <a:buNone/>
            </a:pPr>
            <a:r>
              <a:rPr lang="en-US" sz="900" dirty="0">
                <a:solidFill>
                  <a:srgbClr val="000000"/>
                </a:solidFill>
              </a:rPr>
              <a:t>✅</a:t>
            </a:r>
            <a:endParaRPr lang="en-US" sz="900" dirty="0"/>
          </a:p>
        </p:txBody>
      </p:sp>
      <p:sp>
        <p:nvSpPr>
          <p:cNvPr id="29" name="Text 27"/>
          <p:cNvSpPr/>
          <p:nvPr/>
        </p:nvSpPr>
        <p:spPr>
          <a:xfrm>
            <a:off x="5001768" y="2496312"/>
            <a:ext cx="3913632" cy="237744"/>
          </a:xfrm>
          <a:prstGeom prst="rect">
            <a:avLst/>
          </a:prstGeom>
          <a:noFill/>
          <a:ln/>
        </p:spPr>
        <p:txBody>
          <a:bodyPr wrap="square" rtlCol="0" anchor="ctr"/>
          <a:lstStyle/>
          <a:p>
            <a:pPr marL="0" indent="0">
              <a:buNone/>
            </a:pPr>
            <a:r>
              <a:rPr lang="en-US" sz="950" dirty="0">
                <a:solidFill>
                  <a:srgbClr val="1E293B"/>
                </a:solidFill>
                <a:latin typeface="Calibri" pitchFamily="34" charset="0"/>
                <a:ea typeface="Calibri" pitchFamily="34" charset="-122"/>
                <a:cs typeface="Calibri" pitchFamily="34" charset="-120"/>
              </a:rPr>
              <a:t>Fiabilité : clés primaires et étrangères pour garantir l'intégrité</a:t>
            </a:r>
            <a:endParaRPr lang="en-US" sz="950" dirty="0"/>
          </a:p>
        </p:txBody>
      </p:sp>
      <p:sp>
        <p:nvSpPr>
          <p:cNvPr id="30" name="Shape 28"/>
          <p:cNvSpPr/>
          <p:nvPr/>
        </p:nvSpPr>
        <p:spPr>
          <a:xfrm>
            <a:off x="4663440" y="2807208"/>
            <a:ext cx="292608" cy="256032"/>
          </a:xfrm>
          <a:prstGeom prst="rect">
            <a:avLst/>
          </a:prstGeom>
          <a:solidFill>
            <a:srgbClr val="EA580C"/>
          </a:solidFill>
          <a:ln w="12700">
            <a:solidFill>
              <a:srgbClr val="EA580C"/>
            </a:solidFill>
            <a:prstDash val="solid"/>
          </a:ln>
        </p:spPr>
      </p:sp>
      <p:sp>
        <p:nvSpPr>
          <p:cNvPr id="31" name="Text 29"/>
          <p:cNvSpPr/>
          <p:nvPr/>
        </p:nvSpPr>
        <p:spPr>
          <a:xfrm>
            <a:off x="4663440" y="2807208"/>
            <a:ext cx="292608" cy="256032"/>
          </a:xfrm>
          <a:prstGeom prst="rect">
            <a:avLst/>
          </a:prstGeom>
          <a:noFill/>
          <a:ln/>
        </p:spPr>
        <p:txBody>
          <a:bodyPr wrap="square" rtlCol="0" anchor="ctr"/>
          <a:lstStyle/>
          <a:p>
            <a:pPr marL="0" indent="0" algn="ctr">
              <a:buNone/>
            </a:pPr>
            <a:r>
              <a:rPr lang="en-US" sz="900" dirty="0">
                <a:solidFill>
                  <a:srgbClr val="000000"/>
                </a:solidFill>
              </a:rPr>
              <a:t>⚙️</a:t>
            </a:r>
            <a:endParaRPr lang="en-US" sz="900" dirty="0"/>
          </a:p>
        </p:txBody>
      </p:sp>
      <p:sp>
        <p:nvSpPr>
          <p:cNvPr id="32" name="Text 30"/>
          <p:cNvSpPr/>
          <p:nvPr/>
        </p:nvSpPr>
        <p:spPr>
          <a:xfrm>
            <a:off x="5001768" y="2825496"/>
            <a:ext cx="3913632" cy="237744"/>
          </a:xfrm>
          <a:prstGeom prst="rect">
            <a:avLst/>
          </a:prstGeom>
          <a:noFill/>
          <a:ln/>
        </p:spPr>
        <p:txBody>
          <a:bodyPr wrap="square" rtlCol="0" anchor="ctr"/>
          <a:lstStyle/>
          <a:p>
            <a:pPr marL="0" indent="0">
              <a:buNone/>
            </a:pPr>
            <a:r>
              <a:rPr lang="en-US" sz="950" dirty="0">
                <a:solidFill>
                  <a:srgbClr val="1E293B"/>
                </a:solidFill>
                <a:latin typeface="Calibri" pitchFamily="34" charset="0"/>
                <a:ea typeface="Calibri" pitchFamily="34" charset="-122"/>
                <a:cs typeface="Calibri" pitchFamily="34" charset="-120"/>
              </a:rPr>
              <a:t>Performance : requêtes optimisées pour traiter des milliers de lignes</a:t>
            </a:r>
            <a:endParaRPr lang="en-US" sz="950" dirty="0"/>
          </a:p>
        </p:txBody>
      </p:sp>
      <p:sp>
        <p:nvSpPr>
          <p:cNvPr id="33" name="Shape 31"/>
          <p:cNvSpPr/>
          <p:nvPr/>
        </p:nvSpPr>
        <p:spPr>
          <a:xfrm>
            <a:off x="4663440" y="3136392"/>
            <a:ext cx="292608" cy="256032"/>
          </a:xfrm>
          <a:prstGeom prst="rect">
            <a:avLst/>
          </a:prstGeom>
          <a:solidFill>
            <a:srgbClr val="EA580C"/>
          </a:solidFill>
          <a:ln w="12700">
            <a:solidFill>
              <a:srgbClr val="EA580C"/>
            </a:solidFill>
            <a:prstDash val="solid"/>
          </a:ln>
        </p:spPr>
      </p:sp>
      <p:sp>
        <p:nvSpPr>
          <p:cNvPr id="34" name="Text 32"/>
          <p:cNvSpPr/>
          <p:nvPr/>
        </p:nvSpPr>
        <p:spPr>
          <a:xfrm>
            <a:off x="4663440" y="3136392"/>
            <a:ext cx="292608" cy="256032"/>
          </a:xfrm>
          <a:prstGeom prst="rect">
            <a:avLst/>
          </a:prstGeom>
          <a:noFill/>
          <a:ln/>
        </p:spPr>
        <p:txBody>
          <a:bodyPr wrap="square" rtlCol="0" anchor="ctr"/>
          <a:lstStyle/>
          <a:p>
            <a:pPr marL="0" indent="0" algn="ctr">
              <a:buNone/>
            </a:pPr>
            <a:r>
              <a:rPr lang="en-US" sz="900" dirty="0">
                <a:solidFill>
                  <a:srgbClr val="000000"/>
                </a:solidFill>
              </a:rPr>
              <a:t>📈</a:t>
            </a:r>
            <a:endParaRPr lang="en-US" sz="900" dirty="0"/>
          </a:p>
        </p:txBody>
      </p:sp>
      <p:sp>
        <p:nvSpPr>
          <p:cNvPr id="35" name="Text 33"/>
          <p:cNvSpPr/>
          <p:nvPr/>
        </p:nvSpPr>
        <p:spPr>
          <a:xfrm>
            <a:off x="5001768" y="3154680"/>
            <a:ext cx="3913632" cy="237744"/>
          </a:xfrm>
          <a:prstGeom prst="rect">
            <a:avLst/>
          </a:prstGeom>
          <a:noFill/>
          <a:ln/>
        </p:spPr>
        <p:txBody>
          <a:bodyPr wrap="square" rtlCol="0" anchor="ctr"/>
          <a:lstStyle/>
          <a:p>
            <a:pPr marL="0" indent="0">
              <a:buNone/>
            </a:pPr>
            <a:r>
              <a:rPr lang="en-US" sz="950" dirty="0">
                <a:solidFill>
                  <a:srgbClr val="1E293B"/>
                </a:solidFill>
                <a:latin typeface="Calibri" pitchFamily="34" charset="0"/>
                <a:ea typeface="Calibri" pitchFamily="34" charset="-122"/>
                <a:cs typeface="Calibri" pitchFamily="34" charset="-120"/>
              </a:rPr>
              <a:t>Évolutivité : architecture permettant l'ajout de nouvelles règles de détection</a:t>
            </a:r>
            <a:endParaRPr lang="en-US" sz="950" dirty="0"/>
          </a:p>
        </p:txBody>
      </p:sp>
      <p:sp>
        <p:nvSpPr>
          <p:cNvPr id="36" name="Shape 34"/>
          <p:cNvSpPr/>
          <p:nvPr/>
        </p:nvSpPr>
        <p:spPr>
          <a:xfrm>
            <a:off x="228600" y="4379976"/>
            <a:ext cx="8732520" cy="256032"/>
          </a:xfrm>
          <a:prstGeom prst="rect">
            <a:avLst/>
          </a:prstGeom>
          <a:solidFill>
            <a:srgbClr val="1E293B"/>
          </a:solidFill>
          <a:ln w="12700">
            <a:solidFill>
              <a:srgbClr val="1E293B"/>
            </a:solidFill>
            <a:prstDash val="solid"/>
          </a:ln>
        </p:spPr>
      </p:sp>
      <p:sp>
        <p:nvSpPr>
          <p:cNvPr id="37" name="Text 35"/>
          <p:cNvSpPr/>
          <p:nvPr/>
        </p:nvSpPr>
        <p:spPr>
          <a:xfrm>
            <a:off x="228600" y="4379976"/>
            <a:ext cx="8732520" cy="256032"/>
          </a:xfrm>
          <a:prstGeom prst="rect">
            <a:avLst/>
          </a:prstGeom>
          <a:noFill/>
          <a:ln/>
        </p:spPr>
        <p:txBody>
          <a:bodyPr wrap="square" rtlCol="0" anchor="ctr"/>
          <a:lstStyle/>
          <a:p>
            <a:pPr marL="0" indent="0" algn="ctr">
              <a:buNone/>
            </a:pPr>
            <a:r>
              <a:rPr lang="en-US" sz="850" dirty="0">
                <a:solidFill>
                  <a:srgbClr val="22D3EE"/>
                </a:solidFill>
                <a:latin typeface="Calibri" pitchFamily="34" charset="0"/>
                <a:ea typeface="Calibri" pitchFamily="34" charset="-122"/>
                <a:cs typeface="Calibri" pitchFamily="34" charset="-120"/>
              </a:rPr>
              <a:t>Périmètre : 3 domaines  ·  Client &amp; Matériel (Utilisateur, Appareil, Connexion)  ·  Financier (Compte, Carte, Transaction, Commerçant)  ·  Fraude &amp; Analyse (Alerte, Check-up, Personnel)</a:t>
            </a:r>
            <a:endParaRPr lang="en-US" sz="850"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475488"/>
          </a:xfrm>
          <a:prstGeom prst="rect">
            <a:avLst/>
          </a:prstGeom>
          <a:solidFill>
            <a:srgbClr val="0E2040"/>
          </a:solidFill>
          <a:ln w="12700">
            <a:solidFill>
              <a:srgbClr val="0E2040"/>
            </a:solidFill>
            <a:prstDash val="solid"/>
          </a:ln>
        </p:spPr>
      </p:sp>
      <p:sp>
        <p:nvSpPr>
          <p:cNvPr id="3" name="Text 1"/>
          <p:cNvSpPr/>
          <p:nvPr/>
        </p:nvSpPr>
        <p:spPr>
          <a:xfrm>
            <a:off x="228600" y="146304"/>
            <a:ext cx="8046720" cy="475488"/>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Schéma Conceptuel (MCD) — </a:t>
            </a:r>
            <a:endParaRPr lang="en-US" sz="1300" dirty="0"/>
          </a:p>
        </p:txBody>
      </p:sp>
      <p:sp>
        <p:nvSpPr>
          <p:cNvPr id="4" name="Shape 2"/>
          <p:cNvSpPr/>
          <p:nvPr/>
        </p:nvSpPr>
        <p:spPr>
          <a:xfrm>
            <a:off x="8869680" y="91440"/>
            <a:ext cx="201168" cy="292608"/>
          </a:xfrm>
          <a:prstGeom prst="rect">
            <a:avLst/>
          </a:prstGeom>
          <a:solidFill>
            <a:srgbClr val="0891B2"/>
          </a:solidFill>
          <a:ln w="12700">
            <a:solidFill>
              <a:srgbClr val="0891B2"/>
            </a:solidFill>
            <a:prstDash val="solid"/>
          </a:ln>
        </p:spPr>
      </p:sp>
      <p:pic>
        <p:nvPicPr>
          <p:cNvPr id="6" name="Picture 5"/>
          <p:cNvPicPr>
            <a:picLocks noChangeAspect="1"/>
          </p:cNvPicPr>
          <p:nvPr/>
        </p:nvPicPr>
        <p:blipFill>
          <a:blip r:embed="rId3"/>
          <a:stretch>
            <a:fillRect/>
          </a:stretch>
        </p:blipFill>
        <p:spPr>
          <a:xfrm>
            <a:off x="132743" y="868996"/>
            <a:ext cx="8849331" cy="3676861"/>
          </a:xfrm>
          <a:prstGeom prst="rect">
            <a:avLst/>
          </a:prstGeom>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7">
    <p:bg>
      <p:bgPr>
        <a:solidFill>
          <a:srgbClr val="0B1628"/>
        </a:solidFill>
        <a:effectLst/>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0891B2"/>
          </a:solidFill>
          <a:ln w="12700">
            <a:solidFill>
              <a:srgbClr val="0891B2"/>
            </a:solidFill>
            <a:prstDash val="solid"/>
          </a:ln>
        </p:spPr>
      </p:sp>
      <p:sp>
        <p:nvSpPr>
          <p:cNvPr id="3" name="Text 1"/>
          <p:cNvSpPr/>
          <p:nvPr/>
        </p:nvSpPr>
        <p:spPr>
          <a:xfrm>
            <a:off x="320040" y="118872"/>
            <a:ext cx="8686800" cy="438912"/>
          </a:xfrm>
          <a:prstGeom prst="rect">
            <a:avLst/>
          </a:prstGeom>
          <a:noFill/>
          <a:ln/>
        </p:spPr>
        <p:txBody>
          <a:bodyPr wrap="square"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Convention des Entités &amp; Clés Étrangères</a:t>
            </a:r>
            <a:endParaRPr lang="en-US" sz="1800" dirty="0"/>
          </a:p>
        </p:txBody>
      </p:sp>
      <p:sp>
        <p:nvSpPr>
          <p:cNvPr id="4" name="Text 2"/>
          <p:cNvSpPr/>
          <p:nvPr/>
        </p:nvSpPr>
        <p:spPr>
          <a:xfrm>
            <a:off x="320040" y="548640"/>
            <a:ext cx="8686800" cy="274320"/>
          </a:xfrm>
          <a:prstGeom prst="rect">
            <a:avLst/>
          </a:prstGeom>
          <a:noFill/>
          <a:ln/>
        </p:spPr>
        <p:txBody>
          <a:bodyPr wrap="square" rtlCol="0" anchor="ctr"/>
          <a:lstStyle/>
          <a:p>
            <a:pPr marL="0" indent="0">
              <a:buNone/>
            </a:pPr>
            <a:r>
              <a:rPr lang="en-US" sz="1100" i="1" dirty="0">
                <a:solidFill>
                  <a:srgbClr val="64748B"/>
                </a:solidFill>
                <a:latin typeface="Calibri" pitchFamily="34" charset="0"/>
                <a:ea typeface="Calibri" pitchFamily="34" charset="-122"/>
                <a:cs typeface="Calibri" pitchFamily="34" charset="-120"/>
              </a:rPr>
              <a:t>Hypothèses retenues pour toutes les requêtes</a:t>
            </a:r>
            <a:endParaRPr lang="en-US" sz="1100" dirty="0"/>
          </a:p>
        </p:txBody>
      </p:sp>
      <p:sp>
        <p:nvSpPr>
          <p:cNvPr id="5" name="Shape 3"/>
          <p:cNvSpPr/>
          <p:nvPr/>
        </p:nvSpPr>
        <p:spPr>
          <a:xfrm>
            <a:off x="320040" y="929640"/>
            <a:ext cx="8641080" cy="4114800"/>
          </a:xfrm>
          <a:prstGeom prst="rect">
            <a:avLst/>
          </a:prstGeom>
          <a:solidFill>
            <a:srgbClr val="0F1E2E"/>
          </a:solidFill>
          <a:ln w="6350">
            <a:solidFill>
              <a:srgbClr val="1E3A5F"/>
            </a:solidFill>
            <a:prstDash val="solid"/>
          </a:ln>
        </p:spPr>
      </p:sp>
      <p:sp>
        <p:nvSpPr>
          <p:cNvPr id="6" name="Text 4"/>
          <p:cNvSpPr/>
          <p:nvPr/>
        </p:nvSpPr>
        <p:spPr>
          <a:xfrm>
            <a:off x="411480" y="896112"/>
            <a:ext cx="8458200" cy="4059936"/>
          </a:xfrm>
          <a:prstGeom prst="rect">
            <a:avLst/>
          </a:prstGeom>
          <a:noFill/>
          <a:ln/>
        </p:spPr>
        <p:txBody>
          <a:bodyPr wrap="square" lIns="63500" tIns="63500" rIns="63500" bIns="63500" rtlCol="0" anchor="t"/>
          <a:lstStyle/>
          <a:p>
            <a:pPr marL="0" indent="0">
              <a:buNone/>
            </a:pPr>
            <a:r>
              <a:rPr lang="en-US" sz="900" dirty="0">
                <a:solidFill>
                  <a:srgbClr val="CBD5E1"/>
                </a:solidFill>
                <a:latin typeface="Consolas" pitchFamily="34" charset="0"/>
                <a:ea typeface="Consolas" pitchFamily="34" charset="-122"/>
                <a:cs typeface="Consolas" pitchFamily="34" charset="-120"/>
              </a:rPr>
              <a:t>Appareil            (</a:t>
            </a:r>
            <a:r>
              <a:rPr lang="en-US" sz="900" u="sng" dirty="0">
                <a:solidFill>
                  <a:srgbClr val="CBD5E1"/>
                </a:solidFill>
                <a:latin typeface="Consolas" pitchFamily="34" charset="0"/>
                <a:ea typeface="Consolas" pitchFamily="34" charset="-122"/>
                <a:cs typeface="Consolas" pitchFamily="34" charset="-120"/>
              </a:rPr>
              <a:t>id_appareil</a:t>
            </a:r>
            <a:r>
              <a:rPr lang="en-US" sz="900" dirty="0">
                <a:solidFill>
                  <a:srgbClr val="CBD5E1"/>
                </a:solidFill>
                <a:latin typeface="Consolas" pitchFamily="34" charset="0"/>
                <a:ea typeface="Consolas" pitchFamily="34" charset="-122"/>
                <a:cs typeface="Consolas" pitchFamily="34" charset="-120"/>
              </a:rPr>
              <a:t>, type_appareil, empreinte_appareil, date_enregistrement, </a:t>
            </a:r>
            <a:r>
              <a:rPr lang="en-US" sz="900" dirty="0" smtClean="0">
                <a:solidFill>
                  <a:srgbClr val="CBD5E1"/>
                </a:solidFill>
                <a:latin typeface="Consolas" pitchFamily="34" charset="0"/>
                <a:ea typeface="Consolas" pitchFamily="34" charset="-122"/>
                <a:cs typeface="Consolas" pitchFamily="34" charset="-120"/>
              </a:rPr>
              <a:t>#</a:t>
            </a:r>
            <a:r>
              <a:rPr lang="en-US" sz="900" dirty="0" err="1" smtClean="0">
                <a:solidFill>
                  <a:srgbClr val="CBD5E1"/>
                </a:solidFill>
                <a:latin typeface="Consolas" pitchFamily="34" charset="0"/>
                <a:ea typeface="Consolas" pitchFamily="34" charset="-122"/>
                <a:cs typeface="Consolas" pitchFamily="34" charset="-120"/>
              </a:rPr>
              <a:t>id_utilisateur</a:t>
            </a:r>
            <a:r>
              <a:rPr lang="en-US" sz="900" dirty="0">
                <a:solidFill>
                  <a:srgbClr val="CBD5E1"/>
                </a:solidFill>
                <a:latin typeface="Consolas" pitchFamily="34" charset="0"/>
                <a:ea typeface="Consolas" pitchFamily="34" charset="-122"/>
                <a:cs typeface="Consolas" pitchFamily="34" charset="-120"/>
              </a:rPr>
              <a:t>)</a:t>
            </a:r>
            <a:endParaRPr lang="en-US" sz="900" dirty="0"/>
          </a:p>
          <a:p>
            <a:pPr marL="0" indent="0">
              <a:buNone/>
            </a:pPr>
            <a:r>
              <a:rPr lang="en-US" sz="900" dirty="0">
                <a:solidFill>
                  <a:srgbClr val="CBD5E1"/>
                </a:solidFill>
                <a:latin typeface="Consolas" pitchFamily="34" charset="0"/>
                <a:ea typeface="Consolas" pitchFamily="34" charset="-122"/>
                <a:cs typeface="Consolas" pitchFamily="34" charset="-120"/>
              </a:rPr>
              <a:t>Connexion           (</a:t>
            </a:r>
            <a:r>
              <a:rPr lang="en-US" sz="900" u="sng" dirty="0">
                <a:solidFill>
                  <a:srgbClr val="CBD5E1"/>
                </a:solidFill>
                <a:latin typeface="Consolas" pitchFamily="34" charset="0"/>
                <a:ea typeface="Consolas" pitchFamily="34" charset="-122"/>
                <a:cs typeface="Consolas" pitchFamily="34" charset="-120"/>
              </a:rPr>
              <a:t>id_connexion</a:t>
            </a:r>
            <a:r>
              <a:rPr lang="en-US" sz="900" dirty="0">
                <a:solidFill>
                  <a:srgbClr val="CBD5E1"/>
                </a:solidFill>
                <a:latin typeface="Consolas" pitchFamily="34" charset="0"/>
                <a:ea typeface="Consolas" pitchFamily="34" charset="-122"/>
                <a:cs typeface="Consolas" pitchFamily="34" charset="-120"/>
              </a:rPr>
              <a:t>, adresse_ip, date_heure, statut, pays, </a:t>
            </a:r>
            <a:r>
              <a:rPr lang="en-US" sz="900" dirty="0" smtClean="0">
                <a:solidFill>
                  <a:srgbClr val="CBD5E1"/>
                </a:solidFill>
                <a:latin typeface="Consolas" pitchFamily="34" charset="0"/>
                <a:ea typeface="Consolas" pitchFamily="34" charset="-122"/>
                <a:cs typeface="Consolas" pitchFamily="34" charset="-120"/>
              </a:rPr>
              <a:t>#</a:t>
            </a:r>
            <a:r>
              <a:rPr lang="en-US" sz="900" dirty="0" err="1" smtClean="0">
                <a:solidFill>
                  <a:srgbClr val="CBD5E1"/>
                </a:solidFill>
                <a:latin typeface="Consolas" pitchFamily="34" charset="0"/>
                <a:ea typeface="Consolas" pitchFamily="34" charset="-122"/>
                <a:cs typeface="Consolas" pitchFamily="34" charset="-120"/>
              </a:rPr>
              <a:t>id_utilisateur</a:t>
            </a:r>
            <a:r>
              <a:rPr lang="en-US" sz="900" dirty="0">
                <a:solidFill>
                  <a:srgbClr val="CBD5E1"/>
                </a:solidFill>
                <a:latin typeface="Consolas" pitchFamily="34" charset="0"/>
                <a:ea typeface="Consolas" pitchFamily="34" charset="-122"/>
                <a:cs typeface="Consolas" pitchFamily="34" charset="-120"/>
              </a:rPr>
              <a:t>, </a:t>
            </a:r>
            <a:r>
              <a:rPr lang="en-US" sz="900" dirty="0" smtClean="0">
                <a:solidFill>
                  <a:srgbClr val="CBD5E1"/>
                </a:solidFill>
                <a:latin typeface="Consolas" pitchFamily="34" charset="0"/>
                <a:ea typeface="Consolas" pitchFamily="34" charset="-122"/>
                <a:cs typeface="Consolas" pitchFamily="34" charset="-120"/>
              </a:rPr>
              <a:t>#</a:t>
            </a:r>
            <a:r>
              <a:rPr lang="en-US" sz="900" dirty="0" err="1" smtClean="0">
                <a:solidFill>
                  <a:srgbClr val="CBD5E1"/>
                </a:solidFill>
                <a:latin typeface="Consolas" pitchFamily="34" charset="0"/>
                <a:ea typeface="Consolas" pitchFamily="34" charset="-122"/>
                <a:cs typeface="Consolas" pitchFamily="34" charset="-120"/>
              </a:rPr>
              <a:t>id_appareil</a:t>
            </a:r>
            <a:r>
              <a:rPr lang="en-US" sz="900" dirty="0">
                <a:solidFill>
                  <a:srgbClr val="CBD5E1"/>
                </a:solidFill>
                <a:latin typeface="Consolas" pitchFamily="34" charset="0"/>
                <a:ea typeface="Consolas" pitchFamily="34" charset="-122"/>
                <a:cs typeface="Consolas" pitchFamily="34" charset="-120"/>
              </a:rPr>
              <a:t>)</a:t>
            </a:r>
            <a:endParaRPr lang="en-US" sz="900" dirty="0"/>
          </a:p>
          <a:p>
            <a:pPr marL="0" indent="0">
              <a:buNone/>
            </a:pPr>
            <a:r>
              <a:rPr lang="en-US" sz="900" dirty="0">
                <a:solidFill>
                  <a:srgbClr val="CBD5E1"/>
                </a:solidFill>
                <a:latin typeface="Consolas" pitchFamily="34" charset="0"/>
                <a:ea typeface="Consolas" pitchFamily="34" charset="-122"/>
                <a:cs typeface="Consolas" pitchFamily="34" charset="-120"/>
              </a:rPr>
              <a:t>Connexion_Suspecte  (</a:t>
            </a:r>
            <a:r>
              <a:rPr lang="en-US" sz="900" u="sng" dirty="0">
                <a:solidFill>
                  <a:srgbClr val="CBD5E1"/>
                </a:solidFill>
                <a:latin typeface="Consolas" pitchFamily="34" charset="0"/>
                <a:ea typeface="Consolas" pitchFamily="34" charset="-122"/>
                <a:cs typeface="Consolas" pitchFamily="34" charset="-120"/>
              </a:rPr>
              <a:t>id_connex_suspecte</a:t>
            </a:r>
            <a:r>
              <a:rPr lang="en-US" sz="900" dirty="0">
                <a:solidFill>
                  <a:srgbClr val="CBD5E1"/>
                </a:solidFill>
                <a:latin typeface="Consolas" pitchFamily="34" charset="0"/>
                <a:ea typeface="Consolas" pitchFamily="34" charset="-122"/>
                <a:cs typeface="Consolas" pitchFamily="34" charset="-120"/>
              </a:rPr>
              <a:t>, motif_suspicion, </a:t>
            </a:r>
            <a:r>
              <a:rPr lang="en-US" sz="900" dirty="0" smtClean="0">
                <a:solidFill>
                  <a:srgbClr val="CBD5E1"/>
                </a:solidFill>
                <a:latin typeface="Consolas" pitchFamily="34" charset="0"/>
                <a:ea typeface="Consolas" pitchFamily="34" charset="-122"/>
                <a:cs typeface="Consolas" pitchFamily="34" charset="-120"/>
              </a:rPr>
              <a:t>#</a:t>
            </a:r>
            <a:r>
              <a:rPr lang="en-US" sz="900" dirty="0" err="1" smtClean="0">
                <a:solidFill>
                  <a:srgbClr val="CBD5E1"/>
                </a:solidFill>
                <a:latin typeface="Consolas" pitchFamily="34" charset="0"/>
                <a:ea typeface="Consolas" pitchFamily="34" charset="-122"/>
                <a:cs typeface="Consolas" pitchFamily="34" charset="-120"/>
              </a:rPr>
              <a:t>id_connexion</a:t>
            </a:r>
            <a:r>
              <a:rPr lang="en-US" sz="900" dirty="0">
                <a:solidFill>
                  <a:srgbClr val="CBD5E1"/>
                </a:solidFill>
                <a:latin typeface="Consolas" pitchFamily="34" charset="0"/>
                <a:ea typeface="Consolas" pitchFamily="34" charset="-122"/>
                <a:cs typeface="Consolas" pitchFamily="34" charset="-120"/>
              </a:rPr>
              <a:t>)</a:t>
            </a:r>
            <a:endParaRPr lang="en-US" sz="900" dirty="0"/>
          </a:p>
          <a:p>
            <a:pPr marL="0" indent="0">
              <a:buNone/>
            </a:pPr>
            <a:r>
              <a:rPr lang="en-US" sz="900" dirty="0" err="1" smtClean="0">
                <a:solidFill>
                  <a:srgbClr val="CBD5E1"/>
                </a:solidFill>
                <a:latin typeface="Consolas" pitchFamily="34" charset="0"/>
                <a:ea typeface="Consolas" pitchFamily="34" charset="-122"/>
                <a:cs typeface="Consolas" pitchFamily="34" charset="-120"/>
              </a:rPr>
              <a:t>Est_Titulaire</a:t>
            </a:r>
            <a:r>
              <a:rPr lang="en-US" sz="900" dirty="0" smtClean="0">
                <a:solidFill>
                  <a:srgbClr val="CBD5E1"/>
                </a:solidFill>
                <a:latin typeface="Consolas" pitchFamily="34" charset="0"/>
                <a:ea typeface="Consolas" pitchFamily="34" charset="-122"/>
                <a:cs typeface="Consolas" pitchFamily="34" charset="-120"/>
              </a:rPr>
              <a:t>       </a:t>
            </a:r>
            <a:r>
              <a:rPr lang="en-US" sz="900" dirty="0" smtClean="0">
                <a:solidFill>
                  <a:srgbClr val="CBD5E1"/>
                </a:solidFill>
                <a:latin typeface="Consolas" pitchFamily="34" charset="0"/>
                <a:ea typeface="Consolas" pitchFamily="34" charset="-122"/>
                <a:cs typeface="Consolas" pitchFamily="34" charset="-120"/>
              </a:rPr>
              <a:t>(#</a:t>
            </a:r>
            <a:r>
              <a:rPr lang="en-US" sz="900" u="sng" dirty="0" err="1" smtClean="0">
                <a:solidFill>
                  <a:srgbClr val="CBD5E1"/>
                </a:solidFill>
                <a:latin typeface="Consolas" pitchFamily="34" charset="0"/>
                <a:ea typeface="Consolas" pitchFamily="34" charset="-122"/>
                <a:cs typeface="Consolas" pitchFamily="34" charset="-120"/>
              </a:rPr>
              <a:t>id_utilisateur</a:t>
            </a:r>
            <a:r>
              <a:rPr lang="en-US" sz="900" dirty="0">
                <a:solidFill>
                  <a:srgbClr val="CBD5E1"/>
                </a:solidFill>
                <a:latin typeface="Consolas" pitchFamily="34" charset="0"/>
                <a:ea typeface="Consolas" pitchFamily="34" charset="-122"/>
                <a:cs typeface="Consolas" pitchFamily="34" charset="-120"/>
              </a:rPr>
              <a:t>, </a:t>
            </a:r>
            <a:r>
              <a:rPr lang="en-US" sz="900" dirty="0" smtClean="0">
                <a:solidFill>
                  <a:srgbClr val="CBD5E1"/>
                </a:solidFill>
                <a:latin typeface="Consolas" pitchFamily="34" charset="0"/>
                <a:ea typeface="Consolas" pitchFamily="34" charset="-122"/>
                <a:cs typeface="Consolas" pitchFamily="34" charset="-120"/>
              </a:rPr>
              <a:t>#</a:t>
            </a:r>
            <a:r>
              <a:rPr lang="en-US" sz="900" u="sng" dirty="0" err="1" smtClean="0">
                <a:solidFill>
                  <a:srgbClr val="CBD5E1"/>
                </a:solidFill>
                <a:latin typeface="Consolas" pitchFamily="34" charset="0"/>
                <a:ea typeface="Consolas" pitchFamily="34" charset="-122"/>
                <a:cs typeface="Consolas" pitchFamily="34" charset="-120"/>
              </a:rPr>
              <a:t>id_compte</a:t>
            </a:r>
            <a:r>
              <a:rPr lang="en-US" sz="900" dirty="0">
                <a:solidFill>
                  <a:srgbClr val="CBD5E1"/>
                </a:solidFill>
                <a:latin typeface="Consolas" pitchFamily="34" charset="0"/>
                <a:ea typeface="Consolas" pitchFamily="34" charset="-122"/>
                <a:cs typeface="Consolas" pitchFamily="34" charset="-120"/>
              </a:rPr>
              <a:t>, role_titulaire)</a:t>
            </a:r>
            <a:endParaRPr lang="en-US" sz="900" dirty="0"/>
          </a:p>
          <a:p>
            <a:pPr marL="0" indent="0">
              <a:buNone/>
            </a:pPr>
            <a:r>
              <a:rPr lang="en-US" sz="900" dirty="0">
                <a:solidFill>
                  <a:srgbClr val="CBD5E1"/>
                </a:solidFill>
                <a:latin typeface="Consolas" pitchFamily="34" charset="0"/>
                <a:ea typeface="Consolas" pitchFamily="34" charset="-122"/>
                <a:cs typeface="Consolas" pitchFamily="34" charset="-120"/>
              </a:rPr>
              <a:t>Carte_Bancaire      (</a:t>
            </a:r>
            <a:r>
              <a:rPr lang="en-US" sz="900" u="sng" dirty="0">
                <a:solidFill>
                  <a:srgbClr val="CBD5E1"/>
                </a:solidFill>
                <a:latin typeface="Consolas" pitchFamily="34" charset="0"/>
                <a:ea typeface="Consolas" pitchFamily="34" charset="-122"/>
                <a:cs typeface="Consolas" pitchFamily="34" charset="-120"/>
              </a:rPr>
              <a:t>id_carte</a:t>
            </a:r>
            <a:r>
              <a:rPr lang="en-US" sz="900" dirty="0">
                <a:solidFill>
                  <a:srgbClr val="CBD5E1"/>
                </a:solidFill>
                <a:latin typeface="Consolas" pitchFamily="34" charset="0"/>
                <a:ea typeface="Consolas" pitchFamily="34" charset="-122"/>
                <a:cs typeface="Consolas" pitchFamily="34" charset="-120"/>
              </a:rPr>
              <a:t>, numero_masque, date_expiration, statut, </a:t>
            </a:r>
            <a:r>
              <a:rPr lang="en-US" sz="900" dirty="0" smtClean="0">
                <a:solidFill>
                  <a:srgbClr val="CBD5E1"/>
                </a:solidFill>
                <a:latin typeface="Consolas" pitchFamily="34" charset="0"/>
                <a:ea typeface="Consolas" pitchFamily="34" charset="-122"/>
                <a:cs typeface="Consolas" pitchFamily="34" charset="-120"/>
              </a:rPr>
              <a:t>#</a:t>
            </a:r>
            <a:r>
              <a:rPr lang="en-US" sz="900" dirty="0" err="1" smtClean="0">
                <a:solidFill>
                  <a:srgbClr val="CBD5E1"/>
                </a:solidFill>
                <a:latin typeface="Consolas" pitchFamily="34" charset="0"/>
                <a:ea typeface="Consolas" pitchFamily="34" charset="-122"/>
                <a:cs typeface="Consolas" pitchFamily="34" charset="-120"/>
              </a:rPr>
              <a:t>id_compte</a:t>
            </a:r>
            <a:r>
              <a:rPr lang="en-US" sz="900" dirty="0">
                <a:solidFill>
                  <a:srgbClr val="CBD5E1"/>
                </a:solidFill>
                <a:latin typeface="Consolas" pitchFamily="34" charset="0"/>
                <a:ea typeface="Consolas" pitchFamily="34" charset="-122"/>
                <a:cs typeface="Consolas" pitchFamily="34" charset="-120"/>
              </a:rPr>
              <a:t>)</a:t>
            </a:r>
            <a:endParaRPr lang="en-US" sz="900" dirty="0"/>
          </a:p>
          <a:p>
            <a:pPr marL="0" indent="0">
              <a:buNone/>
            </a:pPr>
            <a:r>
              <a:rPr lang="en-US" sz="900" dirty="0">
                <a:solidFill>
                  <a:srgbClr val="CBD5E1"/>
                </a:solidFill>
                <a:latin typeface="Consolas" pitchFamily="34" charset="0"/>
                <a:ea typeface="Consolas" pitchFamily="34" charset="-122"/>
                <a:cs typeface="Consolas" pitchFamily="34" charset="-120"/>
              </a:rPr>
              <a:t>Transaction         (</a:t>
            </a:r>
            <a:r>
              <a:rPr lang="en-US" sz="900" u="sng" dirty="0">
                <a:solidFill>
                  <a:srgbClr val="CBD5E1"/>
                </a:solidFill>
                <a:latin typeface="Consolas" pitchFamily="34" charset="0"/>
                <a:ea typeface="Consolas" pitchFamily="34" charset="-122"/>
                <a:cs typeface="Consolas" pitchFamily="34" charset="-120"/>
              </a:rPr>
              <a:t>id_transaction</a:t>
            </a:r>
            <a:r>
              <a:rPr lang="en-US" sz="900" dirty="0">
                <a:solidFill>
                  <a:srgbClr val="CBD5E1"/>
                </a:solidFill>
                <a:latin typeface="Consolas" pitchFamily="34" charset="0"/>
                <a:ea typeface="Consolas" pitchFamily="34" charset="-122"/>
                <a:cs typeface="Consolas" pitchFamily="34" charset="-120"/>
              </a:rPr>
              <a:t>, montant, date_heure, type_operation, statut, pays,</a:t>
            </a:r>
            <a:endParaRPr lang="en-US" sz="900" dirty="0"/>
          </a:p>
          <a:p>
            <a:pPr marL="0" indent="0">
              <a:buNone/>
            </a:pPr>
            <a:r>
              <a:rPr lang="en-US" sz="900" dirty="0" smtClean="0">
                <a:solidFill>
                  <a:srgbClr val="CBD5E1"/>
                </a:solidFill>
                <a:latin typeface="Consolas" pitchFamily="34" charset="0"/>
                <a:ea typeface="Consolas" pitchFamily="34" charset="-122"/>
                <a:cs typeface="Consolas" pitchFamily="34" charset="-120"/>
              </a:rPr>
              <a:t>                     #</a:t>
            </a:r>
            <a:r>
              <a:rPr lang="en-US" sz="900" dirty="0" err="1" smtClean="0">
                <a:solidFill>
                  <a:srgbClr val="CBD5E1"/>
                </a:solidFill>
                <a:latin typeface="Consolas" pitchFamily="34" charset="0"/>
                <a:ea typeface="Consolas" pitchFamily="34" charset="-122"/>
                <a:cs typeface="Consolas" pitchFamily="34" charset="-120"/>
              </a:rPr>
              <a:t>id_compte</a:t>
            </a:r>
            <a:r>
              <a:rPr lang="en-US" sz="900" dirty="0" smtClean="0">
                <a:solidFill>
                  <a:srgbClr val="CBD5E1"/>
                </a:solidFill>
                <a:latin typeface="Consolas" pitchFamily="34" charset="0"/>
                <a:ea typeface="Consolas" pitchFamily="34" charset="-122"/>
                <a:cs typeface="Consolas" pitchFamily="34" charset="-120"/>
              </a:rPr>
              <a:t>, #</a:t>
            </a:r>
            <a:r>
              <a:rPr lang="en-US" sz="900" dirty="0" err="1" smtClean="0">
                <a:solidFill>
                  <a:srgbClr val="CBD5E1"/>
                </a:solidFill>
                <a:latin typeface="Consolas" pitchFamily="34" charset="0"/>
                <a:ea typeface="Consolas" pitchFamily="34" charset="-122"/>
                <a:cs typeface="Consolas" pitchFamily="34" charset="-120"/>
              </a:rPr>
              <a:t>id_compte_dest</a:t>
            </a:r>
            <a:r>
              <a:rPr lang="en-US" sz="900" dirty="0" smtClean="0">
                <a:solidFill>
                  <a:srgbClr val="CBD5E1"/>
                </a:solidFill>
                <a:latin typeface="Consolas" pitchFamily="34" charset="0"/>
                <a:ea typeface="Consolas" pitchFamily="34" charset="-122"/>
                <a:cs typeface="Consolas" pitchFamily="34" charset="-120"/>
              </a:rPr>
              <a:t>, #</a:t>
            </a:r>
            <a:r>
              <a:rPr lang="en-US" sz="900" dirty="0" err="1" smtClean="0">
                <a:solidFill>
                  <a:srgbClr val="CBD5E1"/>
                </a:solidFill>
                <a:latin typeface="Consolas" pitchFamily="34" charset="0"/>
                <a:ea typeface="Consolas" pitchFamily="34" charset="-122"/>
                <a:cs typeface="Consolas" pitchFamily="34" charset="-120"/>
              </a:rPr>
              <a:t>id_carte</a:t>
            </a:r>
            <a:r>
              <a:rPr lang="en-US" sz="900" dirty="0" smtClean="0">
                <a:solidFill>
                  <a:srgbClr val="CBD5E1"/>
                </a:solidFill>
                <a:latin typeface="Consolas" pitchFamily="34" charset="0"/>
                <a:ea typeface="Consolas" pitchFamily="34" charset="-122"/>
                <a:cs typeface="Consolas" pitchFamily="34" charset="-120"/>
              </a:rPr>
              <a:t>, #</a:t>
            </a:r>
            <a:r>
              <a:rPr lang="en-US" sz="900" dirty="0" err="1" smtClean="0">
                <a:solidFill>
                  <a:srgbClr val="CBD5E1"/>
                </a:solidFill>
                <a:latin typeface="Consolas" pitchFamily="34" charset="0"/>
                <a:ea typeface="Consolas" pitchFamily="34" charset="-122"/>
                <a:cs typeface="Consolas" pitchFamily="34" charset="-120"/>
              </a:rPr>
              <a:t>id_commercant</a:t>
            </a:r>
            <a:r>
              <a:rPr lang="en-US" sz="900" dirty="0" smtClean="0">
                <a:solidFill>
                  <a:srgbClr val="CBD5E1"/>
                </a:solidFill>
                <a:latin typeface="Consolas" pitchFamily="34" charset="0"/>
                <a:ea typeface="Consolas" pitchFamily="34" charset="-122"/>
                <a:cs typeface="Consolas" pitchFamily="34" charset="-120"/>
              </a:rPr>
              <a:t>)</a:t>
            </a:r>
            <a:endParaRPr lang="en-US" sz="900" dirty="0" smtClean="0"/>
          </a:p>
          <a:p>
            <a:pPr marL="0" indent="0">
              <a:buNone/>
            </a:pPr>
            <a:r>
              <a:rPr lang="en-US" sz="900" dirty="0" err="1" smtClean="0">
                <a:solidFill>
                  <a:srgbClr val="CBD5E1"/>
                </a:solidFill>
                <a:latin typeface="Consolas" pitchFamily="34" charset="0"/>
                <a:ea typeface="Consolas" pitchFamily="34" charset="-122"/>
                <a:cs typeface="Consolas" pitchFamily="34" charset="-120"/>
              </a:rPr>
              <a:t>Transaction_Suspecte</a:t>
            </a:r>
            <a:r>
              <a:rPr lang="en-US" sz="900" dirty="0" smtClean="0">
                <a:solidFill>
                  <a:srgbClr val="CBD5E1"/>
                </a:solidFill>
                <a:latin typeface="Consolas" pitchFamily="34" charset="0"/>
                <a:ea typeface="Consolas" pitchFamily="34" charset="-122"/>
                <a:cs typeface="Consolas" pitchFamily="34" charset="-120"/>
              </a:rPr>
              <a:t>(</a:t>
            </a:r>
            <a:r>
              <a:rPr lang="en-US" sz="900" u="sng" dirty="0" err="1" smtClean="0">
                <a:solidFill>
                  <a:srgbClr val="CBD5E1"/>
                </a:solidFill>
                <a:latin typeface="Consolas" pitchFamily="34" charset="0"/>
                <a:ea typeface="Consolas" pitchFamily="34" charset="-122"/>
                <a:cs typeface="Consolas" pitchFamily="34" charset="-120"/>
              </a:rPr>
              <a:t>id_transac_suspecte</a:t>
            </a:r>
            <a:r>
              <a:rPr lang="en-US" sz="900" dirty="0">
                <a:solidFill>
                  <a:srgbClr val="CBD5E1"/>
                </a:solidFill>
                <a:latin typeface="Consolas" pitchFamily="34" charset="0"/>
                <a:ea typeface="Consolas" pitchFamily="34" charset="-122"/>
                <a:cs typeface="Consolas" pitchFamily="34" charset="-120"/>
              </a:rPr>
              <a:t>, motif_suspicion, </a:t>
            </a:r>
            <a:r>
              <a:rPr lang="en-US" sz="900" dirty="0" smtClean="0">
                <a:solidFill>
                  <a:srgbClr val="CBD5E1"/>
                </a:solidFill>
                <a:latin typeface="Consolas" pitchFamily="34" charset="0"/>
                <a:ea typeface="Consolas" pitchFamily="34" charset="-122"/>
                <a:cs typeface="Consolas" pitchFamily="34" charset="-120"/>
              </a:rPr>
              <a:t>#</a:t>
            </a:r>
            <a:r>
              <a:rPr lang="en-US" sz="900" dirty="0" err="1" smtClean="0">
                <a:solidFill>
                  <a:srgbClr val="CBD5E1"/>
                </a:solidFill>
                <a:latin typeface="Consolas" pitchFamily="34" charset="0"/>
                <a:ea typeface="Consolas" pitchFamily="34" charset="-122"/>
                <a:cs typeface="Consolas" pitchFamily="34" charset="-120"/>
              </a:rPr>
              <a:t>id_transaction</a:t>
            </a:r>
            <a:r>
              <a:rPr lang="en-US" sz="900" dirty="0">
                <a:solidFill>
                  <a:srgbClr val="CBD5E1"/>
                </a:solidFill>
                <a:latin typeface="Consolas" pitchFamily="34" charset="0"/>
                <a:ea typeface="Consolas" pitchFamily="34" charset="-122"/>
                <a:cs typeface="Consolas" pitchFamily="34" charset="-120"/>
              </a:rPr>
              <a:t>)</a:t>
            </a:r>
            <a:endParaRPr lang="en-US" sz="900" dirty="0"/>
          </a:p>
          <a:p>
            <a:pPr marL="0" indent="0">
              <a:buNone/>
            </a:pPr>
            <a:r>
              <a:rPr lang="en-US" sz="900" dirty="0">
                <a:solidFill>
                  <a:srgbClr val="CBD5E1"/>
                </a:solidFill>
                <a:latin typeface="Consolas" pitchFamily="34" charset="0"/>
                <a:ea typeface="Consolas" pitchFamily="34" charset="-122"/>
                <a:cs typeface="Consolas" pitchFamily="34" charset="-120"/>
              </a:rPr>
              <a:t>Cheque              (</a:t>
            </a:r>
            <a:r>
              <a:rPr lang="en-US" sz="900" u="sng" dirty="0">
                <a:solidFill>
                  <a:srgbClr val="CBD5E1"/>
                </a:solidFill>
                <a:latin typeface="Consolas" pitchFamily="34" charset="0"/>
                <a:ea typeface="Consolas" pitchFamily="34" charset="-122"/>
                <a:cs typeface="Consolas" pitchFamily="34" charset="-120"/>
              </a:rPr>
              <a:t>id_cheque</a:t>
            </a:r>
            <a:r>
              <a:rPr lang="en-US" sz="900" dirty="0">
                <a:solidFill>
                  <a:srgbClr val="CBD5E1"/>
                </a:solidFill>
                <a:latin typeface="Consolas" pitchFamily="34" charset="0"/>
                <a:ea typeface="Consolas" pitchFamily="34" charset="-122"/>
                <a:cs typeface="Consolas" pitchFamily="34" charset="-120"/>
              </a:rPr>
              <a:t>, numero_cheque, montant, date_emission, statut_encaissement,</a:t>
            </a:r>
            <a:endParaRPr lang="en-US" sz="900" dirty="0"/>
          </a:p>
          <a:p>
            <a:pPr marL="0" indent="0">
              <a:buNone/>
            </a:pPr>
            <a:r>
              <a:rPr lang="en-US" sz="900" dirty="0">
                <a:solidFill>
                  <a:srgbClr val="CBD5E1"/>
                </a:solidFill>
                <a:latin typeface="Consolas" pitchFamily="34" charset="0"/>
                <a:ea typeface="Consolas" pitchFamily="34" charset="-122"/>
                <a:cs typeface="Consolas" pitchFamily="34" charset="-120"/>
              </a:rPr>
              <a:t>                     </a:t>
            </a:r>
            <a:r>
              <a:rPr lang="en-US" sz="900" dirty="0" smtClean="0">
                <a:solidFill>
                  <a:srgbClr val="CBD5E1"/>
                </a:solidFill>
                <a:latin typeface="Consolas" pitchFamily="34" charset="0"/>
                <a:ea typeface="Consolas" pitchFamily="34" charset="-122"/>
                <a:cs typeface="Consolas" pitchFamily="34" charset="-120"/>
              </a:rPr>
              <a:t>#</a:t>
            </a:r>
            <a:r>
              <a:rPr lang="en-US" sz="900" dirty="0" err="1" smtClean="0">
                <a:solidFill>
                  <a:srgbClr val="CBD5E1"/>
                </a:solidFill>
                <a:latin typeface="Consolas" pitchFamily="34" charset="0"/>
                <a:ea typeface="Consolas" pitchFamily="34" charset="-122"/>
                <a:cs typeface="Consolas" pitchFamily="34" charset="-120"/>
              </a:rPr>
              <a:t>id_compte</a:t>
            </a:r>
            <a:r>
              <a:rPr lang="en-US" sz="900" dirty="0">
                <a:solidFill>
                  <a:srgbClr val="CBD5E1"/>
                </a:solidFill>
                <a:latin typeface="Consolas" pitchFamily="34" charset="0"/>
                <a:ea typeface="Consolas" pitchFamily="34" charset="-122"/>
                <a:cs typeface="Consolas" pitchFamily="34" charset="-120"/>
              </a:rPr>
              <a:t>, </a:t>
            </a:r>
            <a:r>
              <a:rPr lang="en-US" sz="900" dirty="0" smtClean="0">
                <a:solidFill>
                  <a:srgbClr val="CBD5E1"/>
                </a:solidFill>
                <a:latin typeface="Consolas" pitchFamily="34" charset="0"/>
                <a:ea typeface="Consolas" pitchFamily="34" charset="-122"/>
                <a:cs typeface="Consolas" pitchFamily="34" charset="-120"/>
              </a:rPr>
              <a:t>#</a:t>
            </a:r>
            <a:r>
              <a:rPr lang="en-US" sz="900" dirty="0" err="1" smtClean="0">
                <a:solidFill>
                  <a:srgbClr val="CBD5E1"/>
                </a:solidFill>
                <a:latin typeface="Consolas" pitchFamily="34" charset="0"/>
                <a:ea typeface="Consolas" pitchFamily="34" charset="-122"/>
                <a:cs typeface="Consolas" pitchFamily="34" charset="-120"/>
              </a:rPr>
              <a:t>id_compte_dest</a:t>
            </a:r>
            <a:r>
              <a:rPr lang="en-US" sz="900" dirty="0">
                <a:solidFill>
                  <a:srgbClr val="CBD5E1"/>
                </a:solidFill>
                <a:latin typeface="Consolas" pitchFamily="34" charset="0"/>
                <a:ea typeface="Consolas" pitchFamily="34" charset="-122"/>
                <a:cs typeface="Consolas" pitchFamily="34" charset="-120"/>
              </a:rPr>
              <a:t>)</a:t>
            </a:r>
            <a:endParaRPr lang="en-US" sz="900" dirty="0"/>
          </a:p>
          <a:p>
            <a:pPr marL="0" indent="0">
              <a:buNone/>
            </a:pPr>
            <a:r>
              <a:rPr lang="en-US" sz="900" dirty="0">
                <a:solidFill>
                  <a:srgbClr val="CBD5E1"/>
                </a:solidFill>
                <a:latin typeface="Consolas" pitchFamily="34" charset="0"/>
                <a:ea typeface="Consolas" pitchFamily="34" charset="-122"/>
                <a:cs typeface="Consolas" pitchFamily="34" charset="-120"/>
              </a:rPr>
              <a:t>Commercant          (</a:t>
            </a:r>
            <a:r>
              <a:rPr lang="en-US" sz="900" u="sng" dirty="0">
                <a:solidFill>
                  <a:srgbClr val="CBD5E1"/>
                </a:solidFill>
                <a:latin typeface="Consolas" pitchFamily="34" charset="0"/>
                <a:ea typeface="Consolas" pitchFamily="34" charset="-122"/>
                <a:cs typeface="Consolas" pitchFamily="34" charset="-120"/>
              </a:rPr>
              <a:t>id_commercant</a:t>
            </a:r>
            <a:r>
              <a:rPr lang="en-US" sz="900" dirty="0">
                <a:solidFill>
                  <a:srgbClr val="CBD5E1"/>
                </a:solidFill>
                <a:latin typeface="Consolas" pitchFamily="34" charset="0"/>
                <a:ea typeface="Consolas" pitchFamily="34" charset="-122"/>
                <a:cs typeface="Consolas" pitchFamily="34" charset="-120"/>
              </a:rPr>
              <a:t>, nom_commercant, pays, date_enregistrement, </a:t>
            </a:r>
            <a:r>
              <a:rPr lang="en-US" sz="900" dirty="0" smtClean="0">
                <a:solidFill>
                  <a:srgbClr val="CBD5E1"/>
                </a:solidFill>
                <a:latin typeface="Consolas" pitchFamily="34" charset="0"/>
                <a:ea typeface="Consolas" pitchFamily="34" charset="-122"/>
                <a:cs typeface="Consolas" pitchFamily="34" charset="-120"/>
              </a:rPr>
              <a:t>#</a:t>
            </a:r>
            <a:r>
              <a:rPr lang="en-US" sz="900" dirty="0" err="1" smtClean="0">
                <a:solidFill>
                  <a:srgbClr val="CBD5E1"/>
                </a:solidFill>
                <a:latin typeface="Consolas" pitchFamily="34" charset="0"/>
                <a:ea typeface="Consolas" pitchFamily="34" charset="-122"/>
                <a:cs typeface="Consolas" pitchFamily="34" charset="-120"/>
              </a:rPr>
              <a:t>id_categorie</a:t>
            </a:r>
            <a:r>
              <a:rPr lang="en-US" sz="900" dirty="0">
                <a:solidFill>
                  <a:srgbClr val="CBD5E1"/>
                </a:solidFill>
                <a:latin typeface="Consolas" pitchFamily="34" charset="0"/>
                <a:ea typeface="Consolas" pitchFamily="34" charset="-122"/>
                <a:cs typeface="Consolas" pitchFamily="34" charset="-120"/>
              </a:rPr>
              <a:t>)</a:t>
            </a:r>
            <a:endParaRPr lang="en-US" sz="900" dirty="0"/>
          </a:p>
          <a:p>
            <a:pPr marL="0" indent="0">
              <a:buNone/>
            </a:pPr>
            <a:r>
              <a:rPr lang="en-US" sz="900" dirty="0">
                <a:solidFill>
                  <a:srgbClr val="CBD5E1"/>
                </a:solidFill>
                <a:latin typeface="Consolas" pitchFamily="34" charset="0"/>
                <a:ea typeface="Consolas" pitchFamily="34" charset="-122"/>
                <a:cs typeface="Consolas" pitchFamily="34" charset="-120"/>
              </a:rPr>
              <a:t>Alerte              (</a:t>
            </a:r>
            <a:r>
              <a:rPr lang="en-US" sz="900" u="sng" dirty="0">
                <a:solidFill>
                  <a:srgbClr val="CBD5E1"/>
                </a:solidFill>
                <a:latin typeface="Consolas" pitchFamily="34" charset="0"/>
                <a:ea typeface="Consolas" pitchFamily="34" charset="-122"/>
                <a:cs typeface="Consolas" pitchFamily="34" charset="-120"/>
              </a:rPr>
              <a:t>id_alerte</a:t>
            </a:r>
            <a:r>
              <a:rPr lang="en-US" sz="900" dirty="0">
                <a:solidFill>
                  <a:srgbClr val="CBD5E1"/>
                </a:solidFill>
                <a:latin typeface="Consolas" pitchFamily="34" charset="0"/>
                <a:ea typeface="Consolas" pitchFamily="34" charset="-122"/>
                <a:cs typeface="Consolas" pitchFamily="34" charset="-120"/>
              </a:rPr>
              <a:t>, niveau_gravite, statut_traitement,</a:t>
            </a:r>
            <a:endParaRPr lang="en-US" sz="900" dirty="0"/>
          </a:p>
          <a:p>
            <a:pPr marL="0" indent="0">
              <a:buNone/>
            </a:pPr>
            <a:r>
              <a:rPr lang="en-US" sz="900" dirty="0">
                <a:solidFill>
                  <a:srgbClr val="CBD5E1"/>
                </a:solidFill>
                <a:latin typeface="Consolas" pitchFamily="34" charset="0"/>
                <a:ea typeface="Consolas" pitchFamily="34" charset="-122"/>
                <a:cs typeface="Consolas" pitchFamily="34" charset="-120"/>
              </a:rPr>
              <a:t>                     date_declenchement, </a:t>
            </a:r>
            <a:r>
              <a:rPr lang="en-US" sz="900" dirty="0" smtClean="0">
                <a:solidFill>
                  <a:srgbClr val="CBD5E1"/>
                </a:solidFill>
                <a:latin typeface="Consolas" pitchFamily="34" charset="0"/>
                <a:ea typeface="Consolas" pitchFamily="34" charset="-122"/>
                <a:cs typeface="Consolas" pitchFamily="34" charset="-120"/>
              </a:rPr>
              <a:t>#</a:t>
            </a:r>
            <a:r>
              <a:rPr lang="en-US" sz="900" dirty="0" err="1" smtClean="0">
                <a:solidFill>
                  <a:srgbClr val="CBD5E1"/>
                </a:solidFill>
                <a:latin typeface="Consolas" pitchFamily="34" charset="0"/>
                <a:ea typeface="Consolas" pitchFamily="34" charset="-122"/>
                <a:cs typeface="Consolas" pitchFamily="34" charset="-120"/>
              </a:rPr>
              <a:t>id_transaction</a:t>
            </a:r>
            <a:r>
              <a:rPr lang="en-US" sz="900" dirty="0">
                <a:solidFill>
                  <a:srgbClr val="CBD5E1"/>
                </a:solidFill>
                <a:latin typeface="Consolas" pitchFamily="34" charset="0"/>
                <a:ea typeface="Consolas" pitchFamily="34" charset="-122"/>
                <a:cs typeface="Consolas" pitchFamily="34" charset="-120"/>
              </a:rPr>
              <a:t>, </a:t>
            </a:r>
            <a:r>
              <a:rPr lang="en-US" sz="900" dirty="0" smtClean="0">
                <a:solidFill>
                  <a:srgbClr val="CBD5E1"/>
                </a:solidFill>
                <a:latin typeface="Consolas" pitchFamily="34" charset="0"/>
                <a:ea typeface="Consolas" pitchFamily="34" charset="-122"/>
                <a:cs typeface="Consolas" pitchFamily="34" charset="-120"/>
              </a:rPr>
              <a:t>#</a:t>
            </a:r>
            <a:r>
              <a:rPr lang="en-US" sz="900" dirty="0" err="1" smtClean="0">
                <a:solidFill>
                  <a:srgbClr val="CBD5E1"/>
                </a:solidFill>
                <a:latin typeface="Consolas" pitchFamily="34" charset="0"/>
                <a:ea typeface="Consolas" pitchFamily="34" charset="-122"/>
                <a:cs typeface="Consolas" pitchFamily="34" charset="-120"/>
              </a:rPr>
              <a:t>id_connex_suspecte</a:t>
            </a:r>
            <a:r>
              <a:rPr lang="en-US" sz="900" dirty="0">
                <a:solidFill>
                  <a:srgbClr val="CBD5E1"/>
                </a:solidFill>
                <a:latin typeface="Consolas" pitchFamily="34" charset="0"/>
                <a:ea typeface="Consolas" pitchFamily="34" charset="-122"/>
                <a:cs typeface="Consolas" pitchFamily="34" charset="-120"/>
              </a:rPr>
              <a:t>)</a:t>
            </a:r>
            <a:endParaRPr lang="en-US" sz="900" dirty="0"/>
          </a:p>
          <a:p>
            <a:pPr marL="0" indent="0">
              <a:buNone/>
            </a:pPr>
            <a:r>
              <a:rPr lang="en-US" sz="900" dirty="0">
                <a:solidFill>
                  <a:srgbClr val="CBD5E1"/>
                </a:solidFill>
                <a:latin typeface="Consolas" pitchFamily="34" charset="0"/>
                <a:ea typeface="Consolas" pitchFamily="34" charset="-122"/>
                <a:cs typeface="Consolas" pitchFamily="34" charset="-120"/>
              </a:rPr>
              <a:t>Check_up            (</a:t>
            </a:r>
            <a:r>
              <a:rPr lang="en-US" sz="900" u="sng" dirty="0">
                <a:solidFill>
                  <a:srgbClr val="CBD5E1"/>
                </a:solidFill>
                <a:latin typeface="Consolas" pitchFamily="34" charset="0"/>
                <a:ea typeface="Consolas" pitchFamily="34" charset="-122"/>
                <a:cs typeface="Consolas" pitchFamily="34" charset="-120"/>
              </a:rPr>
              <a:t>id_checkup</a:t>
            </a:r>
            <a:r>
              <a:rPr lang="en-US" sz="900" dirty="0">
                <a:solidFill>
                  <a:srgbClr val="CBD5E1"/>
                </a:solidFill>
                <a:latin typeface="Consolas" pitchFamily="34" charset="0"/>
                <a:ea typeface="Consolas" pitchFamily="34" charset="-122"/>
                <a:cs typeface="Consolas" pitchFamily="34" charset="-120"/>
              </a:rPr>
              <a:t>, date_audit, rapport_investigation, decision_prise, </a:t>
            </a:r>
            <a:r>
              <a:rPr lang="en-US" sz="900" dirty="0" smtClean="0">
                <a:solidFill>
                  <a:srgbClr val="CBD5E1"/>
                </a:solidFill>
                <a:latin typeface="Consolas" pitchFamily="34" charset="0"/>
                <a:ea typeface="Consolas" pitchFamily="34" charset="-122"/>
                <a:cs typeface="Consolas" pitchFamily="34" charset="-120"/>
              </a:rPr>
              <a:t>#</a:t>
            </a:r>
            <a:r>
              <a:rPr lang="en-US" sz="900" dirty="0" err="1" smtClean="0">
                <a:solidFill>
                  <a:srgbClr val="CBD5E1"/>
                </a:solidFill>
                <a:latin typeface="Consolas" pitchFamily="34" charset="0"/>
                <a:ea typeface="Consolas" pitchFamily="34" charset="-122"/>
                <a:cs typeface="Consolas" pitchFamily="34" charset="-120"/>
              </a:rPr>
              <a:t>id_alerte</a:t>
            </a:r>
            <a:r>
              <a:rPr lang="en-US" sz="900" dirty="0">
                <a:solidFill>
                  <a:srgbClr val="CBD5E1"/>
                </a:solidFill>
                <a:latin typeface="Consolas" pitchFamily="34" charset="0"/>
                <a:ea typeface="Consolas" pitchFamily="34" charset="-122"/>
                <a:cs typeface="Consolas" pitchFamily="34" charset="-120"/>
              </a:rPr>
              <a:t>, </a:t>
            </a:r>
            <a:r>
              <a:rPr lang="en-US" sz="900" dirty="0" smtClean="0">
                <a:solidFill>
                  <a:srgbClr val="CBD5E1"/>
                </a:solidFill>
                <a:latin typeface="Consolas" pitchFamily="34" charset="0"/>
                <a:ea typeface="Consolas" pitchFamily="34" charset="-122"/>
                <a:cs typeface="Consolas" pitchFamily="34" charset="-120"/>
              </a:rPr>
              <a:t>#</a:t>
            </a:r>
            <a:r>
              <a:rPr lang="en-US" sz="900" dirty="0" err="1" smtClean="0">
                <a:solidFill>
                  <a:srgbClr val="CBD5E1"/>
                </a:solidFill>
                <a:latin typeface="Consolas" pitchFamily="34" charset="0"/>
                <a:ea typeface="Consolas" pitchFamily="34" charset="-122"/>
                <a:cs typeface="Consolas" pitchFamily="34" charset="-120"/>
              </a:rPr>
              <a:t>id_personnel</a:t>
            </a:r>
            <a:r>
              <a:rPr lang="en-US" sz="900" dirty="0">
                <a:solidFill>
                  <a:srgbClr val="CBD5E1"/>
                </a:solidFill>
                <a:latin typeface="Consolas" pitchFamily="34" charset="0"/>
                <a:ea typeface="Consolas" pitchFamily="34" charset="-122"/>
                <a:cs typeface="Consolas" pitchFamily="34" charset="-120"/>
              </a:rPr>
              <a:t>)</a:t>
            </a:r>
            <a:endParaRPr lang="en-US" sz="900" dirty="0"/>
          </a:p>
          <a:p>
            <a:pPr marL="0" indent="0">
              <a:buNone/>
            </a:pPr>
            <a:r>
              <a:rPr lang="en-US" sz="900" dirty="0">
                <a:solidFill>
                  <a:srgbClr val="CBD5E1"/>
                </a:solidFill>
                <a:latin typeface="Consolas" pitchFamily="34" charset="0"/>
                <a:ea typeface="Consolas" pitchFamily="34" charset="-122"/>
                <a:cs typeface="Consolas" pitchFamily="34" charset="-120"/>
              </a:rPr>
              <a:t>Employe             (</a:t>
            </a:r>
            <a:r>
              <a:rPr lang="en-US" sz="900" u="sng" dirty="0">
                <a:solidFill>
                  <a:srgbClr val="CBD5E1"/>
                </a:solidFill>
                <a:latin typeface="Consolas" pitchFamily="34" charset="0"/>
                <a:ea typeface="Consolas" pitchFamily="34" charset="-122"/>
                <a:cs typeface="Consolas" pitchFamily="34" charset="-120"/>
              </a:rPr>
              <a:t>id_personnel</a:t>
            </a:r>
            <a:r>
              <a:rPr lang="en-US" sz="900" dirty="0">
                <a:solidFill>
                  <a:srgbClr val="CBD5E1"/>
                </a:solidFill>
                <a:latin typeface="Consolas" pitchFamily="34" charset="0"/>
                <a:ea typeface="Consolas" pitchFamily="34" charset="-122"/>
                <a:cs typeface="Consolas" pitchFamily="34" charset="-120"/>
              </a:rPr>
              <a:t>, matricule, nom, prenom, date_embauche)</a:t>
            </a:r>
            <a:endParaRPr lang="en-US" sz="900" dirty="0"/>
          </a:p>
          <a:p>
            <a:pPr marL="0" indent="0">
              <a:buNone/>
            </a:pPr>
            <a:r>
              <a:rPr lang="en-US" sz="900" dirty="0">
                <a:solidFill>
                  <a:srgbClr val="CBD5E1"/>
                </a:solidFill>
                <a:latin typeface="Consolas" pitchFamily="34" charset="0"/>
                <a:ea typeface="Consolas" pitchFamily="34" charset="-122"/>
                <a:cs typeface="Consolas" pitchFamily="34" charset="-120"/>
              </a:rPr>
              <a:t>Direction           (</a:t>
            </a:r>
            <a:r>
              <a:rPr lang="en-US" sz="900" u="sng" dirty="0">
                <a:solidFill>
                  <a:srgbClr val="CBD5E1"/>
                </a:solidFill>
                <a:latin typeface="Consolas" pitchFamily="34" charset="0"/>
                <a:ea typeface="Consolas" pitchFamily="34" charset="-122"/>
                <a:cs typeface="Consolas" pitchFamily="34" charset="-120"/>
              </a:rPr>
              <a:t>id_personnel</a:t>
            </a:r>
            <a:r>
              <a:rPr lang="en-US" sz="900" dirty="0">
                <a:solidFill>
                  <a:srgbClr val="CBD5E1"/>
                </a:solidFill>
                <a:latin typeface="Consolas" pitchFamily="34" charset="0"/>
                <a:ea typeface="Consolas" pitchFamily="34" charset="-122"/>
                <a:cs typeface="Consolas" pitchFamily="34" charset="-120"/>
              </a:rPr>
              <a:t>, departement)      |     Autre_Personnel (</a:t>
            </a:r>
            <a:r>
              <a:rPr lang="en-US" sz="900" u="sng" dirty="0">
                <a:solidFill>
                  <a:srgbClr val="CBD5E1"/>
                </a:solidFill>
                <a:latin typeface="Consolas" pitchFamily="34" charset="0"/>
                <a:ea typeface="Consolas" pitchFamily="34" charset="-122"/>
                <a:cs typeface="Consolas" pitchFamily="34" charset="-120"/>
              </a:rPr>
              <a:t>id_personnel</a:t>
            </a:r>
            <a:r>
              <a:rPr lang="en-US" sz="900" dirty="0">
                <a:solidFill>
                  <a:srgbClr val="CBD5E1"/>
                </a:solidFill>
                <a:latin typeface="Consolas" pitchFamily="34" charset="0"/>
                <a:ea typeface="Consolas" pitchFamily="34" charset="-122"/>
                <a:cs typeface="Consolas" pitchFamily="34" charset="-120"/>
              </a:rPr>
              <a:t>, </a:t>
            </a:r>
            <a:r>
              <a:rPr lang="en-US" sz="900" dirty="0" err="1">
                <a:solidFill>
                  <a:srgbClr val="CBD5E1"/>
                </a:solidFill>
                <a:latin typeface="Consolas" pitchFamily="34" charset="0"/>
                <a:ea typeface="Consolas" pitchFamily="34" charset="-122"/>
                <a:cs typeface="Consolas" pitchFamily="34" charset="-120"/>
              </a:rPr>
              <a:t>role_exact</a:t>
            </a:r>
            <a:r>
              <a:rPr lang="en-US" sz="900" dirty="0" smtClean="0">
                <a:solidFill>
                  <a:srgbClr val="CBD5E1"/>
                </a:solidFill>
                <a:latin typeface="Consolas" pitchFamily="34" charset="0"/>
                <a:ea typeface="Consolas" pitchFamily="34" charset="-122"/>
                <a:cs typeface="Consolas" pitchFamily="34" charset="-120"/>
              </a:rPr>
              <a:t>)</a:t>
            </a:r>
          </a:p>
          <a:p>
            <a:pPr marL="0" indent="0">
              <a:buNone/>
            </a:pPr>
            <a:r>
              <a:rPr lang="en-US" sz="900" dirty="0" err="1" smtClean="0">
                <a:solidFill>
                  <a:srgbClr val="CBD5E1"/>
                </a:solidFill>
                <a:latin typeface="Consolas" pitchFamily="34" charset="0"/>
              </a:rPr>
              <a:t>utilisé_dans_trans</a:t>
            </a:r>
            <a:r>
              <a:rPr lang="en-US" sz="900" dirty="0" smtClean="0">
                <a:solidFill>
                  <a:srgbClr val="CBD5E1"/>
                </a:solidFill>
                <a:latin typeface="Consolas" pitchFamily="34" charset="0"/>
              </a:rPr>
              <a:t>  (#</a:t>
            </a:r>
            <a:r>
              <a:rPr lang="en-US" sz="900" u="sng" dirty="0" err="1" smtClean="0">
                <a:solidFill>
                  <a:srgbClr val="CBD5E1"/>
                </a:solidFill>
                <a:latin typeface="Consolas" pitchFamily="34" charset="0"/>
              </a:rPr>
              <a:t>id_carte</a:t>
            </a:r>
            <a:r>
              <a:rPr lang="en-US" sz="900" dirty="0" smtClean="0">
                <a:solidFill>
                  <a:srgbClr val="CBD5E1"/>
                </a:solidFill>
                <a:latin typeface="Consolas" pitchFamily="34" charset="0"/>
              </a:rPr>
              <a:t>, #</a:t>
            </a:r>
            <a:r>
              <a:rPr lang="en-US" sz="900" u="sng" dirty="0" err="1" smtClean="0">
                <a:solidFill>
                  <a:srgbClr val="CBD5E1"/>
                </a:solidFill>
                <a:latin typeface="Consolas" pitchFamily="34" charset="0"/>
              </a:rPr>
              <a:t>id_transaction</a:t>
            </a:r>
            <a:r>
              <a:rPr lang="en-US" sz="900" dirty="0" smtClean="0">
                <a:solidFill>
                  <a:srgbClr val="CBD5E1"/>
                </a:solidFill>
                <a:latin typeface="Consolas" pitchFamily="34" charset="0"/>
              </a:rPr>
              <a:t>)</a:t>
            </a:r>
          </a:p>
          <a:p>
            <a:pPr marL="0" indent="0">
              <a:buNone/>
            </a:pPr>
            <a:r>
              <a:rPr lang="en-US" sz="900" dirty="0" err="1">
                <a:solidFill>
                  <a:srgbClr val="CBD5E1"/>
                </a:solidFill>
                <a:latin typeface="Consolas" pitchFamily="34" charset="0"/>
              </a:rPr>
              <a:t>r</a:t>
            </a:r>
            <a:r>
              <a:rPr lang="en-US" sz="900" dirty="0" err="1" smtClean="0">
                <a:solidFill>
                  <a:srgbClr val="CBD5E1"/>
                </a:solidFill>
                <a:latin typeface="Consolas" pitchFamily="34" charset="0"/>
              </a:rPr>
              <a:t>eçoit_trans</a:t>
            </a:r>
            <a:r>
              <a:rPr lang="en-US" sz="900" dirty="0" smtClean="0">
                <a:solidFill>
                  <a:srgbClr val="CBD5E1"/>
                </a:solidFill>
                <a:latin typeface="Consolas" pitchFamily="34" charset="0"/>
              </a:rPr>
              <a:t>        </a:t>
            </a:r>
            <a:r>
              <a:rPr lang="en-US" sz="900" dirty="0" smtClean="0">
                <a:solidFill>
                  <a:srgbClr val="CBD5E1"/>
                </a:solidFill>
                <a:latin typeface="Consolas" pitchFamily="34" charset="0"/>
              </a:rPr>
              <a:t>(#</a:t>
            </a:r>
            <a:r>
              <a:rPr lang="en-US" sz="900" u="sng" dirty="0" err="1" smtClean="0">
                <a:solidFill>
                  <a:srgbClr val="CBD5E1"/>
                </a:solidFill>
                <a:latin typeface="Consolas" pitchFamily="34" charset="0"/>
              </a:rPr>
              <a:t>id_compte</a:t>
            </a:r>
            <a:r>
              <a:rPr lang="en-US" sz="900" dirty="0" smtClean="0">
                <a:solidFill>
                  <a:srgbClr val="CBD5E1"/>
                </a:solidFill>
                <a:latin typeface="Consolas" pitchFamily="34" charset="0"/>
              </a:rPr>
              <a:t>, #</a:t>
            </a:r>
            <a:r>
              <a:rPr lang="en-US" sz="900" u="sng" dirty="0" err="1" smtClean="0">
                <a:solidFill>
                  <a:srgbClr val="CBD5E1"/>
                </a:solidFill>
                <a:latin typeface="Consolas" pitchFamily="34" charset="0"/>
              </a:rPr>
              <a:t>id_transaction</a:t>
            </a:r>
            <a:r>
              <a:rPr lang="en-US" sz="900" dirty="0" smtClean="0">
                <a:solidFill>
                  <a:srgbClr val="CBD5E1"/>
                </a:solidFill>
                <a:latin typeface="Consolas" pitchFamily="34" charset="0"/>
              </a:rPr>
              <a:t>)</a:t>
            </a:r>
          </a:p>
          <a:p>
            <a:pPr marL="0" indent="0">
              <a:buNone/>
            </a:pPr>
            <a:r>
              <a:rPr lang="en-US" sz="900" dirty="0" err="1">
                <a:solidFill>
                  <a:srgbClr val="CBD5E1"/>
                </a:solidFill>
                <a:latin typeface="Consolas" pitchFamily="34" charset="0"/>
              </a:rPr>
              <a:t>i</a:t>
            </a:r>
            <a:r>
              <a:rPr lang="en-US" sz="900" dirty="0" err="1" smtClean="0">
                <a:solidFill>
                  <a:srgbClr val="CBD5E1"/>
                </a:solidFill>
                <a:latin typeface="Consolas" pitchFamily="34" charset="0"/>
              </a:rPr>
              <a:t>mpliqué_dans</a:t>
            </a:r>
            <a:r>
              <a:rPr lang="en-US" sz="900" dirty="0" smtClean="0">
                <a:solidFill>
                  <a:srgbClr val="CBD5E1"/>
                </a:solidFill>
                <a:latin typeface="Consolas" pitchFamily="34" charset="0"/>
              </a:rPr>
              <a:t>       </a:t>
            </a:r>
            <a:r>
              <a:rPr lang="en-US" sz="900" dirty="0" smtClean="0">
                <a:solidFill>
                  <a:srgbClr val="CBD5E1"/>
                </a:solidFill>
                <a:latin typeface="Consolas" pitchFamily="34" charset="0"/>
              </a:rPr>
              <a:t>(#</a:t>
            </a:r>
            <a:r>
              <a:rPr lang="en-US" sz="900" u="sng" dirty="0" err="1" smtClean="0">
                <a:solidFill>
                  <a:srgbClr val="CBD5E1"/>
                </a:solidFill>
                <a:latin typeface="Consolas" pitchFamily="34" charset="0"/>
              </a:rPr>
              <a:t>id_transaction</a:t>
            </a:r>
            <a:r>
              <a:rPr lang="en-US" sz="900" dirty="0" smtClean="0">
                <a:solidFill>
                  <a:srgbClr val="CBD5E1"/>
                </a:solidFill>
                <a:latin typeface="Consolas" pitchFamily="34" charset="0"/>
              </a:rPr>
              <a:t>, #</a:t>
            </a:r>
            <a:r>
              <a:rPr lang="en-US" sz="900" u="sng" dirty="0" err="1" smtClean="0">
                <a:solidFill>
                  <a:srgbClr val="CBD5E1"/>
                </a:solidFill>
                <a:latin typeface="Consolas" pitchFamily="34" charset="0"/>
              </a:rPr>
              <a:t>id_commerçant</a:t>
            </a:r>
            <a:r>
              <a:rPr lang="en-US" sz="900" dirty="0" smtClean="0">
                <a:solidFill>
                  <a:srgbClr val="CBD5E1"/>
                </a:solidFill>
                <a:latin typeface="Consolas" pitchFamily="34" charset="0"/>
              </a:rPr>
              <a:t>)</a:t>
            </a:r>
          </a:p>
          <a:p>
            <a:pPr marL="0" indent="0">
              <a:buNone/>
            </a:pPr>
            <a:endParaRPr lang="en-US" sz="900"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8">
    <p:bg>
      <p:bgPr>
        <a:solidFill>
          <a:srgbClr val="F0F6FF"/>
        </a:solidFill>
        <a:effectLst/>
      </p:bgPr>
    </p:bg>
    <p:spTree>
      <p:nvGrpSpPr>
        <p:cNvPr id="1" name=""/>
        <p:cNvGrpSpPr/>
        <p:nvPr/>
      </p:nvGrpSpPr>
      <p:grpSpPr>
        <a:xfrm>
          <a:off x="0" y="0"/>
          <a:ext cx="0" cy="0"/>
          <a:chOff x="0" y="0"/>
          <a:chExt cx="0" cy="0"/>
        </a:xfrm>
      </p:grpSpPr>
      <p:sp>
        <p:nvSpPr>
          <p:cNvPr id="2" name="Shape 0"/>
          <p:cNvSpPr/>
          <p:nvPr/>
        </p:nvSpPr>
        <p:spPr>
          <a:xfrm>
            <a:off x="0" y="0"/>
            <a:ext cx="118872" cy="5143500"/>
          </a:xfrm>
          <a:prstGeom prst="rect">
            <a:avLst/>
          </a:prstGeom>
          <a:solidFill>
            <a:srgbClr val="0891B2"/>
          </a:solidFill>
          <a:ln w="12700">
            <a:solidFill>
              <a:srgbClr val="0891B2"/>
            </a:solidFill>
            <a:prstDash val="solid"/>
          </a:ln>
        </p:spPr>
      </p:sp>
      <p:sp>
        <p:nvSpPr>
          <p:cNvPr id="3" name="Shape 1"/>
          <p:cNvSpPr/>
          <p:nvPr/>
        </p:nvSpPr>
        <p:spPr>
          <a:xfrm>
            <a:off x="210312" y="91440"/>
            <a:ext cx="640080" cy="310896"/>
          </a:xfrm>
          <a:prstGeom prst="rect">
            <a:avLst/>
          </a:prstGeom>
          <a:solidFill>
            <a:srgbClr val="0891B2"/>
          </a:solidFill>
          <a:ln w="12700">
            <a:solidFill>
              <a:srgbClr val="0891B2"/>
            </a:solidFill>
            <a:prstDash val="solid"/>
          </a:ln>
        </p:spPr>
      </p:sp>
      <p:sp>
        <p:nvSpPr>
          <p:cNvPr id="4" name="Text 2"/>
          <p:cNvSpPr/>
          <p:nvPr/>
        </p:nvSpPr>
        <p:spPr>
          <a:xfrm>
            <a:off x="210312" y="91440"/>
            <a:ext cx="640080"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R01</a:t>
            </a:r>
            <a:endParaRPr lang="en-US" sz="1200" dirty="0"/>
          </a:p>
        </p:txBody>
      </p:sp>
      <p:sp>
        <p:nvSpPr>
          <p:cNvPr id="5" name="Text 3"/>
          <p:cNvSpPr/>
          <p:nvPr/>
        </p:nvSpPr>
        <p:spPr>
          <a:xfrm>
            <a:off x="932688" y="91440"/>
            <a:ext cx="6583680" cy="310896"/>
          </a:xfrm>
          <a:prstGeom prst="rect">
            <a:avLst/>
          </a:prstGeom>
          <a:noFill/>
          <a:ln/>
        </p:spPr>
        <p:txBody>
          <a:bodyPr wrap="square" rtlCol="0" anchor="ctr"/>
          <a:lstStyle/>
          <a:p>
            <a:pPr marL="0" indent="0">
              <a:buNone/>
            </a:pPr>
            <a:r>
              <a:rPr lang="en-US" sz="1350" b="1" dirty="0">
                <a:solidFill>
                  <a:srgbClr val="1E293B"/>
                </a:solidFill>
                <a:latin typeface="Calibri" pitchFamily="34" charset="0"/>
                <a:ea typeface="Calibri" pitchFamily="34" charset="-122"/>
                <a:cs typeface="Calibri" pitchFamily="34" charset="-120"/>
              </a:rPr>
              <a:t>SELECT + fonctions de date Oracle</a:t>
            </a:r>
            <a:endParaRPr lang="en-US" sz="1350" dirty="0"/>
          </a:p>
        </p:txBody>
      </p:sp>
      <p:sp>
        <p:nvSpPr>
          <p:cNvPr id="6" name="Text 4"/>
          <p:cNvSpPr/>
          <p:nvPr/>
        </p:nvSpPr>
        <p:spPr>
          <a:xfrm>
            <a:off x="210312" y="429768"/>
            <a:ext cx="8732520" cy="246888"/>
          </a:xfrm>
          <a:prstGeom prst="rect">
            <a:avLst/>
          </a:prstGeom>
          <a:noFill/>
          <a:ln/>
        </p:spPr>
        <p:txBody>
          <a:bodyPr wrap="square" rtlCol="0" anchor="ctr"/>
          <a:lstStyle/>
          <a:p>
            <a:pPr marL="0" indent="0">
              <a:buNone/>
            </a:pPr>
            <a:r>
              <a:rPr lang="en-US" sz="1000" i="1" dirty="0">
                <a:solidFill>
                  <a:srgbClr val="475569"/>
                </a:solidFill>
                <a:latin typeface="Calibri" pitchFamily="34" charset="0"/>
                <a:ea typeface="Calibri" pitchFamily="34" charset="-122"/>
                <a:cs typeface="Calibri" pitchFamily="34" charset="-120"/>
              </a:rPr>
              <a:t>Afficher les utilisateurs avec leur ancienneté calculée en mois et en années</a:t>
            </a:r>
            <a:endParaRPr lang="en-US" sz="1000" dirty="0"/>
          </a:p>
        </p:txBody>
      </p:sp>
      <p:sp>
        <p:nvSpPr>
          <p:cNvPr id="7" name="Shape 5"/>
          <p:cNvSpPr/>
          <p:nvPr/>
        </p:nvSpPr>
        <p:spPr>
          <a:xfrm>
            <a:off x="210312" y="704088"/>
            <a:ext cx="8732520" cy="2011680"/>
          </a:xfrm>
          <a:prstGeom prst="rect">
            <a:avLst/>
          </a:prstGeom>
          <a:solidFill>
            <a:srgbClr val="0F1E2E"/>
          </a:solidFill>
          <a:ln w="6350">
            <a:solidFill>
              <a:srgbClr val="1E3A5F"/>
            </a:solidFill>
            <a:prstDash val="solid"/>
          </a:ln>
        </p:spPr>
      </p:sp>
      <p:sp>
        <p:nvSpPr>
          <p:cNvPr id="8" name="Text 6"/>
          <p:cNvSpPr/>
          <p:nvPr/>
        </p:nvSpPr>
        <p:spPr>
          <a:xfrm>
            <a:off x="292608" y="731520"/>
            <a:ext cx="8549640" cy="1920240"/>
          </a:xfrm>
          <a:prstGeom prst="rect">
            <a:avLst/>
          </a:prstGeom>
          <a:noFill/>
          <a:ln/>
        </p:spPr>
        <p:txBody>
          <a:bodyPr wrap="square" lIns="38100" tIns="38100" rIns="38100" bIns="38100" rtlCol="0" anchor="t"/>
          <a:lstStyle/>
          <a:p>
            <a:pPr marL="0" indent="0">
              <a:buNone/>
            </a:pPr>
            <a:r>
              <a:rPr lang="en-US" sz="700" dirty="0">
                <a:solidFill>
                  <a:srgbClr val="CBD5E1"/>
                </a:solidFill>
                <a:latin typeface="Consolas" pitchFamily="34" charset="0"/>
                <a:ea typeface="Consolas" pitchFamily="34" charset="-122"/>
                <a:cs typeface="Consolas" pitchFamily="34" charset="-120"/>
              </a:rPr>
              <a:t>SELECT</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    id_utilisateur,</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    nom || ' ' || prenom                                    AS nom_complet,</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    email,</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    TO_CHAR(date_inscription, 'DD/MM/YYYY')                 AS date_inscription,</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    TRUNC(MONTHS_BETWEEN(SYSDATE, date_inscription))        AS anciennete_mois,</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    TRUNC(MONTHS_BETWEEN(SYSDATE, date_inscription) / 12)   AS anciennete_annees</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FROM Utilisateur</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ORDER BY date_inscription ASC;</a:t>
            </a:r>
            <a:endParaRPr lang="en-US" sz="700" dirty="0"/>
          </a:p>
        </p:txBody>
      </p:sp>
      <p:sp>
        <p:nvSpPr>
          <p:cNvPr id="9" name="Text 7"/>
          <p:cNvSpPr/>
          <p:nvPr/>
        </p:nvSpPr>
        <p:spPr>
          <a:xfrm>
            <a:off x="210312" y="2779776"/>
            <a:ext cx="3657600" cy="201168"/>
          </a:xfrm>
          <a:prstGeom prst="rect">
            <a:avLst/>
          </a:prstGeom>
          <a:noFill/>
          <a:ln/>
        </p:spPr>
        <p:txBody>
          <a:bodyPr wrap="square" rtlCol="0" anchor="ctr"/>
          <a:lstStyle/>
          <a:p>
            <a:pPr marL="0" indent="0">
              <a:buNone/>
            </a:pPr>
            <a:r>
              <a:rPr lang="en-US" sz="850" b="1" dirty="0">
                <a:solidFill>
                  <a:srgbClr val="0891B2"/>
                </a:solidFill>
                <a:latin typeface="Calibri" pitchFamily="34" charset="0"/>
                <a:ea typeface="Calibri" pitchFamily="34" charset="-122"/>
                <a:cs typeface="Calibri" pitchFamily="34" charset="-120"/>
              </a:rPr>
              <a:t>▶  </a:t>
            </a:r>
            <a:r>
              <a:rPr lang="en-US" sz="850" b="1" dirty="0" err="1">
                <a:solidFill>
                  <a:srgbClr val="0891B2"/>
                </a:solidFill>
                <a:latin typeface="Calibri" pitchFamily="34" charset="0"/>
                <a:ea typeface="Calibri" pitchFamily="34" charset="-122"/>
                <a:cs typeface="Calibri" pitchFamily="34" charset="-120"/>
              </a:rPr>
              <a:t>Résultats</a:t>
            </a:r>
            <a:r>
              <a:rPr lang="en-US" sz="850" b="1" dirty="0">
                <a:solidFill>
                  <a:srgbClr val="0891B2"/>
                </a:solidFill>
                <a:latin typeface="Calibri" pitchFamily="34" charset="0"/>
                <a:ea typeface="Calibri" pitchFamily="34" charset="-122"/>
                <a:cs typeface="Calibri" pitchFamily="34" charset="-120"/>
              </a:rPr>
              <a:t> </a:t>
            </a:r>
            <a:r>
              <a:rPr lang="en-US" sz="850" b="1" dirty="0" smtClean="0">
                <a:solidFill>
                  <a:srgbClr val="0891B2"/>
                </a:solidFill>
                <a:latin typeface="Calibri" pitchFamily="34" charset="0"/>
                <a:ea typeface="Calibri" pitchFamily="34" charset="-122"/>
                <a:cs typeface="Calibri" pitchFamily="34" charset="-120"/>
              </a:rPr>
              <a:t>:</a:t>
            </a:r>
            <a:endParaRPr lang="en-US" sz="85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210312" y="2999232"/>
          <a:ext cx="8732520" cy="1481328"/>
        </p:xfrm>
        <a:graphic>
          <a:graphicData uri="http://schemas.openxmlformats.org/drawingml/2006/table">
            <a:tbl>
              <a:tblPr/>
              <a:tblGrid>
                <a:gridCol w="1455420"/>
                <a:gridCol w="1455420"/>
                <a:gridCol w="1455420"/>
                <a:gridCol w="1455420"/>
                <a:gridCol w="1455420"/>
                <a:gridCol w="1455420"/>
              </a:tblGrid>
              <a:tr h="246888">
                <a:tc>
                  <a:txBody>
                    <a:bodyPr/>
                    <a:lstStyle/>
                    <a:p>
                      <a:pPr marL="0" indent="0" algn="ctr">
                        <a:buNone/>
                      </a:pPr>
                      <a:r>
                        <a:rPr lang="en-US" sz="800" b="1" dirty="0">
                          <a:solidFill>
                            <a:srgbClr val="FFFFFF"/>
                          </a:solidFill>
                          <a:latin typeface="Calibri" pitchFamily="34" charset="0"/>
                          <a:ea typeface="Calibri" pitchFamily="34" charset="-122"/>
                          <a:cs typeface="Calibri" pitchFamily="34" charset="-120"/>
                        </a:rPr>
                        <a:t>ID_UTILISATEUR</a:t>
                      </a:r>
                      <a:endParaRPr lang="en-US" sz="8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B1628"/>
                    </a:solidFill>
                  </a:tcPr>
                </a:tc>
                <a:tc>
                  <a:txBody>
                    <a:bodyPr/>
                    <a:lstStyle/>
                    <a:p>
                      <a:pPr marL="0" indent="0" algn="ctr">
                        <a:buNone/>
                      </a:pPr>
                      <a:r>
                        <a:rPr lang="en-US" sz="800" b="1" dirty="0">
                          <a:solidFill>
                            <a:srgbClr val="FFFFFF"/>
                          </a:solidFill>
                          <a:latin typeface="Calibri" pitchFamily="34" charset="0"/>
                          <a:ea typeface="Calibri" pitchFamily="34" charset="-122"/>
                          <a:cs typeface="Calibri" pitchFamily="34" charset="-120"/>
                        </a:rPr>
                        <a:t>NOM_COMPLET</a:t>
                      </a:r>
                      <a:endParaRPr lang="en-US" sz="8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B1628"/>
                    </a:solidFill>
                  </a:tcPr>
                </a:tc>
                <a:tc>
                  <a:txBody>
                    <a:bodyPr/>
                    <a:lstStyle/>
                    <a:p>
                      <a:pPr marL="0" indent="0" algn="ctr">
                        <a:buNone/>
                      </a:pPr>
                      <a:r>
                        <a:rPr lang="en-US" sz="800" b="1" dirty="0">
                          <a:solidFill>
                            <a:srgbClr val="FFFFFF"/>
                          </a:solidFill>
                          <a:latin typeface="Calibri" pitchFamily="34" charset="0"/>
                          <a:ea typeface="Calibri" pitchFamily="34" charset="-122"/>
                          <a:cs typeface="Calibri" pitchFamily="34" charset="-120"/>
                        </a:rPr>
                        <a:t>EMAIL</a:t>
                      </a:r>
                      <a:endParaRPr lang="en-US" sz="8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B1628"/>
                    </a:solidFill>
                  </a:tcPr>
                </a:tc>
                <a:tc>
                  <a:txBody>
                    <a:bodyPr/>
                    <a:lstStyle/>
                    <a:p>
                      <a:pPr marL="0" indent="0" algn="ctr">
                        <a:buNone/>
                      </a:pPr>
                      <a:r>
                        <a:rPr lang="en-US" sz="800" b="1" dirty="0">
                          <a:solidFill>
                            <a:srgbClr val="FFFFFF"/>
                          </a:solidFill>
                          <a:latin typeface="Calibri" pitchFamily="34" charset="0"/>
                          <a:ea typeface="Calibri" pitchFamily="34" charset="-122"/>
                          <a:cs typeface="Calibri" pitchFamily="34" charset="-120"/>
                        </a:rPr>
                        <a:t>DATE_INSCRIPTION</a:t>
                      </a:r>
                      <a:endParaRPr lang="en-US" sz="8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B1628"/>
                    </a:solidFill>
                  </a:tcPr>
                </a:tc>
                <a:tc>
                  <a:txBody>
                    <a:bodyPr/>
                    <a:lstStyle/>
                    <a:p>
                      <a:pPr marL="0" indent="0" algn="ctr">
                        <a:buNone/>
                      </a:pPr>
                      <a:r>
                        <a:rPr lang="en-US" sz="800" b="1" dirty="0">
                          <a:solidFill>
                            <a:srgbClr val="FFFFFF"/>
                          </a:solidFill>
                          <a:latin typeface="Calibri" pitchFamily="34" charset="0"/>
                          <a:ea typeface="Calibri" pitchFamily="34" charset="-122"/>
                          <a:cs typeface="Calibri" pitchFamily="34" charset="-120"/>
                        </a:rPr>
                        <a:t>ANCIENNETE_MOIS</a:t>
                      </a:r>
                      <a:endParaRPr lang="en-US" sz="8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B1628"/>
                    </a:solidFill>
                  </a:tcPr>
                </a:tc>
                <a:tc>
                  <a:txBody>
                    <a:bodyPr/>
                    <a:lstStyle/>
                    <a:p>
                      <a:pPr marL="0" indent="0" algn="ctr">
                        <a:buNone/>
                      </a:pPr>
                      <a:r>
                        <a:rPr lang="en-US" sz="800" b="1" dirty="0">
                          <a:solidFill>
                            <a:srgbClr val="FFFFFF"/>
                          </a:solidFill>
                          <a:latin typeface="Calibri" pitchFamily="34" charset="0"/>
                          <a:ea typeface="Calibri" pitchFamily="34" charset="-122"/>
                          <a:cs typeface="Calibri" pitchFamily="34" charset="-120"/>
                        </a:rPr>
                        <a:t>ANCIENNETE_ANNEES</a:t>
                      </a:r>
                      <a:endParaRPr lang="en-US" sz="8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B1628"/>
                    </a:solidFill>
                  </a:tcPr>
                </a:tc>
              </a:tr>
              <a:tr h="246888">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1</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Anas SAOUDI</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anas.saoudi@mail.com</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12/03/2019</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84</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7</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246888">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2</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Mohamed BATTI</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m.batti@mail.com</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05/07/2020</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68</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5</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r>
              <a:tr h="246888">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3</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Leila TRABELSI</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l.trabelsi@mail.com</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20/01/2022</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38</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3</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246888">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4</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Karim MANSOURI</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k.mansouri@mail.com</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14/09/2023</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18</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1</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r>
              <a:tr h="246888">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5</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Sarah BEN ALI</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s.benali@mail.com</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01/02/2025</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2</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0</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bl>
          </a:graphicData>
        </a:graphic>
      </p:graphicFrame>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9">
    <p:bg>
      <p:bgPr>
        <a:solidFill>
          <a:srgbClr val="F0F6FF"/>
        </a:solidFill>
        <a:effectLst/>
      </p:bgPr>
    </p:bg>
    <p:spTree>
      <p:nvGrpSpPr>
        <p:cNvPr id="1" name=""/>
        <p:cNvGrpSpPr/>
        <p:nvPr/>
      </p:nvGrpSpPr>
      <p:grpSpPr>
        <a:xfrm>
          <a:off x="0" y="0"/>
          <a:ext cx="0" cy="0"/>
          <a:chOff x="0" y="0"/>
          <a:chExt cx="0" cy="0"/>
        </a:xfrm>
      </p:grpSpPr>
      <p:sp>
        <p:nvSpPr>
          <p:cNvPr id="2" name="Shape 0"/>
          <p:cNvSpPr/>
          <p:nvPr/>
        </p:nvSpPr>
        <p:spPr>
          <a:xfrm>
            <a:off x="0" y="0"/>
            <a:ext cx="118872" cy="5143500"/>
          </a:xfrm>
          <a:prstGeom prst="rect">
            <a:avLst/>
          </a:prstGeom>
          <a:solidFill>
            <a:srgbClr val="0891B2"/>
          </a:solidFill>
          <a:ln w="12700">
            <a:solidFill>
              <a:srgbClr val="0891B2"/>
            </a:solidFill>
            <a:prstDash val="solid"/>
          </a:ln>
        </p:spPr>
      </p:sp>
      <p:sp>
        <p:nvSpPr>
          <p:cNvPr id="3" name="Shape 1"/>
          <p:cNvSpPr/>
          <p:nvPr/>
        </p:nvSpPr>
        <p:spPr>
          <a:xfrm>
            <a:off x="210312" y="91440"/>
            <a:ext cx="640080" cy="310896"/>
          </a:xfrm>
          <a:prstGeom prst="rect">
            <a:avLst/>
          </a:prstGeom>
          <a:solidFill>
            <a:srgbClr val="0891B2"/>
          </a:solidFill>
          <a:ln w="12700">
            <a:solidFill>
              <a:srgbClr val="0891B2"/>
            </a:solidFill>
            <a:prstDash val="solid"/>
          </a:ln>
        </p:spPr>
      </p:sp>
      <p:sp>
        <p:nvSpPr>
          <p:cNvPr id="4" name="Text 2"/>
          <p:cNvSpPr/>
          <p:nvPr/>
        </p:nvSpPr>
        <p:spPr>
          <a:xfrm>
            <a:off x="210312" y="91440"/>
            <a:ext cx="640080"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R02</a:t>
            </a:r>
            <a:endParaRPr lang="en-US" sz="1200" dirty="0"/>
          </a:p>
        </p:txBody>
      </p:sp>
      <p:sp>
        <p:nvSpPr>
          <p:cNvPr id="5" name="Text 3"/>
          <p:cNvSpPr/>
          <p:nvPr/>
        </p:nvSpPr>
        <p:spPr>
          <a:xfrm>
            <a:off x="932688" y="91440"/>
            <a:ext cx="6583680" cy="310896"/>
          </a:xfrm>
          <a:prstGeom prst="rect">
            <a:avLst/>
          </a:prstGeom>
          <a:noFill/>
          <a:ln/>
        </p:spPr>
        <p:txBody>
          <a:bodyPr wrap="square" rtlCol="0" anchor="ctr"/>
          <a:lstStyle/>
          <a:p>
            <a:pPr marL="0" indent="0">
              <a:buNone/>
            </a:pPr>
            <a:r>
              <a:rPr lang="en-US" sz="1350" b="1" dirty="0">
                <a:solidFill>
                  <a:srgbClr val="1E293B"/>
                </a:solidFill>
                <a:latin typeface="Calibri" pitchFamily="34" charset="0"/>
                <a:ea typeface="Calibri" pitchFamily="34" charset="-122"/>
                <a:cs typeface="Calibri" pitchFamily="34" charset="-120"/>
              </a:rPr>
              <a:t>JOINTURE sur 3 tables</a:t>
            </a:r>
            <a:endParaRPr lang="en-US" sz="1350" dirty="0"/>
          </a:p>
        </p:txBody>
      </p:sp>
      <p:sp>
        <p:nvSpPr>
          <p:cNvPr id="6" name="Text 4"/>
          <p:cNvSpPr/>
          <p:nvPr/>
        </p:nvSpPr>
        <p:spPr>
          <a:xfrm>
            <a:off x="210312" y="429768"/>
            <a:ext cx="8732520" cy="246888"/>
          </a:xfrm>
          <a:prstGeom prst="rect">
            <a:avLst/>
          </a:prstGeom>
          <a:noFill/>
          <a:ln/>
        </p:spPr>
        <p:txBody>
          <a:bodyPr wrap="square" rtlCol="0" anchor="ctr"/>
          <a:lstStyle/>
          <a:p>
            <a:pPr marL="0" indent="0">
              <a:buNone/>
            </a:pPr>
            <a:r>
              <a:rPr lang="en-US" sz="1000" i="1" dirty="0">
                <a:solidFill>
                  <a:srgbClr val="475569"/>
                </a:solidFill>
                <a:latin typeface="Calibri" pitchFamily="34" charset="0"/>
                <a:ea typeface="Calibri" pitchFamily="34" charset="-122"/>
                <a:cs typeface="Calibri" pitchFamily="34" charset="-120"/>
              </a:rPr>
              <a:t>Lister l'historique des connexions avec le nom de l'utilisateur et le type d'appareil</a:t>
            </a:r>
            <a:endParaRPr lang="en-US" sz="1000" dirty="0"/>
          </a:p>
        </p:txBody>
      </p:sp>
      <p:sp>
        <p:nvSpPr>
          <p:cNvPr id="7" name="Shape 5"/>
          <p:cNvSpPr/>
          <p:nvPr/>
        </p:nvSpPr>
        <p:spPr>
          <a:xfrm>
            <a:off x="210312" y="704088"/>
            <a:ext cx="8732520" cy="2011680"/>
          </a:xfrm>
          <a:prstGeom prst="rect">
            <a:avLst/>
          </a:prstGeom>
          <a:solidFill>
            <a:srgbClr val="0F1E2E"/>
          </a:solidFill>
          <a:ln w="6350">
            <a:solidFill>
              <a:srgbClr val="1E3A5F"/>
            </a:solidFill>
            <a:prstDash val="solid"/>
          </a:ln>
        </p:spPr>
      </p:sp>
      <p:sp>
        <p:nvSpPr>
          <p:cNvPr id="8" name="Text 6"/>
          <p:cNvSpPr/>
          <p:nvPr/>
        </p:nvSpPr>
        <p:spPr>
          <a:xfrm>
            <a:off x="292608" y="731520"/>
            <a:ext cx="8549640" cy="1920240"/>
          </a:xfrm>
          <a:prstGeom prst="rect">
            <a:avLst/>
          </a:prstGeom>
          <a:noFill/>
          <a:ln/>
        </p:spPr>
        <p:txBody>
          <a:bodyPr wrap="square" lIns="38100" tIns="38100" rIns="38100" bIns="38100" rtlCol="0" anchor="t"/>
          <a:lstStyle/>
          <a:p>
            <a:pPr marL="0" indent="0">
              <a:buNone/>
            </a:pPr>
            <a:r>
              <a:rPr lang="en-US" sz="700" dirty="0">
                <a:solidFill>
                  <a:srgbClr val="CBD5E1"/>
                </a:solidFill>
                <a:latin typeface="Consolas" pitchFamily="34" charset="0"/>
                <a:ea typeface="Consolas" pitchFamily="34" charset="-122"/>
                <a:cs typeface="Consolas" pitchFamily="34" charset="-120"/>
              </a:rPr>
              <a:t>SELECT</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    C.id_connexion,</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    U.nom || ' ' || U.prenom  AS utilisateur,</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    A.type_appareil,</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    C.adresse_ip, C.pays,</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    TO_CHAR(C.date_heure,'DD/MM/YYYY HH24:MI') AS date_heure,</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    C.statut</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FROM Connexion C</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JOIN Utilisateur U ON U.id_utilisateur = C.id_utilisateur</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JOIN Appareil    A ON A.id_appareil    = C.id_appareil</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ORDER BY C.date_heure DESC;</a:t>
            </a:r>
            <a:endParaRPr lang="en-US" sz="700" dirty="0"/>
          </a:p>
        </p:txBody>
      </p:sp>
      <p:sp>
        <p:nvSpPr>
          <p:cNvPr id="9" name="Text 7"/>
          <p:cNvSpPr/>
          <p:nvPr/>
        </p:nvSpPr>
        <p:spPr>
          <a:xfrm>
            <a:off x="210312" y="2779776"/>
            <a:ext cx="3657600" cy="201168"/>
          </a:xfrm>
          <a:prstGeom prst="rect">
            <a:avLst/>
          </a:prstGeom>
          <a:noFill/>
          <a:ln/>
        </p:spPr>
        <p:txBody>
          <a:bodyPr wrap="square" rtlCol="0" anchor="ctr"/>
          <a:lstStyle/>
          <a:p>
            <a:pPr marL="0" indent="0">
              <a:buNone/>
            </a:pPr>
            <a:r>
              <a:rPr lang="en-US" sz="850" b="1" dirty="0">
                <a:solidFill>
                  <a:srgbClr val="0891B2"/>
                </a:solidFill>
                <a:latin typeface="Calibri" pitchFamily="34" charset="0"/>
                <a:ea typeface="Calibri" pitchFamily="34" charset="-122"/>
                <a:cs typeface="Calibri" pitchFamily="34" charset="-120"/>
              </a:rPr>
              <a:t>▶  </a:t>
            </a:r>
            <a:r>
              <a:rPr lang="en-US" sz="850" b="1" dirty="0" err="1" smtClean="0">
                <a:solidFill>
                  <a:srgbClr val="0891B2"/>
                </a:solidFill>
                <a:latin typeface="Calibri" pitchFamily="34" charset="0"/>
                <a:ea typeface="Calibri" pitchFamily="34" charset="-122"/>
                <a:cs typeface="Calibri" pitchFamily="34" charset="-120"/>
              </a:rPr>
              <a:t>Résultats</a:t>
            </a:r>
            <a:r>
              <a:rPr lang="en-US" sz="850" b="1" dirty="0" smtClean="0">
                <a:solidFill>
                  <a:srgbClr val="0891B2"/>
                </a:solidFill>
                <a:latin typeface="Calibri" pitchFamily="34" charset="0"/>
                <a:ea typeface="Calibri" pitchFamily="34" charset="-122"/>
                <a:cs typeface="Calibri" pitchFamily="34" charset="-120"/>
              </a:rPr>
              <a:t> </a:t>
            </a:r>
            <a:r>
              <a:rPr lang="en-US" sz="850" b="1" dirty="0">
                <a:solidFill>
                  <a:srgbClr val="0891B2"/>
                </a:solidFill>
                <a:latin typeface="Calibri" pitchFamily="34" charset="0"/>
                <a:ea typeface="Calibri" pitchFamily="34" charset="-122"/>
                <a:cs typeface="Calibri" pitchFamily="34" charset="-120"/>
              </a:rPr>
              <a:t>:</a:t>
            </a:r>
            <a:endParaRPr lang="en-US" sz="85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210312" y="2999232"/>
          <a:ext cx="8732521" cy="1234440"/>
        </p:xfrm>
        <a:graphic>
          <a:graphicData uri="http://schemas.openxmlformats.org/drawingml/2006/table">
            <a:tbl>
              <a:tblPr/>
              <a:tblGrid>
                <a:gridCol w="1247503"/>
                <a:gridCol w="1247503"/>
                <a:gridCol w="1247503"/>
                <a:gridCol w="1247503"/>
                <a:gridCol w="1247503"/>
                <a:gridCol w="1247503"/>
                <a:gridCol w="1247503"/>
              </a:tblGrid>
              <a:tr h="246888">
                <a:tc>
                  <a:txBody>
                    <a:bodyPr/>
                    <a:lstStyle/>
                    <a:p>
                      <a:pPr marL="0" indent="0" algn="ctr">
                        <a:buNone/>
                      </a:pPr>
                      <a:r>
                        <a:rPr lang="en-US" sz="800" b="1" dirty="0">
                          <a:solidFill>
                            <a:srgbClr val="FFFFFF"/>
                          </a:solidFill>
                          <a:latin typeface="Calibri" pitchFamily="34" charset="0"/>
                          <a:ea typeface="Calibri" pitchFamily="34" charset="-122"/>
                          <a:cs typeface="Calibri" pitchFamily="34" charset="-120"/>
                        </a:rPr>
                        <a:t>ID_CONN</a:t>
                      </a:r>
                      <a:endParaRPr lang="en-US" sz="8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B1628"/>
                    </a:solidFill>
                  </a:tcPr>
                </a:tc>
                <a:tc>
                  <a:txBody>
                    <a:bodyPr/>
                    <a:lstStyle/>
                    <a:p>
                      <a:pPr marL="0" indent="0" algn="ctr">
                        <a:buNone/>
                      </a:pPr>
                      <a:r>
                        <a:rPr lang="en-US" sz="800" b="1" dirty="0">
                          <a:solidFill>
                            <a:srgbClr val="FFFFFF"/>
                          </a:solidFill>
                          <a:latin typeface="Calibri" pitchFamily="34" charset="0"/>
                          <a:ea typeface="Calibri" pitchFamily="34" charset="-122"/>
                          <a:cs typeface="Calibri" pitchFamily="34" charset="-120"/>
                        </a:rPr>
                        <a:t>UTILISATEUR</a:t>
                      </a:r>
                      <a:endParaRPr lang="en-US" sz="8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B1628"/>
                    </a:solidFill>
                  </a:tcPr>
                </a:tc>
                <a:tc>
                  <a:txBody>
                    <a:bodyPr/>
                    <a:lstStyle/>
                    <a:p>
                      <a:pPr marL="0" indent="0" algn="ctr">
                        <a:buNone/>
                      </a:pPr>
                      <a:r>
                        <a:rPr lang="en-US" sz="800" b="1" dirty="0">
                          <a:solidFill>
                            <a:srgbClr val="FFFFFF"/>
                          </a:solidFill>
                          <a:latin typeface="Calibri" pitchFamily="34" charset="0"/>
                          <a:ea typeface="Calibri" pitchFamily="34" charset="-122"/>
                          <a:cs typeface="Calibri" pitchFamily="34" charset="-120"/>
                        </a:rPr>
                        <a:t>TYPE_APPAREIL</a:t>
                      </a:r>
                      <a:endParaRPr lang="en-US" sz="8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B1628"/>
                    </a:solidFill>
                  </a:tcPr>
                </a:tc>
                <a:tc>
                  <a:txBody>
                    <a:bodyPr/>
                    <a:lstStyle/>
                    <a:p>
                      <a:pPr marL="0" indent="0" algn="ctr">
                        <a:buNone/>
                      </a:pPr>
                      <a:r>
                        <a:rPr lang="en-US" sz="800" b="1" dirty="0">
                          <a:solidFill>
                            <a:srgbClr val="FFFFFF"/>
                          </a:solidFill>
                          <a:latin typeface="Calibri" pitchFamily="34" charset="0"/>
                          <a:ea typeface="Calibri" pitchFamily="34" charset="-122"/>
                          <a:cs typeface="Calibri" pitchFamily="34" charset="-120"/>
                        </a:rPr>
                        <a:t>ADRESSE_IP</a:t>
                      </a:r>
                      <a:endParaRPr lang="en-US" sz="8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B1628"/>
                    </a:solidFill>
                  </a:tcPr>
                </a:tc>
                <a:tc>
                  <a:txBody>
                    <a:bodyPr/>
                    <a:lstStyle/>
                    <a:p>
                      <a:pPr marL="0" indent="0" algn="ctr">
                        <a:buNone/>
                      </a:pPr>
                      <a:r>
                        <a:rPr lang="en-US" sz="800" b="1" dirty="0">
                          <a:solidFill>
                            <a:srgbClr val="FFFFFF"/>
                          </a:solidFill>
                          <a:latin typeface="Calibri" pitchFamily="34" charset="0"/>
                          <a:ea typeface="Calibri" pitchFamily="34" charset="-122"/>
                          <a:cs typeface="Calibri" pitchFamily="34" charset="-120"/>
                        </a:rPr>
                        <a:t>PAYS</a:t>
                      </a:r>
                      <a:endParaRPr lang="en-US" sz="8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B1628"/>
                    </a:solidFill>
                  </a:tcPr>
                </a:tc>
                <a:tc>
                  <a:txBody>
                    <a:bodyPr/>
                    <a:lstStyle/>
                    <a:p>
                      <a:pPr marL="0" indent="0" algn="ctr">
                        <a:buNone/>
                      </a:pPr>
                      <a:r>
                        <a:rPr lang="en-US" sz="800" b="1" dirty="0">
                          <a:solidFill>
                            <a:srgbClr val="FFFFFF"/>
                          </a:solidFill>
                          <a:latin typeface="Calibri" pitchFamily="34" charset="0"/>
                          <a:ea typeface="Calibri" pitchFamily="34" charset="-122"/>
                          <a:cs typeface="Calibri" pitchFamily="34" charset="-120"/>
                        </a:rPr>
                        <a:t>DATE_HEURE</a:t>
                      </a:r>
                      <a:endParaRPr lang="en-US" sz="8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B1628"/>
                    </a:solidFill>
                  </a:tcPr>
                </a:tc>
                <a:tc>
                  <a:txBody>
                    <a:bodyPr/>
                    <a:lstStyle/>
                    <a:p>
                      <a:pPr marL="0" indent="0" algn="ctr">
                        <a:buNone/>
                      </a:pPr>
                      <a:r>
                        <a:rPr lang="en-US" sz="800" b="1" dirty="0">
                          <a:solidFill>
                            <a:srgbClr val="FFFFFF"/>
                          </a:solidFill>
                          <a:latin typeface="Calibri" pitchFamily="34" charset="0"/>
                          <a:ea typeface="Calibri" pitchFamily="34" charset="-122"/>
                          <a:cs typeface="Calibri" pitchFamily="34" charset="-120"/>
                        </a:rPr>
                        <a:t>STATUT</a:t>
                      </a:r>
                      <a:endParaRPr lang="en-US" sz="8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B1628"/>
                    </a:solidFill>
                  </a:tcPr>
                </a:tc>
              </a:tr>
              <a:tr h="246888">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1001</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Anas SAOUDI</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iPhone 15</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197.12.4.88</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TN</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19/04/2026 09:14</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SUCCES</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246888">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1002</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Mohamed BATTI</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Samsung Galaxy</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41.226.3.12</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TN</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18/04/2026 22:47</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SUCCES</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r>
              <a:tr h="246888">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1003</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Leila TRABELSI</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MacBook Pro</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82.17.9.200</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FR</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18/04/2026 14:31</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ECHEC</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246888">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1004</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Karim MANSOURI</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Dell XPS</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197.44.1.9</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TN</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17/04/2026 08:05</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SUCCES</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r>
            </a:tbl>
          </a:graphicData>
        </a:graphic>
      </p:graphicFrame>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10">
    <p:bg>
      <p:bgPr>
        <a:solidFill>
          <a:srgbClr val="F0F6FF"/>
        </a:solidFill>
        <a:effectLst/>
      </p:bgPr>
    </p:bg>
    <p:spTree>
      <p:nvGrpSpPr>
        <p:cNvPr id="1" name=""/>
        <p:cNvGrpSpPr/>
        <p:nvPr/>
      </p:nvGrpSpPr>
      <p:grpSpPr>
        <a:xfrm>
          <a:off x="0" y="0"/>
          <a:ext cx="0" cy="0"/>
          <a:chOff x="0" y="0"/>
          <a:chExt cx="0" cy="0"/>
        </a:xfrm>
      </p:grpSpPr>
      <p:sp>
        <p:nvSpPr>
          <p:cNvPr id="2" name="Shape 0"/>
          <p:cNvSpPr/>
          <p:nvPr/>
        </p:nvSpPr>
        <p:spPr>
          <a:xfrm>
            <a:off x="0" y="0"/>
            <a:ext cx="118872" cy="5143500"/>
          </a:xfrm>
          <a:prstGeom prst="rect">
            <a:avLst/>
          </a:prstGeom>
          <a:solidFill>
            <a:srgbClr val="0891B2"/>
          </a:solidFill>
          <a:ln w="12700">
            <a:solidFill>
              <a:srgbClr val="0891B2"/>
            </a:solidFill>
            <a:prstDash val="solid"/>
          </a:ln>
        </p:spPr>
      </p:sp>
      <p:sp>
        <p:nvSpPr>
          <p:cNvPr id="3" name="Shape 1"/>
          <p:cNvSpPr/>
          <p:nvPr/>
        </p:nvSpPr>
        <p:spPr>
          <a:xfrm>
            <a:off x="210312" y="91440"/>
            <a:ext cx="640080" cy="310896"/>
          </a:xfrm>
          <a:prstGeom prst="rect">
            <a:avLst/>
          </a:prstGeom>
          <a:solidFill>
            <a:srgbClr val="0891B2"/>
          </a:solidFill>
          <a:ln w="12700">
            <a:solidFill>
              <a:srgbClr val="0891B2"/>
            </a:solidFill>
            <a:prstDash val="solid"/>
          </a:ln>
        </p:spPr>
      </p:sp>
      <p:sp>
        <p:nvSpPr>
          <p:cNvPr id="4" name="Text 2"/>
          <p:cNvSpPr/>
          <p:nvPr/>
        </p:nvSpPr>
        <p:spPr>
          <a:xfrm>
            <a:off x="210312" y="91440"/>
            <a:ext cx="640080"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R03</a:t>
            </a:r>
            <a:endParaRPr lang="en-US" sz="1200" dirty="0"/>
          </a:p>
        </p:txBody>
      </p:sp>
      <p:sp>
        <p:nvSpPr>
          <p:cNvPr id="5" name="Text 3"/>
          <p:cNvSpPr/>
          <p:nvPr/>
        </p:nvSpPr>
        <p:spPr>
          <a:xfrm>
            <a:off x="932688" y="91440"/>
            <a:ext cx="6583680" cy="310896"/>
          </a:xfrm>
          <a:prstGeom prst="rect">
            <a:avLst/>
          </a:prstGeom>
          <a:noFill/>
          <a:ln/>
        </p:spPr>
        <p:txBody>
          <a:bodyPr wrap="square" rtlCol="0" anchor="ctr"/>
          <a:lstStyle/>
          <a:p>
            <a:pPr marL="0" indent="0">
              <a:buNone/>
            </a:pPr>
            <a:r>
              <a:rPr lang="en-US" sz="1350" b="1" dirty="0">
                <a:solidFill>
                  <a:srgbClr val="1E293B"/>
                </a:solidFill>
                <a:latin typeface="Calibri" pitchFamily="34" charset="0"/>
                <a:ea typeface="Calibri" pitchFamily="34" charset="-122"/>
                <a:cs typeface="Calibri" pitchFamily="34" charset="-120"/>
              </a:rPr>
              <a:t>GROUP BY + HAVING + agrégation</a:t>
            </a:r>
            <a:endParaRPr lang="en-US" sz="1350" dirty="0"/>
          </a:p>
        </p:txBody>
      </p:sp>
      <p:sp>
        <p:nvSpPr>
          <p:cNvPr id="6" name="Text 4"/>
          <p:cNvSpPr/>
          <p:nvPr/>
        </p:nvSpPr>
        <p:spPr>
          <a:xfrm>
            <a:off x="210312" y="429768"/>
            <a:ext cx="8732520" cy="246888"/>
          </a:xfrm>
          <a:prstGeom prst="rect">
            <a:avLst/>
          </a:prstGeom>
          <a:noFill/>
          <a:ln/>
        </p:spPr>
        <p:txBody>
          <a:bodyPr wrap="square" rtlCol="0" anchor="ctr"/>
          <a:lstStyle/>
          <a:p>
            <a:pPr marL="0" indent="0">
              <a:buNone/>
            </a:pPr>
            <a:r>
              <a:rPr lang="en-US" sz="1000" i="1" dirty="0">
                <a:solidFill>
                  <a:srgbClr val="475569"/>
                </a:solidFill>
                <a:latin typeface="Calibri" pitchFamily="34" charset="0"/>
                <a:ea typeface="Calibri" pitchFamily="34" charset="-122"/>
                <a:cs typeface="Calibri" pitchFamily="34" charset="-120"/>
              </a:rPr>
              <a:t>Comptes ayant effectué plus de 5 transactions, avec montant total et moyen</a:t>
            </a:r>
            <a:endParaRPr lang="en-US" sz="1000" dirty="0"/>
          </a:p>
        </p:txBody>
      </p:sp>
      <p:sp>
        <p:nvSpPr>
          <p:cNvPr id="7" name="Shape 5"/>
          <p:cNvSpPr/>
          <p:nvPr/>
        </p:nvSpPr>
        <p:spPr>
          <a:xfrm>
            <a:off x="210312" y="704088"/>
            <a:ext cx="8732520" cy="2011680"/>
          </a:xfrm>
          <a:prstGeom prst="rect">
            <a:avLst/>
          </a:prstGeom>
          <a:solidFill>
            <a:srgbClr val="0F1E2E"/>
          </a:solidFill>
          <a:ln w="6350">
            <a:solidFill>
              <a:srgbClr val="1E3A5F"/>
            </a:solidFill>
            <a:prstDash val="solid"/>
          </a:ln>
        </p:spPr>
      </p:sp>
      <p:sp>
        <p:nvSpPr>
          <p:cNvPr id="8" name="Text 6"/>
          <p:cNvSpPr/>
          <p:nvPr/>
        </p:nvSpPr>
        <p:spPr>
          <a:xfrm>
            <a:off x="292608" y="731520"/>
            <a:ext cx="8549640" cy="1920240"/>
          </a:xfrm>
          <a:prstGeom prst="rect">
            <a:avLst/>
          </a:prstGeom>
          <a:noFill/>
          <a:ln/>
        </p:spPr>
        <p:txBody>
          <a:bodyPr wrap="square" lIns="38100" tIns="38100" rIns="38100" bIns="38100" rtlCol="0" anchor="t"/>
          <a:lstStyle/>
          <a:p>
            <a:pPr marL="0" indent="0">
              <a:buNone/>
            </a:pPr>
            <a:r>
              <a:rPr lang="en-US" sz="700" dirty="0">
                <a:solidFill>
                  <a:srgbClr val="CBD5E1"/>
                </a:solidFill>
                <a:latin typeface="Consolas" pitchFamily="34" charset="0"/>
                <a:ea typeface="Consolas" pitchFamily="34" charset="-122"/>
                <a:cs typeface="Consolas" pitchFamily="34" charset="-120"/>
              </a:rPr>
              <a:t>SELECT</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    CO.id_compte, CO.devise,</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    COUNT(T.id_transaction)   AS nb_transactions,</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    SUM(T.montant)            AS montant_total,</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    ROUND(AVG(T.montant),2)   AS montant_moyen,</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    MAX(T.montant)            AS montant_max</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FROM Compte CO</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JOIN Transaction T ON T.id_compte = CO.id_compte</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GROUP BY CO.id_compte, CO.devise</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HAVING COUNT(T.id_transaction) &gt; 5</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ORDER BY montant_total DESC;</a:t>
            </a:r>
            <a:endParaRPr lang="en-US" sz="700" dirty="0"/>
          </a:p>
        </p:txBody>
      </p:sp>
      <p:sp>
        <p:nvSpPr>
          <p:cNvPr id="9" name="Text 7"/>
          <p:cNvSpPr/>
          <p:nvPr/>
        </p:nvSpPr>
        <p:spPr>
          <a:xfrm>
            <a:off x="210312" y="2779776"/>
            <a:ext cx="3657600" cy="201168"/>
          </a:xfrm>
          <a:prstGeom prst="rect">
            <a:avLst/>
          </a:prstGeom>
          <a:noFill/>
          <a:ln/>
        </p:spPr>
        <p:txBody>
          <a:bodyPr wrap="square" rtlCol="0" anchor="ctr"/>
          <a:lstStyle/>
          <a:p>
            <a:pPr marL="0" indent="0">
              <a:buNone/>
            </a:pPr>
            <a:r>
              <a:rPr lang="en-US" sz="850" b="1" dirty="0">
                <a:solidFill>
                  <a:srgbClr val="0891B2"/>
                </a:solidFill>
                <a:latin typeface="Calibri" pitchFamily="34" charset="0"/>
                <a:ea typeface="Calibri" pitchFamily="34" charset="-122"/>
                <a:cs typeface="Calibri" pitchFamily="34" charset="-120"/>
              </a:rPr>
              <a:t>▶  </a:t>
            </a:r>
            <a:r>
              <a:rPr lang="en-US" sz="850" b="1" dirty="0" err="1" smtClean="0">
                <a:solidFill>
                  <a:srgbClr val="0891B2"/>
                </a:solidFill>
                <a:latin typeface="Calibri" pitchFamily="34" charset="0"/>
                <a:ea typeface="Calibri" pitchFamily="34" charset="-122"/>
                <a:cs typeface="Calibri" pitchFamily="34" charset="-120"/>
              </a:rPr>
              <a:t>Résultats</a:t>
            </a:r>
            <a:r>
              <a:rPr lang="en-US" sz="850" b="1" dirty="0" smtClean="0">
                <a:solidFill>
                  <a:srgbClr val="0891B2"/>
                </a:solidFill>
                <a:latin typeface="Calibri" pitchFamily="34" charset="0"/>
                <a:ea typeface="Calibri" pitchFamily="34" charset="-122"/>
                <a:cs typeface="Calibri" pitchFamily="34" charset="-120"/>
              </a:rPr>
              <a:t> </a:t>
            </a:r>
            <a:r>
              <a:rPr lang="en-US" sz="850" b="1" dirty="0">
                <a:solidFill>
                  <a:srgbClr val="0891B2"/>
                </a:solidFill>
                <a:latin typeface="Calibri" pitchFamily="34" charset="0"/>
                <a:ea typeface="Calibri" pitchFamily="34" charset="-122"/>
                <a:cs typeface="Calibri" pitchFamily="34" charset="-120"/>
              </a:rPr>
              <a:t>:</a:t>
            </a:r>
            <a:endParaRPr lang="en-US" sz="85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210312" y="2999232"/>
          <a:ext cx="8732520" cy="1481328"/>
        </p:xfrm>
        <a:graphic>
          <a:graphicData uri="http://schemas.openxmlformats.org/drawingml/2006/table">
            <a:tbl>
              <a:tblPr/>
              <a:tblGrid>
                <a:gridCol w="1455420"/>
                <a:gridCol w="1455420"/>
                <a:gridCol w="1455420"/>
                <a:gridCol w="1455420"/>
                <a:gridCol w="1455420"/>
                <a:gridCol w="1455420"/>
              </a:tblGrid>
              <a:tr h="246888">
                <a:tc>
                  <a:txBody>
                    <a:bodyPr/>
                    <a:lstStyle/>
                    <a:p>
                      <a:pPr marL="0" indent="0" algn="ctr">
                        <a:buNone/>
                      </a:pPr>
                      <a:r>
                        <a:rPr lang="en-US" sz="800" b="1" dirty="0">
                          <a:solidFill>
                            <a:srgbClr val="FFFFFF"/>
                          </a:solidFill>
                          <a:latin typeface="Calibri" pitchFamily="34" charset="0"/>
                          <a:ea typeface="Calibri" pitchFamily="34" charset="-122"/>
                          <a:cs typeface="Calibri" pitchFamily="34" charset="-120"/>
                        </a:rPr>
                        <a:t>ID_COMPTE</a:t>
                      </a:r>
                      <a:endParaRPr lang="en-US" sz="8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B1628"/>
                    </a:solidFill>
                  </a:tcPr>
                </a:tc>
                <a:tc>
                  <a:txBody>
                    <a:bodyPr/>
                    <a:lstStyle/>
                    <a:p>
                      <a:pPr marL="0" indent="0" algn="ctr">
                        <a:buNone/>
                      </a:pPr>
                      <a:r>
                        <a:rPr lang="en-US" sz="800" b="1" dirty="0">
                          <a:solidFill>
                            <a:srgbClr val="FFFFFF"/>
                          </a:solidFill>
                          <a:latin typeface="Calibri" pitchFamily="34" charset="0"/>
                          <a:ea typeface="Calibri" pitchFamily="34" charset="-122"/>
                          <a:cs typeface="Calibri" pitchFamily="34" charset="-120"/>
                        </a:rPr>
                        <a:t>DEVISE</a:t>
                      </a:r>
                      <a:endParaRPr lang="en-US" sz="8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B1628"/>
                    </a:solidFill>
                  </a:tcPr>
                </a:tc>
                <a:tc>
                  <a:txBody>
                    <a:bodyPr/>
                    <a:lstStyle/>
                    <a:p>
                      <a:pPr marL="0" indent="0" algn="ctr">
                        <a:buNone/>
                      </a:pPr>
                      <a:r>
                        <a:rPr lang="en-US" sz="800" b="1" dirty="0">
                          <a:solidFill>
                            <a:srgbClr val="FFFFFF"/>
                          </a:solidFill>
                          <a:latin typeface="Calibri" pitchFamily="34" charset="0"/>
                          <a:ea typeface="Calibri" pitchFamily="34" charset="-122"/>
                          <a:cs typeface="Calibri" pitchFamily="34" charset="-120"/>
                        </a:rPr>
                        <a:t>NB_TRANSACTIONS</a:t>
                      </a:r>
                      <a:endParaRPr lang="en-US" sz="8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B1628"/>
                    </a:solidFill>
                  </a:tcPr>
                </a:tc>
                <a:tc>
                  <a:txBody>
                    <a:bodyPr/>
                    <a:lstStyle/>
                    <a:p>
                      <a:pPr marL="0" indent="0" algn="ctr">
                        <a:buNone/>
                      </a:pPr>
                      <a:r>
                        <a:rPr lang="en-US" sz="800" b="1" dirty="0">
                          <a:solidFill>
                            <a:srgbClr val="FFFFFF"/>
                          </a:solidFill>
                          <a:latin typeface="Calibri" pitchFamily="34" charset="0"/>
                          <a:ea typeface="Calibri" pitchFamily="34" charset="-122"/>
                          <a:cs typeface="Calibri" pitchFamily="34" charset="-120"/>
                        </a:rPr>
                        <a:t>MONTANT_TOTAL</a:t>
                      </a:r>
                      <a:endParaRPr lang="en-US" sz="8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B1628"/>
                    </a:solidFill>
                  </a:tcPr>
                </a:tc>
                <a:tc>
                  <a:txBody>
                    <a:bodyPr/>
                    <a:lstStyle/>
                    <a:p>
                      <a:pPr marL="0" indent="0" algn="ctr">
                        <a:buNone/>
                      </a:pPr>
                      <a:r>
                        <a:rPr lang="en-US" sz="800" b="1" dirty="0">
                          <a:solidFill>
                            <a:srgbClr val="FFFFFF"/>
                          </a:solidFill>
                          <a:latin typeface="Calibri" pitchFamily="34" charset="0"/>
                          <a:ea typeface="Calibri" pitchFamily="34" charset="-122"/>
                          <a:cs typeface="Calibri" pitchFamily="34" charset="-120"/>
                        </a:rPr>
                        <a:t>MONTANT_MOYEN</a:t>
                      </a:r>
                      <a:endParaRPr lang="en-US" sz="8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B1628"/>
                    </a:solidFill>
                  </a:tcPr>
                </a:tc>
                <a:tc>
                  <a:txBody>
                    <a:bodyPr/>
                    <a:lstStyle/>
                    <a:p>
                      <a:pPr marL="0" indent="0" algn="ctr">
                        <a:buNone/>
                      </a:pPr>
                      <a:r>
                        <a:rPr lang="en-US" sz="800" b="1" dirty="0">
                          <a:solidFill>
                            <a:srgbClr val="FFFFFF"/>
                          </a:solidFill>
                          <a:latin typeface="Calibri" pitchFamily="34" charset="0"/>
                          <a:ea typeface="Calibri" pitchFamily="34" charset="-122"/>
                          <a:cs typeface="Calibri" pitchFamily="34" charset="-120"/>
                        </a:rPr>
                        <a:t>MONTANT_MAX</a:t>
                      </a:r>
                      <a:endParaRPr lang="en-US" sz="8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B1628"/>
                    </a:solidFill>
                  </a:tcPr>
                </a:tc>
              </a:tr>
              <a:tr h="246888">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2001</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EUR</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23</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18450</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802.17</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3200</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246888">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2002</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TND</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18</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9870.5</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548.36</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1500</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r>
              <a:tr h="246888">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2003</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USD</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14</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7320</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522.86</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980</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246888">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2004</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EUR</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9</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4100</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455.56</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900</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r>
              <a:tr h="246888">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2005</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TND</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7</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1890</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270</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600</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bl>
          </a:graphicData>
        </a:graphic>
      </p:graphicFrame>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11">
    <p:bg>
      <p:bgPr>
        <a:solidFill>
          <a:srgbClr val="F0F6FF"/>
        </a:solidFill>
        <a:effectLst/>
      </p:bgPr>
    </p:bg>
    <p:spTree>
      <p:nvGrpSpPr>
        <p:cNvPr id="1" name=""/>
        <p:cNvGrpSpPr/>
        <p:nvPr/>
      </p:nvGrpSpPr>
      <p:grpSpPr>
        <a:xfrm>
          <a:off x="0" y="0"/>
          <a:ext cx="0" cy="0"/>
          <a:chOff x="0" y="0"/>
          <a:chExt cx="0" cy="0"/>
        </a:xfrm>
      </p:grpSpPr>
      <p:sp>
        <p:nvSpPr>
          <p:cNvPr id="2" name="Shape 0"/>
          <p:cNvSpPr/>
          <p:nvPr/>
        </p:nvSpPr>
        <p:spPr>
          <a:xfrm>
            <a:off x="0" y="0"/>
            <a:ext cx="118872" cy="5143500"/>
          </a:xfrm>
          <a:prstGeom prst="rect">
            <a:avLst/>
          </a:prstGeom>
          <a:solidFill>
            <a:srgbClr val="0891B2"/>
          </a:solidFill>
          <a:ln w="12700">
            <a:solidFill>
              <a:srgbClr val="0891B2"/>
            </a:solidFill>
            <a:prstDash val="solid"/>
          </a:ln>
        </p:spPr>
      </p:sp>
      <p:sp>
        <p:nvSpPr>
          <p:cNvPr id="3" name="Shape 1"/>
          <p:cNvSpPr/>
          <p:nvPr/>
        </p:nvSpPr>
        <p:spPr>
          <a:xfrm>
            <a:off x="210312" y="91440"/>
            <a:ext cx="640080" cy="310896"/>
          </a:xfrm>
          <a:prstGeom prst="rect">
            <a:avLst/>
          </a:prstGeom>
          <a:solidFill>
            <a:srgbClr val="0891B2"/>
          </a:solidFill>
          <a:ln w="12700">
            <a:solidFill>
              <a:srgbClr val="0891B2"/>
            </a:solidFill>
            <a:prstDash val="solid"/>
          </a:ln>
        </p:spPr>
      </p:sp>
      <p:sp>
        <p:nvSpPr>
          <p:cNvPr id="4" name="Text 2"/>
          <p:cNvSpPr/>
          <p:nvPr/>
        </p:nvSpPr>
        <p:spPr>
          <a:xfrm>
            <a:off x="210312" y="91440"/>
            <a:ext cx="640080"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R04</a:t>
            </a:r>
            <a:endParaRPr lang="en-US" sz="1200" dirty="0"/>
          </a:p>
        </p:txBody>
      </p:sp>
      <p:sp>
        <p:nvSpPr>
          <p:cNvPr id="5" name="Text 3"/>
          <p:cNvSpPr/>
          <p:nvPr/>
        </p:nvSpPr>
        <p:spPr>
          <a:xfrm>
            <a:off x="932688" y="91440"/>
            <a:ext cx="6583680" cy="310896"/>
          </a:xfrm>
          <a:prstGeom prst="rect">
            <a:avLst/>
          </a:prstGeom>
          <a:noFill/>
          <a:ln/>
        </p:spPr>
        <p:txBody>
          <a:bodyPr wrap="square" rtlCol="0" anchor="ctr"/>
          <a:lstStyle/>
          <a:p>
            <a:pPr marL="0" indent="0">
              <a:buNone/>
            </a:pPr>
            <a:r>
              <a:rPr lang="en-US" sz="1350" b="1" dirty="0">
                <a:solidFill>
                  <a:srgbClr val="1E293B"/>
                </a:solidFill>
                <a:latin typeface="Calibri" pitchFamily="34" charset="0"/>
                <a:ea typeface="Calibri" pitchFamily="34" charset="-122"/>
                <a:cs typeface="Calibri" pitchFamily="34" charset="-120"/>
              </a:rPr>
              <a:t>Sous-requête avec EXISTS</a:t>
            </a:r>
            <a:endParaRPr lang="en-US" sz="1350" dirty="0"/>
          </a:p>
        </p:txBody>
      </p:sp>
      <p:sp>
        <p:nvSpPr>
          <p:cNvPr id="6" name="Text 4"/>
          <p:cNvSpPr/>
          <p:nvPr/>
        </p:nvSpPr>
        <p:spPr>
          <a:xfrm>
            <a:off x="210312" y="429768"/>
            <a:ext cx="8732520" cy="246888"/>
          </a:xfrm>
          <a:prstGeom prst="rect">
            <a:avLst/>
          </a:prstGeom>
          <a:noFill/>
          <a:ln/>
        </p:spPr>
        <p:txBody>
          <a:bodyPr wrap="square" rtlCol="0" anchor="ctr"/>
          <a:lstStyle/>
          <a:p>
            <a:pPr marL="0" indent="0">
              <a:buNone/>
            </a:pPr>
            <a:r>
              <a:rPr lang="en-US" sz="1000" i="1" dirty="0">
                <a:solidFill>
                  <a:srgbClr val="475569"/>
                </a:solidFill>
                <a:latin typeface="Calibri" pitchFamily="34" charset="0"/>
                <a:ea typeface="Calibri" pitchFamily="34" charset="-122"/>
                <a:cs typeface="Calibri" pitchFamily="34" charset="-120"/>
              </a:rPr>
              <a:t>Lister les utilisateurs possédant au moins un compte bloqué</a:t>
            </a:r>
            <a:endParaRPr lang="en-US" sz="1000" dirty="0"/>
          </a:p>
        </p:txBody>
      </p:sp>
      <p:sp>
        <p:nvSpPr>
          <p:cNvPr id="7" name="Shape 5"/>
          <p:cNvSpPr/>
          <p:nvPr/>
        </p:nvSpPr>
        <p:spPr>
          <a:xfrm>
            <a:off x="210312" y="704088"/>
            <a:ext cx="8732520" cy="2011680"/>
          </a:xfrm>
          <a:prstGeom prst="rect">
            <a:avLst/>
          </a:prstGeom>
          <a:solidFill>
            <a:srgbClr val="0F1E2E"/>
          </a:solidFill>
          <a:ln w="6350">
            <a:solidFill>
              <a:srgbClr val="1E3A5F"/>
            </a:solidFill>
            <a:prstDash val="solid"/>
          </a:ln>
        </p:spPr>
      </p:sp>
      <p:sp>
        <p:nvSpPr>
          <p:cNvPr id="8" name="Text 6"/>
          <p:cNvSpPr/>
          <p:nvPr/>
        </p:nvSpPr>
        <p:spPr>
          <a:xfrm>
            <a:off x="292608" y="731520"/>
            <a:ext cx="8549640" cy="1920240"/>
          </a:xfrm>
          <a:prstGeom prst="rect">
            <a:avLst/>
          </a:prstGeom>
          <a:noFill/>
          <a:ln/>
        </p:spPr>
        <p:txBody>
          <a:bodyPr wrap="square" lIns="38100" tIns="38100" rIns="38100" bIns="38100" rtlCol="0" anchor="t"/>
          <a:lstStyle/>
          <a:p>
            <a:pPr marL="0" indent="0">
              <a:buNone/>
            </a:pPr>
            <a:r>
              <a:rPr lang="en-US" sz="700" dirty="0">
                <a:solidFill>
                  <a:srgbClr val="CBD5E1"/>
                </a:solidFill>
                <a:latin typeface="Consolas" pitchFamily="34" charset="0"/>
                <a:ea typeface="Consolas" pitchFamily="34" charset="-122"/>
                <a:cs typeface="Consolas" pitchFamily="34" charset="-120"/>
              </a:rPr>
              <a:t>SELECT</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    U.id_utilisateur, U.nom, U.prenom, U.email</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FROM Utilisateur U</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WHERE EXISTS (</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    SELECT 1</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    FROM Est_Titulaire ET</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    JOIN Compte_Bloque CB ON CB.id_compte = ET.id_compte</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    WHERE ET.id_utilisateur = U.id_utilisateur</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ORDER BY U.nom;</a:t>
            </a:r>
            <a:endParaRPr lang="en-US" sz="700" dirty="0"/>
          </a:p>
        </p:txBody>
      </p:sp>
      <p:sp>
        <p:nvSpPr>
          <p:cNvPr id="9" name="Text 7"/>
          <p:cNvSpPr/>
          <p:nvPr/>
        </p:nvSpPr>
        <p:spPr>
          <a:xfrm>
            <a:off x="210312" y="2779776"/>
            <a:ext cx="3657600" cy="201168"/>
          </a:xfrm>
          <a:prstGeom prst="rect">
            <a:avLst/>
          </a:prstGeom>
          <a:noFill/>
          <a:ln/>
        </p:spPr>
        <p:txBody>
          <a:bodyPr wrap="square" rtlCol="0" anchor="ctr"/>
          <a:lstStyle/>
          <a:p>
            <a:pPr marL="0" indent="0">
              <a:buNone/>
            </a:pPr>
            <a:r>
              <a:rPr lang="en-US" sz="850" b="1" dirty="0">
                <a:solidFill>
                  <a:srgbClr val="0891B2"/>
                </a:solidFill>
                <a:latin typeface="Calibri" pitchFamily="34" charset="0"/>
                <a:ea typeface="Calibri" pitchFamily="34" charset="-122"/>
                <a:cs typeface="Calibri" pitchFamily="34" charset="-120"/>
              </a:rPr>
              <a:t>▶  </a:t>
            </a:r>
            <a:r>
              <a:rPr lang="en-US" sz="850" b="1" dirty="0" err="1" smtClean="0">
                <a:solidFill>
                  <a:srgbClr val="0891B2"/>
                </a:solidFill>
                <a:latin typeface="Calibri" pitchFamily="34" charset="0"/>
                <a:ea typeface="Calibri" pitchFamily="34" charset="-122"/>
                <a:cs typeface="Calibri" pitchFamily="34" charset="-120"/>
              </a:rPr>
              <a:t>Résultats</a:t>
            </a:r>
            <a:r>
              <a:rPr lang="en-US" sz="850" b="1" dirty="0" smtClean="0">
                <a:solidFill>
                  <a:srgbClr val="0891B2"/>
                </a:solidFill>
                <a:latin typeface="Calibri" pitchFamily="34" charset="0"/>
                <a:ea typeface="Calibri" pitchFamily="34" charset="-122"/>
                <a:cs typeface="Calibri" pitchFamily="34" charset="-120"/>
              </a:rPr>
              <a:t> </a:t>
            </a:r>
            <a:r>
              <a:rPr lang="en-US" sz="850" b="1" dirty="0">
                <a:solidFill>
                  <a:srgbClr val="0891B2"/>
                </a:solidFill>
                <a:latin typeface="Calibri" pitchFamily="34" charset="0"/>
                <a:ea typeface="Calibri" pitchFamily="34" charset="-122"/>
                <a:cs typeface="Calibri" pitchFamily="34" charset="-120"/>
              </a:rPr>
              <a:t>:</a:t>
            </a:r>
            <a:endParaRPr lang="en-US" sz="85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210312" y="2999232"/>
          <a:ext cx="8732520" cy="987552"/>
        </p:xfrm>
        <a:graphic>
          <a:graphicData uri="http://schemas.openxmlformats.org/drawingml/2006/table">
            <a:tbl>
              <a:tblPr/>
              <a:tblGrid>
                <a:gridCol w="2183130"/>
                <a:gridCol w="2183130"/>
                <a:gridCol w="2183130"/>
                <a:gridCol w="2183130"/>
              </a:tblGrid>
              <a:tr h="246888">
                <a:tc>
                  <a:txBody>
                    <a:bodyPr/>
                    <a:lstStyle/>
                    <a:p>
                      <a:pPr marL="0" indent="0" algn="ctr">
                        <a:buNone/>
                      </a:pPr>
                      <a:r>
                        <a:rPr lang="en-US" sz="800" b="1" dirty="0">
                          <a:solidFill>
                            <a:srgbClr val="FFFFFF"/>
                          </a:solidFill>
                          <a:latin typeface="Calibri" pitchFamily="34" charset="0"/>
                          <a:ea typeface="Calibri" pitchFamily="34" charset="-122"/>
                          <a:cs typeface="Calibri" pitchFamily="34" charset="-120"/>
                        </a:rPr>
                        <a:t>ID_UTILISATEUR</a:t>
                      </a:r>
                      <a:endParaRPr lang="en-US" sz="8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B1628"/>
                    </a:solidFill>
                  </a:tcPr>
                </a:tc>
                <a:tc>
                  <a:txBody>
                    <a:bodyPr/>
                    <a:lstStyle/>
                    <a:p>
                      <a:pPr marL="0" indent="0" algn="ctr">
                        <a:buNone/>
                      </a:pPr>
                      <a:r>
                        <a:rPr lang="en-US" sz="800" b="1" dirty="0">
                          <a:solidFill>
                            <a:srgbClr val="FFFFFF"/>
                          </a:solidFill>
                          <a:latin typeface="Calibri" pitchFamily="34" charset="0"/>
                          <a:ea typeface="Calibri" pitchFamily="34" charset="-122"/>
                          <a:cs typeface="Calibri" pitchFamily="34" charset="-120"/>
                        </a:rPr>
                        <a:t>NOM</a:t>
                      </a:r>
                      <a:endParaRPr lang="en-US" sz="8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B1628"/>
                    </a:solidFill>
                  </a:tcPr>
                </a:tc>
                <a:tc>
                  <a:txBody>
                    <a:bodyPr/>
                    <a:lstStyle/>
                    <a:p>
                      <a:pPr marL="0" indent="0" algn="ctr">
                        <a:buNone/>
                      </a:pPr>
                      <a:r>
                        <a:rPr lang="en-US" sz="800" b="1" dirty="0">
                          <a:solidFill>
                            <a:srgbClr val="FFFFFF"/>
                          </a:solidFill>
                          <a:latin typeface="Calibri" pitchFamily="34" charset="0"/>
                          <a:ea typeface="Calibri" pitchFamily="34" charset="-122"/>
                          <a:cs typeface="Calibri" pitchFamily="34" charset="-120"/>
                        </a:rPr>
                        <a:t>PRENOM</a:t>
                      </a:r>
                      <a:endParaRPr lang="en-US" sz="8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B1628"/>
                    </a:solidFill>
                  </a:tcPr>
                </a:tc>
                <a:tc>
                  <a:txBody>
                    <a:bodyPr/>
                    <a:lstStyle/>
                    <a:p>
                      <a:pPr marL="0" indent="0" algn="ctr">
                        <a:buNone/>
                      </a:pPr>
                      <a:r>
                        <a:rPr lang="en-US" sz="800" b="1" dirty="0">
                          <a:solidFill>
                            <a:srgbClr val="FFFFFF"/>
                          </a:solidFill>
                          <a:latin typeface="Calibri" pitchFamily="34" charset="0"/>
                          <a:ea typeface="Calibri" pitchFamily="34" charset="-122"/>
                          <a:cs typeface="Calibri" pitchFamily="34" charset="-120"/>
                        </a:rPr>
                        <a:t>EMAIL</a:t>
                      </a:r>
                      <a:endParaRPr lang="en-US" sz="8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B1628"/>
                    </a:solidFill>
                  </a:tcPr>
                </a:tc>
              </a:tr>
              <a:tr h="246888">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3</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BATTI</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Mohamed</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m.batti@mail.com</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246888">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7</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BEN ALI</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Rim</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rim.benali@mail.com</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r>
              <a:tr h="246888">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12</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MANSOURI</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Karim</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k.mansouri@mail.com</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bl>
          </a:graphicData>
        </a:graphic>
      </p:graphicFrame>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12">
    <p:bg>
      <p:bgPr>
        <a:solidFill>
          <a:srgbClr val="F0F6FF"/>
        </a:solidFill>
        <a:effectLst/>
      </p:bgPr>
    </p:bg>
    <p:spTree>
      <p:nvGrpSpPr>
        <p:cNvPr id="1" name=""/>
        <p:cNvGrpSpPr/>
        <p:nvPr/>
      </p:nvGrpSpPr>
      <p:grpSpPr>
        <a:xfrm>
          <a:off x="0" y="0"/>
          <a:ext cx="0" cy="0"/>
          <a:chOff x="0" y="0"/>
          <a:chExt cx="0" cy="0"/>
        </a:xfrm>
      </p:grpSpPr>
      <p:sp>
        <p:nvSpPr>
          <p:cNvPr id="2" name="Shape 0"/>
          <p:cNvSpPr/>
          <p:nvPr/>
        </p:nvSpPr>
        <p:spPr>
          <a:xfrm>
            <a:off x="0" y="0"/>
            <a:ext cx="118872" cy="5143500"/>
          </a:xfrm>
          <a:prstGeom prst="rect">
            <a:avLst/>
          </a:prstGeom>
          <a:solidFill>
            <a:srgbClr val="0891B2"/>
          </a:solidFill>
          <a:ln w="12700">
            <a:solidFill>
              <a:srgbClr val="0891B2"/>
            </a:solidFill>
            <a:prstDash val="solid"/>
          </a:ln>
        </p:spPr>
      </p:sp>
      <p:sp>
        <p:nvSpPr>
          <p:cNvPr id="3" name="Shape 1"/>
          <p:cNvSpPr/>
          <p:nvPr/>
        </p:nvSpPr>
        <p:spPr>
          <a:xfrm>
            <a:off x="210312" y="91440"/>
            <a:ext cx="640080" cy="310896"/>
          </a:xfrm>
          <a:prstGeom prst="rect">
            <a:avLst/>
          </a:prstGeom>
          <a:solidFill>
            <a:srgbClr val="0891B2"/>
          </a:solidFill>
          <a:ln w="12700">
            <a:solidFill>
              <a:srgbClr val="0891B2"/>
            </a:solidFill>
            <a:prstDash val="solid"/>
          </a:ln>
        </p:spPr>
      </p:sp>
      <p:sp>
        <p:nvSpPr>
          <p:cNvPr id="4" name="Text 2"/>
          <p:cNvSpPr/>
          <p:nvPr/>
        </p:nvSpPr>
        <p:spPr>
          <a:xfrm>
            <a:off x="210312" y="91440"/>
            <a:ext cx="640080"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R05</a:t>
            </a:r>
            <a:endParaRPr lang="en-US" sz="1200" dirty="0"/>
          </a:p>
        </p:txBody>
      </p:sp>
      <p:sp>
        <p:nvSpPr>
          <p:cNvPr id="5" name="Text 3"/>
          <p:cNvSpPr/>
          <p:nvPr/>
        </p:nvSpPr>
        <p:spPr>
          <a:xfrm>
            <a:off x="932688" y="91440"/>
            <a:ext cx="6583680" cy="310896"/>
          </a:xfrm>
          <a:prstGeom prst="rect">
            <a:avLst/>
          </a:prstGeom>
          <a:noFill/>
          <a:ln/>
        </p:spPr>
        <p:txBody>
          <a:bodyPr wrap="square" rtlCol="0" anchor="ctr"/>
          <a:lstStyle/>
          <a:p>
            <a:pPr marL="0" indent="0">
              <a:buNone/>
            </a:pPr>
            <a:r>
              <a:rPr lang="en-US" sz="1350" b="1" dirty="0">
                <a:solidFill>
                  <a:srgbClr val="1E293B"/>
                </a:solidFill>
                <a:latin typeface="Calibri" pitchFamily="34" charset="0"/>
                <a:ea typeface="Calibri" pitchFamily="34" charset="-122"/>
                <a:cs typeface="Calibri" pitchFamily="34" charset="-120"/>
              </a:rPr>
              <a:t>CASE WHEN + agrégation — Tableau de bord des alertes</a:t>
            </a:r>
            <a:endParaRPr lang="en-US" sz="1350" dirty="0"/>
          </a:p>
        </p:txBody>
      </p:sp>
      <p:sp>
        <p:nvSpPr>
          <p:cNvPr id="6" name="Text 4"/>
          <p:cNvSpPr/>
          <p:nvPr/>
        </p:nvSpPr>
        <p:spPr>
          <a:xfrm>
            <a:off x="210312" y="429768"/>
            <a:ext cx="8732520" cy="246888"/>
          </a:xfrm>
          <a:prstGeom prst="rect">
            <a:avLst/>
          </a:prstGeom>
          <a:noFill/>
          <a:ln/>
        </p:spPr>
        <p:txBody>
          <a:bodyPr wrap="square" rtlCol="0" anchor="ctr"/>
          <a:lstStyle/>
          <a:p>
            <a:pPr marL="0" indent="0">
              <a:buNone/>
            </a:pPr>
            <a:r>
              <a:rPr lang="en-US" sz="1000" i="1" dirty="0">
                <a:solidFill>
                  <a:srgbClr val="475569"/>
                </a:solidFill>
                <a:latin typeface="Calibri" pitchFamily="34" charset="0"/>
                <a:ea typeface="Calibri" pitchFamily="34" charset="-122"/>
                <a:cs typeface="Calibri" pitchFamily="34" charset="-120"/>
              </a:rPr>
              <a:t>Récapitulatif des alertes par niveau de gravité avec taux de résolution</a:t>
            </a:r>
            <a:endParaRPr lang="en-US" sz="1000" dirty="0"/>
          </a:p>
        </p:txBody>
      </p:sp>
      <p:sp>
        <p:nvSpPr>
          <p:cNvPr id="7" name="Shape 5"/>
          <p:cNvSpPr/>
          <p:nvPr/>
        </p:nvSpPr>
        <p:spPr>
          <a:xfrm>
            <a:off x="210312" y="704088"/>
            <a:ext cx="8732520" cy="2011680"/>
          </a:xfrm>
          <a:prstGeom prst="rect">
            <a:avLst/>
          </a:prstGeom>
          <a:solidFill>
            <a:srgbClr val="0F1E2E"/>
          </a:solidFill>
          <a:ln w="6350">
            <a:solidFill>
              <a:srgbClr val="1E3A5F"/>
            </a:solidFill>
            <a:prstDash val="solid"/>
          </a:ln>
        </p:spPr>
      </p:sp>
      <p:sp>
        <p:nvSpPr>
          <p:cNvPr id="8" name="Text 6"/>
          <p:cNvSpPr/>
          <p:nvPr/>
        </p:nvSpPr>
        <p:spPr>
          <a:xfrm>
            <a:off x="292608" y="731520"/>
            <a:ext cx="8549640" cy="1920240"/>
          </a:xfrm>
          <a:prstGeom prst="rect">
            <a:avLst/>
          </a:prstGeom>
          <a:noFill/>
          <a:ln/>
        </p:spPr>
        <p:txBody>
          <a:bodyPr wrap="square" lIns="38100" tIns="38100" rIns="38100" bIns="38100" rtlCol="0" anchor="t"/>
          <a:lstStyle/>
          <a:p>
            <a:pPr marL="0" indent="0">
              <a:buNone/>
            </a:pPr>
            <a:r>
              <a:rPr lang="en-US" sz="700" dirty="0">
                <a:solidFill>
                  <a:srgbClr val="CBD5E1"/>
                </a:solidFill>
                <a:latin typeface="Consolas" pitchFamily="34" charset="0"/>
                <a:ea typeface="Consolas" pitchFamily="34" charset="-122"/>
                <a:cs typeface="Consolas" pitchFamily="34" charset="-120"/>
              </a:rPr>
              <a:t>SELECT niveau_gravite, COUNT(*) AS total,</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    SUM(CASE WHEN statut_traitement='EN_COURS' THEN 1 ELSE 0 END) AS en_cours,</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    SUM(CASE WHEN statut_traitement='RESOLUE'  THEN 1 ELSE 0 END) AS resolues,</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    SUM(CASE WHEN statut_traitement='IGNOREE'  THEN 1 ELSE 0 END) AS ignorees,</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    ROUND(SUM(CASE WHEN statut_traitement='RESOLUE' THEN 1 ELSE 0 END)</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          *100.0/COUNT(*),1) AS taux_resolution_pct</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FROM Alerte GROUP BY niveau_gravite</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ORDER BY CASE niveau_gravite WHEN 'CRITIQUE' THEN 1</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    WHEN 'HAUTE' THEN 2 WHEN 'MOYENNE' THEN 3 ELSE 4 END;</a:t>
            </a:r>
            <a:endParaRPr lang="en-US" sz="700" dirty="0"/>
          </a:p>
        </p:txBody>
      </p:sp>
      <p:sp>
        <p:nvSpPr>
          <p:cNvPr id="9" name="Text 7"/>
          <p:cNvSpPr/>
          <p:nvPr/>
        </p:nvSpPr>
        <p:spPr>
          <a:xfrm>
            <a:off x="210312" y="2779776"/>
            <a:ext cx="3657600" cy="201168"/>
          </a:xfrm>
          <a:prstGeom prst="rect">
            <a:avLst/>
          </a:prstGeom>
          <a:noFill/>
          <a:ln/>
        </p:spPr>
        <p:txBody>
          <a:bodyPr wrap="square" rtlCol="0" anchor="ctr"/>
          <a:lstStyle/>
          <a:p>
            <a:pPr marL="0" indent="0">
              <a:buNone/>
            </a:pPr>
            <a:r>
              <a:rPr lang="en-US" sz="850" b="1" dirty="0">
                <a:solidFill>
                  <a:srgbClr val="0891B2"/>
                </a:solidFill>
                <a:latin typeface="Calibri" pitchFamily="34" charset="0"/>
                <a:ea typeface="Calibri" pitchFamily="34" charset="-122"/>
                <a:cs typeface="Calibri" pitchFamily="34" charset="-120"/>
              </a:rPr>
              <a:t>▶  </a:t>
            </a:r>
            <a:r>
              <a:rPr lang="en-US" sz="850" b="1" dirty="0" err="1" smtClean="0">
                <a:solidFill>
                  <a:srgbClr val="0891B2"/>
                </a:solidFill>
                <a:latin typeface="Calibri" pitchFamily="34" charset="0"/>
                <a:ea typeface="Calibri" pitchFamily="34" charset="-122"/>
                <a:cs typeface="Calibri" pitchFamily="34" charset="-120"/>
              </a:rPr>
              <a:t>Résultats</a:t>
            </a:r>
            <a:r>
              <a:rPr lang="en-US" sz="850" b="1" dirty="0" smtClean="0">
                <a:solidFill>
                  <a:srgbClr val="0891B2"/>
                </a:solidFill>
                <a:latin typeface="Calibri" pitchFamily="34" charset="0"/>
                <a:ea typeface="Calibri" pitchFamily="34" charset="-122"/>
                <a:cs typeface="Calibri" pitchFamily="34" charset="-120"/>
              </a:rPr>
              <a:t> </a:t>
            </a:r>
            <a:r>
              <a:rPr lang="en-US" sz="850" b="1" dirty="0">
                <a:solidFill>
                  <a:srgbClr val="0891B2"/>
                </a:solidFill>
                <a:latin typeface="Calibri" pitchFamily="34" charset="0"/>
                <a:ea typeface="Calibri" pitchFamily="34" charset="-122"/>
                <a:cs typeface="Calibri" pitchFamily="34" charset="-120"/>
              </a:rPr>
              <a:t>:</a:t>
            </a:r>
            <a:endParaRPr lang="en-US" sz="85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210312" y="2999232"/>
          <a:ext cx="8732520" cy="1234440"/>
        </p:xfrm>
        <a:graphic>
          <a:graphicData uri="http://schemas.openxmlformats.org/drawingml/2006/table">
            <a:tbl>
              <a:tblPr/>
              <a:tblGrid>
                <a:gridCol w="1455420"/>
                <a:gridCol w="1455420"/>
                <a:gridCol w="1455420"/>
                <a:gridCol w="1455420"/>
                <a:gridCol w="1455420"/>
                <a:gridCol w="1455420"/>
              </a:tblGrid>
              <a:tr h="246888">
                <a:tc>
                  <a:txBody>
                    <a:bodyPr/>
                    <a:lstStyle/>
                    <a:p>
                      <a:pPr marL="0" indent="0" algn="ctr">
                        <a:buNone/>
                      </a:pPr>
                      <a:r>
                        <a:rPr lang="en-US" sz="800" b="1" dirty="0">
                          <a:solidFill>
                            <a:srgbClr val="FFFFFF"/>
                          </a:solidFill>
                          <a:latin typeface="Calibri" pitchFamily="34" charset="0"/>
                          <a:ea typeface="Calibri" pitchFamily="34" charset="-122"/>
                          <a:cs typeface="Calibri" pitchFamily="34" charset="-120"/>
                        </a:rPr>
                        <a:t>NIVEAU_GRAVITE</a:t>
                      </a:r>
                      <a:endParaRPr lang="en-US" sz="8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B1628"/>
                    </a:solidFill>
                  </a:tcPr>
                </a:tc>
                <a:tc>
                  <a:txBody>
                    <a:bodyPr/>
                    <a:lstStyle/>
                    <a:p>
                      <a:pPr marL="0" indent="0" algn="ctr">
                        <a:buNone/>
                      </a:pPr>
                      <a:r>
                        <a:rPr lang="en-US" sz="800" b="1" dirty="0">
                          <a:solidFill>
                            <a:srgbClr val="FFFFFF"/>
                          </a:solidFill>
                          <a:latin typeface="Calibri" pitchFamily="34" charset="0"/>
                          <a:ea typeface="Calibri" pitchFamily="34" charset="-122"/>
                          <a:cs typeface="Calibri" pitchFamily="34" charset="-120"/>
                        </a:rPr>
                        <a:t>TOTAL</a:t>
                      </a:r>
                      <a:endParaRPr lang="en-US" sz="8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B1628"/>
                    </a:solidFill>
                  </a:tcPr>
                </a:tc>
                <a:tc>
                  <a:txBody>
                    <a:bodyPr/>
                    <a:lstStyle/>
                    <a:p>
                      <a:pPr marL="0" indent="0" algn="ctr">
                        <a:buNone/>
                      </a:pPr>
                      <a:r>
                        <a:rPr lang="en-US" sz="800" b="1" dirty="0">
                          <a:solidFill>
                            <a:srgbClr val="FFFFFF"/>
                          </a:solidFill>
                          <a:latin typeface="Calibri" pitchFamily="34" charset="0"/>
                          <a:ea typeface="Calibri" pitchFamily="34" charset="-122"/>
                          <a:cs typeface="Calibri" pitchFamily="34" charset="-120"/>
                        </a:rPr>
                        <a:t>EN_COURS</a:t>
                      </a:r>
                      <a:endParaRPr lang="en-US" sz="8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B1628"/>
                    </a:solidFill>
                  </a:tcPr>
                </a:tc>
                <a:tc>
                  <a:txBody>
                    <a:bodyPr/>
                    <a:lstStyle/>
                    <a:p>
                      <a:pPr marL="0" indent="0" algn="ctr">
                        <a:buNone/>
                      </a:pPr>
                      <a:r>
                        <a:rPr lang="en-US" sz="800" b="1" dirty="0">
                          <a:solidFill>
                            <a:srgbClr val="FFFFFF"/>
                          </a:solidFill>
                          <a:latin typeface="Calibri" pitchFamily="34" charset="0"/>
                          <a:ea typeface="Calibri" pitchFamily="34" charset="-122"/>
                          <a:cs typeface="Calibri" pitchFamily="34" charset="-120"/>
                        </a:rPr>
                        <a:t>RESOLUES</a:t>
                      </a:r>
                      <a:endParaRPr lang="en-US" sz="8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B1628"/>
                    </a:solidFill>
                  </a:tcPr>
                </a:tc>
                <a:tc>
                  <a:txBody>
                    <a:bodyPr/>
                    <a:lstStyle/>
                    <a:p>
                      <a:pPr marL="0" indent="0" algn="ctr">
                        <a:buNone/>
                      </a:pPr>
                      <a:r>
                        <a:rPr lang="en-US" sz="800" b="1" dirty="0">
                          <a:solidFill>
                            <a:srgbClr val="FFFFFF"/>
                          </a:solidFill>
                          <a:latin typeface="Calibri" pitchFamily="34" charset="0"/>
                          <a:ea typeface="Calibri" pitchFamily="34" charset="-122"/>
                          <a:cs typeface="Calibri" pitchFamily="34" charset="-120"/>
                        </a:rPr>
                        <a:t>IGNOREES</a:t>
                      </a:r>
                      <a:endParaRPr lang="en-US" sz="8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B1628"/>
                    </a:solidFill>
                  </a:tcPr>
                </a:tc>
                <a:tc>
                  <a:txBody>
                    <a:bodyPr/>
                    <a:lstStyle/>
                    <a:p>
                      <a:pPr marL="0" indent="0" algn="ctr">
                        <a:buNone/>
                      </a:pPr>
                      <a:r>
                        <a:rPr lang="en-US" sz="800" b="1" dirty="0">
                          <a:solidFill>
                            <a:srgbClr val="FFFFFF"/>
                          </a:solidFill>
                          <a:latin typeface="Calibri" pitchFamily="34" charset="0"/>
                          <a:ea typeface="Calibri" pitchFamily="34" charset="-122"/>
                          <a:cs typeface="Calibri" pitchFamily="34" charset="-120"/>
                        </a:rPr>
                        <a:t>TAUX_RESOLUTION_PCT</a:t>
                      </a:r>
                      <a:endParaRPr lang="en-US" sz="8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B1628"/>
                    </a:solidFill>
                  </a:tcPr>
                </a:tc>
              </a:tr>
              <a:tr h="246888">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CRITIQUE</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12</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5</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6</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1</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50</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246888">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HAUTE</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28</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10</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15</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3</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53.6</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r>
              <a:tr h="246888">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MOYENNE</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41</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8</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29</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4</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70.7</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246888">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BASSE</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19</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2</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16</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1</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84.2</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r>
            </a:tbl>
          </a:graphicData>
        </a:graphic>
      </p:graphicFrame>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3">
    <p:bg>
      <p:bgPr>
        <a:solidFill>
          <a:srgbClr val="F0F6FF"/>
        </a:solidFill>
        <a:effectLst/>
      </p:bgPr>
    </p:bg>
    <p:spTree>
      <p:nvGrpSpPr>
        <p:cNvPr id="1" name=""/>
        <p:cNvGrpSpPr/>
        <p:nvPr/>
      </p:nvGrpSpPr>
      <p:grpSpPr>
        <a:xfrm>
          <a:off x="0" y="0"/>
          <a:ext cx="0" cy="0"/>
          <a:chOff x="0" y="0"/>
          <a:chExt cx="0" cy="0"/>
        </a:xfrm>
      </p:grpSpPr>
      <p:sp>
        <p:nvSpPr>
          <p:cNvPr id="2" name="Shape 0"/>
          <p:cNvSpPr/>
          <p:nvPr/>
        </p:nvSpPr>
        <p:spPr>
          <a:xfrm>
            <a:off x="0" y="0"/>
            <a:ext cx="118872" cy="5143500"/>
          </a:xfrm>
          <a:prstGeom prst="rect">
            <a:avLst/>
          </a:prstGeom>
          <a:solidFill>
            <a:srgbClr val="0891B2"/>
          </a:solidFill>
          <a:ln w="12700">
            <a:solidFill>
              <a:srgbClr val="0891B2"/>
            </a:solidFill>
            <a:prstDash val="solid"/>
          </a:ln>
        </p:spPr>
      </p:sp>
      <p:sp>
        <p:nvSpPr>
          <p:cNvPr id="3" name="Shape 1"/>
          <p:cNvSpPr/>
          <p:nvPr/>
        </p:nvSpPr>
        <p:spPr>
          <a:xfrm>
            <a:off x="210312" y="91440"/>
            <a:ext cx="640080" cy="310896"/>
          </a:xfrm>
          <a:prstGeom prst="rect">
            <a:avLst/>
          </a:prstGeom>
          <a:solidFill>
            <a:srgbClr val="0891B2"/>
          </a:solidFill>
          <a:ln w="12700">
            <a:solidFill>
              <a:srgbClr val="0891B2"/>
            </a:solidFill>
            <a:prstDash val="solid"/>
          </a:ln>
        </p:spPr>
      </p:sp>
      <p:sp>
        <p:nvSpPr>
          <p:cNvPr id="4" name="Text 2"/>
          <p:cNvSpPr/>
          <p:nvPr/>
        </p:nvSpPr>
        <p:spPr>
          <a:xfrm>
            <a:off x="210312" y="91440"/>
            <a:ext cx="640080"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R06</a:t>
            </a:r>
            <a:endParaRPr lang="en-US" sz="1200" dirty="0"/>
          </a:p>
        </p:txBody>
      </p:sp>
      <p:sp>
        <p:nvSpPr>
          <p:cNvPr id="5" name="Text 3"/>
          <p:cNvSpPr/>
          <p:nvPr/>
        </p:nvSpPr>
        <p:spPr>
          <a:xfrm>
            <a:off x="932688" y="91440"/>
            <a:ext cx="6583680" cy="310896"/>
          </a:xfrm>
          <a:prstGeom prst="rect">
            <a:avLst/>
          </a:prstGeom>
          <a:noFill/>
          <a:ln/>
        </p:spPr>
        <p:txBody>
          <a:bodyPr wrap="square" rtlCol="0" anchor="ctr"/>
          <a:lstStyle/>
          <a:p>
            <a:pPr marL="0" indent="0">
              <a:buNone/>
            </a:pPr>
            <a:r>
              <a:rPr lang="en-US" sz="1350" b="1" dirty="0">
                <a:solidFill>
                  <a:srgbClr val="1E293B"/>
                </a:solidFill>
                <a:latin typeface="Calibri" pitchFamily="34" charset="0"/>
                <a:ea typeface="Calibri" pitchFamily="34" charset="-122"/>
                <a:cs typeface="Calibri" pitchFamily="34" charset="-120"/>
              </a:rPr>
              <a:t>FETCH FIRST — Top 10 des transactions</a:t>
            </a:r>
            <a:endParaRPr lang="en-US" sz="1350" dirty="0"/>
          </a:p>
        </p:txBody>
      </p:sp>
      <p:sp>
        <p:nvSpPr>
          <p:cNvPr id="6" name="Text 4"/>
          <p:cNvSpPr/>
          <p:nvPr/>
        </p:nvSpPr>
        <p:spPr>
          <a:xfrm>
            <a:off x="210312" y="429768"/>
            <a:ext cx="8732520" cy="246888"/>
          </a:xfrm>
          <a:prstGeom prst="rect">
            <a:avLst/>
          </a:prstGeom>
          <a:noFill/>
          <a:ln/>
        </p:spPr>
        <p:txBody>
          <a:bodyPr wrap="square" rtlCol="0" anchor="ctr"/>
          <a:lstStyle/>
          <a:p>
            <a:pPr marL="0" indent="0">
              <a:buNone/>
            </a:pPr>
            <a:r>
              <a:rPr lang="en-US" sz="1000" i="1" dirty="0">
                <a:solidFill>
                  <a:srgbClr val="475569"/>
                </a:solidFill>
                <a:latin typeface="Calibri" pitchFamily="34" charset="0"/>
                <a:ea typeface="Calibri" pitchFamily="34" charset="-122"/>
                <a:cs typeface="Calibri" pitchFamily="34" charset="-120"/>
              </a:rPr>
              <a:t>Afficher les 10 transactions de plus grand montant avec le titulaire et le commerçant</a:t>
            </a:r>
            <a:endParaRPr lang="en-US" sz="1000" dirty="0"/>
          </a:p>
        </p:txBody>
      </p:sp>
      <p:sp>
        <p:nvSpPr>
          <p:cNvPr id="7" name="Shape 5"/>
          <p:cNvSpPr/>
          <p:nvPr/>
        </p:nvSpPr>
        <p:spPr>
          <a:xfrm>
            <a:off x="210312" y="704088"/>
            <a:ext cx="8732520" cy="2011680"/>
          </a:xfrm>
          <a:prstGeom prst="rect">
            <a:avLst/>
          </a:prstGeom>
          <a:solidFill>
            <a:srgbClr val="0F1E2E"/>
          </a:solidFill>
          <a:ln w="6350">
            <a:solidFill>
              <a:srgbClr val="1E3A5F"/>
            </a:solidFill>
            <a:prstDash val="solid"/>
          </a:ln>
        </p:spPr>
      </p:sp>
      <p:sp>
        <p:nvSpPr>
          <p:cNvPr id="8" name="Text 6"/>
          <p:cNvSpPr/>
          <p:nvPr/>
        </p:nvSpPr>
        <p:spPr>
          <a:xfrm>
            <a:off x="292608" y="731520"/>
            <a:ext cx="8549640" cy="1920240"/>
          </a:xfrm>
          <a:prstGeom prst="rect">
            <a:avLst/>
          </a:prstGeom>
          <a:noFill/>
          <a:ln/>
        </p:spPr>
        <p:txBody>
          <a:bodyPr wrap="square" lIns="38100" tIns="38100" rIns="38100" bIns="38100" rtlCol="0" anchor="t"/>
          <a:lstStyle/>
          <a:p>
            <a:pPr marL="0" indent="0">
              <a:buNone/>
            </a:pPr>
            <a:r>
              <a:rPr lang="en-US" sz="700" dirty="0">
                <a:solidFill>
                  <a:srgbClr val="CBD5E1"/>
                </a:solidFill>
                <a:latin typeface="Consolas" pitchFamily="34" charset="0"/>
                <a:ea typeface="Consolas" pitchFamily="34" charset="-122"/>
                <a:cs typeface="Consolas" pitchFamily="34" charset="-120"/>
              </a:rPr>
              <a:t>SELECT T.id_transaction, U.nom || ' ' || U.prenom AS titulaire,</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    CO.nom_commercant, T.montant, T.pays,</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    TO_CHAR(T.date_heure,'DD/MM/YYYY HH24:MI') AS date_heure</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FROM Transaction T</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JOIN Compte C         ON C.id_compte      = T.id_compte</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JOIN Est_Titulaire ET ON ET.id_compte     = C.id_compte</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JOIN Utilisateur U    ON U.id_utilisateur = ET.id_utilisateur</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JOIN Commercant CO    ON CO.id_commercant = T.id_commercant</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ORDER BY T.montant DESC FETCH FIRST 10 ROWS ONLY;</a:t>
            </a:r>
            <a:endParaRPr lang="en-US" sz="700" dirty="0"/>
          </a:p>
        </p:txBody>
      </p:sp>
      <p:sp>
        <p:nvSpPr>
          <p:cNvPr id="9" name="Text 7"/>
          <p:cNvSpPr/>
          <p:nvPr/>
        </p:nvSpPr>
        <p:spPr>
          <a:xfrm>
            <a:off x="210312" y="2779776"/>
            <a:ext cx="3657600" cy="201168"/>
          </a:xfrm>
          <a:prstGeom prst="rect">
            <a:avLst/>
          </a:prstGeom>
          <a:noFill/>
          <a:ln/>
        </p:spPr>
        <p:txBody>
          <a:bodyPr wrap="square" rtlCol="0" anchor="ctr"/>
          <a:lstStyle/>
          <a:p>
            <a:pPr marL="0" indent="0">
              <a:buNone/>
            </a:pPr>
            <a:r>
              <a:rPr lang="en-US" sz="850" b="1" dirty="0">
                <a:solidFill>
                  <a:srgbClr val="0891B2"/>
                </a:solidFill>
                <a:latin typeface="Calibri" pitchFamily="34" charset="0"/>
                <a:ea typeface="Calibri" pitchFamily="34" charset="-122"/>
                <a:cs typeface="Calibri" pitchFamily="34" charset="-120"/>
              </a:rPr>
              <a:t>▶  </a:t>
            </a:r>
            <a:r>
              <a:rPr lang="en-US" sz="850" b="1" dirty="0" err="1" smtClean="0">
                <a:solidFill>
                  <a:srgbClr val="0891B2"/>
                </a:solidFill>
                <a:latin typeface="Calibri" pitchFamily="34" charset="0"/>
                <a:ea typeface="Calibri" pitchFamily="34" charset="-122"/>
                <a:cs typeface="Calibri" pitchFamily="34" charset="-120"/>
              </a:rPr>
              <a:t>Résultats</a:t>
            </a:r>
            <a:r>
              <a:rPr lang="en-US" sz="850" b="1" dirty="0" smtClean="0">
                <a:solidFill>
                  <a:srgbClr val="0891B2"/>
                </a:solidFill>
                <a:latin typeface="Calibri" pitchFamily="34" charset="0"/>
                <a:ea typeface="Calibri" pitchFamily="34" charset="-122"/>
                <a:cs typeface="Calibri" pitchFamily="34" charset="-120"/>
              </a:rPr>
              <a:t> </a:t>
            </a:r>
            <a:r>
              <a:rPr lang="en-US" sz="850" b="1" dirty="0">
                <a:solidFill>
                  <a:srgbClr val="0891B2"/>
                </a:solidFill>
                <a:latin typeface="Calibri" pitchFamily="34" charset="0"/>
                <a:ea typeface="Calibri" pitchFamily="34" charset="-122"/>
                <a:cs typeface="Calibri" pitchFamily="34" charset="-120"/>
              </a:rPr>
              <a:t>:</a:t>
            </a:r>
            <a:endParaRPr lang="en-US" sz="85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210312" y="2999232"/>
          <a:ext cx="8732520" cy="1481328"/>
        </p:xfrm>
        <a:graphic>
          <a:graphicData uri="http://schemas.openxmlformats.org/drawingml/2006/table">
            <a:tbl>
              <a:tblPr/>
              <a:tblGrid>
                <a:gridCol w="1455420"/>
                <a:gridCol w="1455420"/>
                <a:gridCol w="1455420"/>
                <a:gridCol w="1455420"/>
                <a:gridCol w="1455420"/>
                <a:gridCol w="1455420"/>
              </a:tblGrid>
              <a:tr h="246888">
                <a:tc>
                  <a:txBody>
                    <a:bodyPr/>
                    <a:lstStyle/>
                    <a:p>
                      <a:pPr marL="0" indent="0" algn="ctr">
                        <a:buNone/>
                      </a:pPr>
                      <a:r>
                        <a:rPr lang="en-US" sz="800" b="1" dirty="0">
                          <a:solidFill>
                            <a:srgbClr val="FFFFFF"/>
                          </a:solidFill>
                          <a:latin typeface="Calibri" pitchFamily="34" charset="0"/>
                          <a:ea typeface="Calibri" pitchFamily="34" charset="-122"/>
                          <a:cs typeface="Calibri" pitchFamily="34" charset="-120"/>
                        </a:rPr>
                        <a:t>ID_TRANS</a:t>
                      </a:r>
                      <a:endParaRPr lang="en-US" sz="8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B1628"/>
                    </a:solidFill>
                  </a:tcPr>
                </a:tc>
                <a:tc>
                  <a:txBody>
                    <a:bodyPr/>
                    <a:lstStyle/>
                    <a:p>
                      <a:pPr marL="0" indent="0" algn="ctr">
                        <a:buNone/>
                      </a:pPr>
                      <a:r>
                        <a:rPr lang="en-US" sz="800" b="1" dirty="0">
                          <a:solidFill>
                            <a:srgbClr val="FFFFFF"/>
                          </a:solidFill>
                          <a:latin typeface="Calibri" pitchFamily="34" charset="0"/>
                          <a:ea typeface="Calibri" pitchFamily="34" charset="-122"/>
                          <a:cs typeface="Calibri" pitchFamily="34" charset="-120"/>
                        </a:rPr>
                        <a:t>TITULAIRE</a:t>
                      </a:r>
                      <a:endParaRPr lang="en-US" sz="8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B1628"/>
                    </a:solidFill>
                  </a:tcPr>
                </a:tc>
                <a:tc>
                  <a:txBody>
                    <a:bodyPr/>
                    <a:lstStyle/>
                    <a:p>
                      <a:pPr marL="0" indent="0" algn="ctr">
                        <a:buNone/>
                      </a:pPr>
                      <a:r>
                        <a:rPr lang="en-US" sz="800" b="1" dirty="0">
                          <a:solidFill>
                            <a:srgbClr val="FFFFFF"/>
                          </a:solidFill>
                          <a:latin typeface="Calibri" pitchFamily="34" charset="0"/>
                          <a:ea typeface="Calibri" pitchFamily="34" charset="-122"/>
                          <a:cs typeface="Calibri" pitchFamily="34" charset="-120"/>
                        </a:rPr>
                        <a:t>NOM_COMMERCANT</a:t>
                      </a:r>
                      <a:endParaRPr lang="en-US" sz="8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B1628"/>
                    </a:solidFill>
                  </a:tcPr>
                </a:tc>
                <a:tc>
                  <a:txBody>
                    <a:bodyPr/>
                    <a:lstStyle/>
                    <a:p>
                      <a:pPr marL="0" indent="0" algn="ctr">
                        <a:buNone/>
                      </a:pPr>
                      <a:r>
                        <a:rPr lang="en-US" sz="800" b="1" dirty="0">
                          <a:solidFill>
                            <a:srgbClr val="FFFFFF"/>
                          </a:solidFill>
                          <a:latin typeface="Calibri" pitchFamily="34" charset="0"/>
                          <a:ea typeface="Calibri" pitchFamily="34" charset="-122"/>
                          <a:cs typeface="Calibri" pitchFamily="34" charset="-120"/>
                        </a:rPr>
                        <a:t>MONTANT</a:t>
                      </a:r>
                      <a:endParaRPr lang="en-US" sz="8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B1628"/>
                    </a:solidFill>
                  </a:tcPr>
                </a:tc>
                <a:tc>
                  <a:txBody>
                    <a:bodyPr/>
                    <a:lstStyle/>
                    <a:p>
                      <a:pPr marL="0" indent="0" algn="ctr">
                        <a:buNone/>
                      </a:pPr>
                      <a:r>
                        <a:rPr lang="en-US" sz="800" b="1" dirty="0">
                          <a:solidFill>
                            <a:srgbClr val="FFFFFF"/>
                          </a:solidFill>
                          <a:latin typeface="Calibri" pitchFamily="34" charset="0"/>
                          <a:ea typeface="Calibri" pitchFamily="34" charset="-122"/>
                          <a:cs typeface="Calibri" pitchFamily="34" charset="-120"/>
                        </a:rPr>
                        <a:t>PAYS</a:t>
                      </a:r>
                      <a:endParaRPr lang="en-US" sz="8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B1628"/>
                    </a:solidFill>
                  </a:tcPr>
                </a:tc>
                <a:tc>
                  <a:txBody>
                    <a:bodyPr/>
                    <a:lstStyle/>
                    <a:p>
                      <a:pPr marL="0" indent="0" algn="ctr">
                        <a:buNone/>
                      </a:pPr>
                      <a:r>
                        <a:rPr lang="en-US" sz="800" b="1" dirty="0">
                          <a:solidFill>
                            <a:srgbClr val="FFFFFF"/>
                          </a:solidFill>
                          <a:latin typeface="Calibri" pitchFamily="34" charset="0"/>
                          <a:ea typeface="Calibri" pitchFamily="34" charset="-122"/>
                          <a:cs typeface="Calibri" pitchFamily="34" charset="-120"/>
                        </a:rPr>
                        <a:t>DATE_HEURE</a:t>
                      </a:r>
                      <a:endParaRPr lang="en-US" sz="8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B1628"/>
                    </a:solidFill>
                  </a:tcPr>
                </a:tc>
              </a:tr>
              <a:tr h="246888">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5001</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Anas SAOUDI</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Amazon France</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3200</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FR</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15/04/2026 11:20</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246888">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5002</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Leila TRABELSI</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Binance</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2850</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MT</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16/04/2026 02:13</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r>
              <a:tr h="246888">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5003</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Mohamed BATTI</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Apple Store</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1999</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TN</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12/04/2026 14:05</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246888">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5004</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Karim MANSOURI</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Emirates Airlines</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1750</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AE</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10/04/2026 09:30</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r>
              <a:tr h="246888">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5005</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Sarah BEN ALI</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Booking.com</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1500</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NL</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08/04/2026 17:44</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bl>
          </a:graphicData>
        </a:graphic>
      </p:graphicFrame>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4">
    <p:bg>
      <p:bgPr>
        <a:solidFill>
          <a:srgbClr val="F0F6FF"/>
        </a:solidFill>
        <a:effectLst/>
      </p:bgPr>
    </p:bg>
    <p:spTree>
      <p:nvGrpSpPr>
        <p:cNvPr id="1" name=""/>
        <p:cNvGrpSpPr/>
        <p:nvPr/>
      </p:nvGrpSpPr>
      <p:grpSpPr>
        <a:xfrm>
          <a:off x="0" y="0"/>
          <a:ext cx="0" cy="0"/>
          <a:chOff x="0" y="0"/>
          <a:chExt cx="0" cy="0"/>
        </a:xfrm>
      </p:grpSpPr>
      <p:sp>
        <p:nvSpPr>
          <p:cNvPr id="2" name="Shape 0"/>
          <p:cNvSpPr/>
          <p:nvPr/>
        </p:nvSpPr>
        <p:spPr>
          <a:xfrm>
            <a:off x="0" y="0"/>
            <a:ext cx="118872" cy="5143500"/>
          </a:xfrm>
          <a:prstGeom prst="rect">
            <a:avLst/>
          </a:prstGeom>
          <a:solidFill>
            <a:srgbClr val="0891B2"/>
          </a:solidFill>
          <a:ln w="12700">
            <a:solidFill>
              <a:srgbClr val="0891B2"/>
            </a:solidFill>
            <a:prstDash val="solid"/>
          </a:ln>
        </p:spPr>
      </p:sp>
      <p:sp>
        <p:nvSpPr>
          <p:cNvPr id="3" name="Shape 1"/>
          <p:cNvSpPr/>
          <p:nvPr/>
        </p:nvSpPr>
        <p:spPr>
          <a:xfrm>
            <a:off x="210312" y="91440"/>
            <a:ext cx="640080" cy="310896"/>
          </a:xfrm>
          <a:prstGeom prst="rect">
            <a:avLst/>
          </a:prstGeom>
          <a:solidFill>
            <a:srgbClr val="0891B2"/>
          </a:solidFill>
          <a:ln w="12700">
            <a:solidFill>
              <a:srgbClr val="0891B2"/>
            </a:solidFill>
            <a:prstDash val="solid"/>
          </a:ln>
        </p:spPr>
      </p:sp>
      <p:sp>
        <p:nvSpPr>
          <p:cNvPr id="4" name="Text 2"/>
          <p:cNvSpPr/>
          <p:nvPr/>
        </p:nvSpPr>
        <p:spPr>
          <a:xfrm>
            <a:off x="210312" y="91440"/>
            <a:ext cx="640080"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R07</a:t>
            </a:r>
            <a:endParaRPr lang="en-US" sz="1200" dirty="0"/>
          </a:p>
        </p:txBody>
      </p:sp>
      <p:sp>
        <p:nvSpPr>
          <p:cNvPr id="5" name="Text 3"/>
          <p:cNvSpPr/>
          <p:nvPr/>
        </p:nvSpPr>
        <p:spPr>
          <a:xfrm>
            <a:off x="932688" y="91440"/>
            <a:ext cx="6583680" cy="310896"/>
          </a:xfrm>
          <a:prstGeom prst="rect">
            <a:avLst/>
          </a:prstGeom>
          <a:noFill/>
          <a:ln/>
        </p:spPr>
        <p:txBody>
          <a:bodyPr wrap="square" rtlCol="0" anchor="ctr"/>
          <a:lstStyle/>
          <a:p>
            <a:pPr marL="0" indent="0">
              <a:buNone/>
            </a:pPr>
            <a:r>
              <a:rPr lang="en-US" sz="1350" b="1" dirty="0">
                <a:solidFill>
                  <a:srgbClr val="1E293B"/>
                </a:solidFill>
                <a:latin typeface="Calibri" pitchFamily="34" charset="0"/>
                <a:ea typeface="Calibri" pitchFamily="34" charset="-122"/>
                <a:cs typeface="Calibri" pitchFamily="34" charset="-120"/>
              </a:rPr>
              <a:t>LIKE — Recherche d'utilisateur par nom</a:t>
            </a:r>
            <a:endParaRPr lang="en-US" sz="1350" dirty="0"/>
          </a:p>
        </p:txBody>
      </p:sp>
      <p:sp>
        <p:nvSpPr>
          <p:cNvPr id="6" name="Text 4"/>
          <p:cNvSpPr/>
          <p:nvPr/>
        </p:nvSpPr>
        <p:spPr>
          <a:xfrm>
            <a:off x="210312" y="429768"/>
            <a:ext cx="8732520" cy="246888"/>
          </a:xfrm>
          <a:prstGeom prst="rect">
            <a:avLst/>
          </a:prstGeom>
          <a:noFill/>
          <a:ln/>
        </p:spPr>
        <p:txBody>
          <a:bodyPr wrap="square" rtlCol="0" anchor="ctr"/>
          <a:lstStyle/>
          <a:p>
            <a:pPr marL="0" indent="0">
              <a:buNone/>
            </a:pPr>
            <a:r>
              <a:rPr lang="en-US" sz="1000" i="1" dirty="0">
                <a:solidFill>
                  <a:srgbClr val="475569"/>
                </a:solidFill>
                <a:latin typeface="Calibri" pitchFamily="34" charset="0"/>
                <a:ea typeface="Calibri" pitchFamily="34" charset="-122"/>
                <a:cs typeface="Calibri" pitchFamily="34" charset="-120"/>
              </a:rPr>
              <a:t>Rechercher les utilisateurs dont le nom commence par 'B'</a:t>
            </a:r>
            <a:endParaRPr lang="en-US" sz="1000" dirty="0"/>
          </a:p>
        </p:txBody>
      </p:sp>
      <p:sp>
        <p:nvSpPr>
          <p:cNvPr id="7" name="Shape 5"/>
          <p:cNvSpPr/>
          <p:nvPr/>
        </p:nvSpPr>
        <p:spPr>
          <a:xfrm>
            <a:off x="210312" y="704088"/>
            <a:ext cx="8732520" cy="2011680"/>
          </a:xfrm>
          <a:prstGeom prst="rect">
            <a:avLst/>
          </a:prstGeom>
          <a:solidFill>
            <a:srgbClr val="0F1E2E"/>
          </a:solidFill>
          <a:ln w="6350">
            <a:solidFill>
              <a:srgbClr val="1E3A5F"/>
            </a:solidFill>
            <a:prstDash val="solid"/>
          </a:ln>
        </p:spPr>
      </p:sp>
      <p:sp>
        <p:nvSpPr>
          <p:cNvPr id="8" name="Text 6"/>
          <p:cNvSpPr/>
          <p:nvPr/>
        </p:nvSpPr>
        <p:spPr>
          <a:xfrm>
            <a:off x="292608" y="731520"/>
            <a:ext cx="8549640" cy="1920240"/>
          </a:xfrm>
          <a:prstGeom prst="rect">
            <a:avLst/>
          </a:prstGeom>
          <a:noFill/>
          <a:ln/>
        </p:spPr>
        <p:txBody>
          <a:bodyPr wrap="square" lIns="38100" tIns="38100" rIns="38100" bIns="38100" rtlCol="0" anchor="t"/>
          <a:lstStyle/>
          <a:p>
            <a:pPr marL="0" indent="0">
              <a:buNone/>
            </a:pPr>
            <a:r>
              <a:rPr lang="en-US" sz="700" dirty="0">
                <a:solidFill>
                  <a:srgbClr val="CBD5E1"/>
                </a:solidFill>
                <a:latin typeface="Consolas" pitchFamily="34" charset="0"/>
                <a:ea typeface="Consolas" pitchFamily="34" charset="-122"/>
                <a:cs typeface="Consolas" pitchFamily="34" charset="-120"/>
              </a:rPr>
              <a:t>SELECT id_utilisateur, nom, prenom, email, telephone</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FROM Utilisateur</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WHERE UPPER(nom) LIKE 'B%'</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ORDER BY nom, prenom;</a:t>
            </a:r>
            <a:endParaRPr lang="en-US" sz="700" dirty="0"/>
          </a:p>
        </p:txBody>
      </p:sp>
      <p:sp>
        <p:nvSpPr>
          <p:cNvPr id="9" name="Text 7"/>
          <p:cNvSpPr/>
          <p:nvPr/>
        </p:nvSpPr>
        <p:spPr>
          <a:xfrm>
            <a:off x="210312" y="2779776"/>
            <a:ext cx="3657600" cy="201168"/>
          </a:xfrm>
          <a:prstGeom prst="rect">
            <a:avLst/>
          </a:prstGeom>
          <a:noFill/>
          <a:ln/>
        </p:spPr>
        <p:txBody>
          <a:bodyPr wrap="square" rtlCol="0" anchor="ctr"/>
          <a:lstStyle/>
          <a:p>
            <a:pPr marL="0" indent="0">
              <a:buNone/>
            </a:pPr>
            <a:r>
              <a:rPr lang="en-US" sz="850" b="1" dirty="0">
                <a:solidFill>
                  <a:srgbClr val="0891B2"/>
                </a:solidFill>
                <a:latin typeface="Calibri" pitchFamily="34" charset="0"/>
                <a:ea typeface="Calibri" pitchFamily="34" charset="-122"/>
                <a:cs typeface="Calibri" pitchFamily="34" charset="-120"/>
              </a:rPr>
              <a:t>▶  </a:t>
            </a:r>
            <a:r>
              <a:rPr lang="en-US" sz="850" b="1" dirty="0" err="1" smtClean="0">
                <a:solidFill>
                  <a:srgbClr val="0891B2"/>
                </a:solidFill>
                <a:latin typeface="Calibri" pitchFamily="34" charset="0"/>
                <a:ea typeface="Calibri" pitchFamily="34" charset="-122"/>
                <a:cs typeface="Calibri" pitchFamily="34" charset="-120"/>
              </a:rPr>
              <a:t>Résultats</a:t>
            </a:r>
            <a:r>
              <a:rPr lang="en-US" sz="850" b="1" dirty="0">
                <a:solidFill>
                  <a:srgbClr val="0891B2"/>
                </a:solidFill>
                <a:latin typeface="Calibri" pitchFamily="34" charset="0"/>
                <a:ea typeface="Calibri" pitchFamily="34" charset="-122"/>
                <a:cs typeface="Calibri" pitchFamily="34" charset="-120"/>
              </a:rPr>
              <a:t> </a:t>
            </a:r>
            <a:r>
              <a:rPr lang="en-US" sz="850" b="1" dirty="0" smtClean="0">
                <a:solidFill>
                  <a:srgbClr val="0891B2"/>
                </a:solidFill>
                <a:latin typeface="Calibri" pitchFamily="34" charset="0"/>
                <a:ea typeface="Calibri" pitchFamily="34" charset="-122"/>
                <a:cs typeface="Calibri" pitchFamily="34" charset="-120"/>
              </a:rPr>
              <a:t>:</a:t>
            </a:r>
            <a:endParaRPr lang="en-US" sz="850" dirty="0"/>
          </a:p>
        </p:txBody>
      </p:sp>
      <p:graphicFrame>
        <p:nvGraphicFramePr>
          <p:cNvPr id="15" name="Table 0"/>
          <p:cNvGraphicFramePr>
            <a:graphicFrameLocks noGrp="1"/>
          </p:cNvGraphicFramePr>
          <p:nvPr>
            <p:extLst>
              <p:ext uri="{D42A27DB-BD31-4B8C-83A1-F6EECF244321}">
                <p14:modId xmlns:p14="http://schemas.microsoft.com/office/powerpoint/2010/main" val="1843184521"/>
              </p:ext>
            </p:extLst>
          </p:nvPr>
        </p:nvGraphicFramePr>
        <p:xfrm>
          <a:off x="210312" y="2999232"/>
          <a:ext cx="8732520" cy="1234440"/>
        </p:xfrm>
        <a:graphic>
          <a:graphicData uri="http://schemas.openxmlformats.org/drawingml/2006/table">
            <a:tbl>
              <a:tblPr/>
              <a:tblGrid>
                <a:gridCol w="1746504"/>
                <a:gridCol w="1746504"/>
                <a:gridCol w="1746504"/>
                <a:gridCol w="1746504"/>
                <a:gridCol w="1746504"/>
              </a:tblGrid>
              <a:tr h="246888">
                <a:tc>
                  <a:txBody>
                    <a:bodyPr/>
                    <a:lstStyle/>
                    <a:p>
                      <a:pPr marL="0" indent="0" algn="ctr">
                        <a:buNone/>
                      </a:pPr>
                      <a:r>
                        <a:rPr lang="en-US" sz="800" b="1" dirty="0">
                          <a:solidFill>
                            <a:srgbClr val="FFFFFF"/>
                          </a:solidFill>
                          <a:latin typeface="Calibri" pitchFamily="34" charset="0"/>
                          <a:ea typeface="Calibri" pitchFamily="34" charset="-122"/>
                          <a:cs typeface="Calibri" pitchFamily="34" charset="-120"/>
                        </a:rPr>
                        <a:t>ID_UTILISATEUR</a:t>
                      </a:r>
                      <a:endParaRPr lang="en-US" sz="8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B1628"/>
                    </a:solidFill>
                  </a:tcPr>
                </a:tc>
                <a:tc>
                  <a:txBody>
                    <a:bodyPr/>
                    <a:lstStyle/>
                    <a:p>
                      <a:pPr marL="0" indent="0" algn="ctr">
                        <a:buNone/>
                      </a:pPr>
                      <a:r>
                        <a:rPr lang="en-US" sz="800" b="1" dirty="0">
                          <a:solidFill>
                            <a:srgbClr val="FFFFFF"/>
                          </a:solidFill>
                          <a:latin typeface="Calibri" pitchFamily="34" charset="0"/>
                          <a:ea typeface="Calibri" pitchFamily="34" charset="-122"/>
                          <a:cs typeface="Calibri" pitchFamily="34" charset="-120"/>
                        </a:rPr>
                        <a:t>NOM</a:t>
                      </a:r>
                      <a:endParaRPr lang="en-US" sz="8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B1628"/>
                    </a:solidFill>
                  </a:tcPr>
                </a:tc>
                <a:tc>
                  <a:txBody>
                    <a:bodyPr/>
                    <a:lstStyle/>
                    <a:p>
                      <a:pPr marL="0" indent="0" algn="ctr">
                        <a:buNone/>
                      </a:pPr>
                      <a:r>
                        <a:rPr lang="en-US" sz="800" b="1" dirty="0">
                          <a:solidFill>
                            <a:srgbClr val="FFFFFF"/>
                          </a:solidFill>
                          <a:latin typeface="Calibri" pitchFamily="34" charset="0"/>
                          <a:ea typeface="Calibri" pitchFamily="34" charset="-122"/>
                          <a:cs typeface="Calibri" pitchFamily="34" charset="-120"/>
                        </a:rPr>
                        <a:t>PRENOM</a:t>
                      </a:r>
                      <a:endParaRPr lang="en-US" sz="8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B1628"/>
                    </a:solidFill>
                  </a:tcPr>
                </a:tc>
                <a:tc>
                  <a:txBody>
                    <a:bodyPr/>
                    <a:lstStyle/>
                    <a:p>
                      <a:pPr marL="0" indent="0" algn="ctr">
                        <a:buNone/>
                      </a:pPr>
                      <a:r>
                        <a:rPr lang="en-US" sz="800" b="1" dirty="0">
                          <a:solidFill>
                            <a:srgbClr val="FFFFFF"/>
                          </a:solidFill>
                          <a:latin typeface="Calibri" pitchFamily="34" charset="0"/>
                          <a:ea typeface="Calibri" pitchFamily="34" charset="-122"/>
                          <a:cs typeface="Calibri" pitchFamily="34" charset="-120"/>
                        </a:rPr>
                        <a:t>EMAIL</a:t>
                      </a:r>
                      <a:endParaRPr lang="en-US" sz="8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B1628"/>
                    </a:solidFill>
                  </a:tcPr>
                </a:tc>
                <a:tc>
                  <a:txBody>
                    <a:bodyPr/>
                    <a:lstStyle/>
                    <a:p>
                      <a:pPr marL="0" indent="0" algn="ctr">
                        <a:buNone/>
                      </a:pPr>
                      <a:r>
                        <a:rPr lang="en-US" sz="800" b="1" dirty="0">
                          <a:solidFill>
                            <a:srgbClr val="FFFFFF"/>
                          </a:solidFill>
                          <a:latin typeface="Calibri" pitchFamily="34" charset="0"/>
                          <a:ea typeface="Calibri" pitchFamily="34" charset="-122"/>
                          <a:cs typeface="Calibri" pitchFamily="34" charset="-120"/>
                        </a:rPr>
                        <a:t>TELEPHONE</a:t>
                      </a:r>
                      <a:endParaRPr lang="en-US" sz="8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B1628"/>
                    </a:solidFill>
                  </a:tcPr>
                </a:tc>
              </a:tr>
              <a:tr h="246888">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2</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BATTI</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Mohamed</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m.batti@mail.com</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+21622334455</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246888">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7</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BEN ALI</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Sarah</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s.benali@mail.com</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+21655667788</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r>
              <a:tr h="246888">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9</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BEN </a:t>
                      </a:r>
                      <a:r>
                        <a:rPr lang="en-US" sz="750" dirty="0" smtClean="0">
                          <a:solidFill>
                            <a:srgbClr val="1E293B"/>
                          </a:solidFill>
                          <a:latin typeface="Calibri" pitchFamily="34" charset="0"/>
                          <a:ea typeface="Calibri" pitchFamily="34" charset="-122"/>
                          <a:cs typeface="Calibri" pitchFamily="34" charset="-120"/>
                        </a:rPr>
                        <a:t>FRAJ</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Hana</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hana.by@mail.com</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+21698001122</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246888">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14</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BNINA</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Tarek</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t.bnina@mail.com</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+21650445566</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r>
            </a:tbl>
          </a:graphicData>
        </a:graphic>
      </p:graphicFrame>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15">
    <p:bg>
      <p:bgPr>
        <a:solidFill>
          <a:srgbClr val="F0F6FF"/>
        </a:solidFill>
        <a:effectLst/>
      </p:bgPr>
    </p:bg>
    <p:spTree>
      <p:nvGrpSpPr>
        <p:cNvPr id="1" name=""/>
        <p:cNvGrpSpPr/>
        <p:nvPr/>
      </p:nvGrpSpPr>
      <p:grpSpPr>
        <a:xfrm>
          <a:off x="0" y="0"/>
          <a:ext cx="0" cy="0"/>
          <a:chOff x="0" y="0"/>
          <a:chExt cx="0" cy="0"/>
        </a:xfrm>
      </p:grpSpPr>
      <p:sp>
        <p:nvSpPr>
          <p:cNvPr id="2" name="Shape 0"/>
          <p:cNvSpPr/>
          <p:nvPr/>
        </p:nvSpPr>
        <p:spPr>
          <a:xfrm>
            <a:off x="0" y="0"/>
            <a:ext cx="118872" cy="5143500"/>
          </a:xfrm>
          <a:prstGeom prst="rect">
            <a:avLst/>
          </a:prstGeom>
          <a:solidFill>
            <a:srgbClr val="0891B2"/>
          </a:solidFill>
          <a:ln w="12700">
            <a:solidFill>
              <a:srgbClr val="0891B2"/>
            </a:solidFill>
            <a:prstDash val="solid"/>
          </a:ln>
        </p:spPr>
      </p:sp>
      <p:sp>
        <p:nvSpPr>
          <p:cNvPr id="3" name="Shape 1"/>
          <p:cNvSpPr/>
          <p:nvPr/>
        </p:nvSpPr>
        <p:spPr>
          <a:xfrm>
            <a:off x="210312" y="91440"/>
            <a:ext cx="640080" cy="310896"/>
          </a:xfrm>
          <a:prstGeom prst="rect">
            <a:avLst/>
          </a:prstGeom>
          <a:solidFill>
            <a:srgbClr val="0891B2"/>
          </a:solidFill>
          <a:ln w="12700">
            <a:solidFill>
              <a:srgbClr val="0891B2"/>
            </a:solidFill>
            <a:prstDash val="solid"/>
          </a:ln>
        </p:spPr>
      </p:sp>
      <p:sp>
        <p:nvSpPr>
          <p:cNvPr id="4" name="Text 2"/>
          <p:cNvSpPr/>
          <p:nvPr/>
        </p:nvSpPr>
        <p:spPr>
          <a:xfrm>
            <a:off x="210312" y="91440"/>
            <a:ext cx="640080"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R08</a:t>
            </a:r>
            <a:endParaRPr lang="en-US" sz="1200" dirty="0"/>
          </a:p>
        </p:txBody>
      </p:sp>
      <p:sp>
        <p:nvSpPr>
          <p:cNvPr id="5" name="Text 3"/>
          <p:cNvSpPr/>
          <p:nvPr/>
        </p:nvSpPr>
        <p:spPr>
          <a:xfrm>
            <a:off x="932688" y="91440"/>
            <a:ext cx="6583680" cy="310896"/>
          </a:xfrm>
          <a:prstGeom prst="rect">
            <a:avLst/>
          </a:prstGeom>
          <a:noFill/>
          <a:ln/>
        </p:spPr>
        <p:txBody>
          <a:bodyPr wrap="square" rtlCol="0" anchor="ctr"/>
          <a:lstStyle/>
          <a:p>
            <a:pPr marL="0" indent="0">
              <a:buNone/>
            </a:pPr>
            <a:r>
              <a:rPr lang="en-US" sz="1350" b="1" dirty="0">
                <a:solidFill>
                  <a:srgbClr val="1E293B"/>
                </a:solidFill>
                <a:latin typeface="Calibri" pitchFamily="34" charset="0"/>
                <a:ea typeface="Calibri" pitchFamily="34" charset="-122"/>
                <a:cs typeface="Calibri" pitchFamily="34" charset="-120"/>
              </a:rPr>
              <a:t>LEFT JOIN — Utilisateurs sans connexion</a:t>
            </a:r>
            <a:endParaRPr lang="en-US" sz="1350" dirty="0"/>
          </a:p>
        </p:txBody>
      </p:sp>
      <p:sp>
        <p:nvSpPr>
          <p:cNvPr id="6" name="Text 4"/>
          <p:cNvSpPr/>
          <p:nvPr/>
        </p:nvSpPr>
        <p:spPr>
          <a:xfrm>
            <a:off x="210312" y="429768"/>
            <a:ext cx="8732520" cy="246888"/>
          </a:xfrm>
          <a:prstGeom prst="rect">
            <a:avLst/>
          </a:prstGeom>
          <a:noFill/>
          <a:ln/>
        </p:spPr>
        <p:txBody>
          <a:bodyPr wrap="square" rtlCol="0" anchor="ctr"/>
          <a:lstStyle/>
          <a:p>
            <a:pPr marL="0" indent="0">
              <a:buNone/>
            </a:pPr>
            <a:r>
              <a:rPr lang="en-US" sz="1000" i="1" dirty="0">
                <a:solidFill>
                  <a:srgbClr val="475569"/>
                </a:solidFill>
                <a:latin typeface="Calibri" pitchFamily="34" charset="0"/>
                <a:ea typeface="Calibri" pitchFamily="34" charset="-122"/>
                <a:cs typeface="Calibri" pitchFamily="34" charset="-120"/>
              </a:rPr>
              <a:t>Lister les utilisateurs n'ayant effectué aucune connexion enregistrée dans le système</a:t>
            </a:r>
            <a:endParaRPr lang="en-US" sz="1000" dirty="0"/>
          </a:p>
        </p:txBody>
      </p:sp>
      <p:sp>
        <p:nvSpPr>
          <p:cNvPr id="7" name="Shape 5"/>
          <p:cNvSpPr/>
          <p:nvPr/>
        </p:nvSpPr>
        <p:spPr>
          <a:xfrm>
            <a:off x="210312" y="704088"/>
            <a:ext cx="8732520" cy="2011680"/>
          </a:xfrm>
          <a:prstGeom prst="rect">
            <a:avLst/>
          </a:prstGeom>
          <a:solidFill>
            <a:srgbClr val="0F1E2E"/>
          </a:solidFill>
          <a:ln w="6350">
            <a:solidFill>
              <a:srgbClr val="1E3A5F"/>
            </a:solidFill>
            <a:prstDash val="solid"/>
          </a:ln>
        </p:spPr>
      </p:sp>
      <p:sp>
        <p:nvSpPr>
          <p:cNvPr id="8" name="Text 6"/>
          <p:cNvSpPr/>
          <p:nvPr/>
        </p:nvSpPr>
        <p:spPr>
          <a:xfrm>
            <a:off x="292608" y="731520"/>
            <a:ext cx="8549640" cy="1920240"/>
          </a:xfrm>
          <a:prstGeom prst="rect">
            <a:avLst/>
          </a:prstGeom>
          <a:noFill/>
          <a:ln/>
        </p:spPr>
        <p:txBody>
          <a:bodyPr wrap="square" lIns="38100" tIns="38100" rIns="38100" bIns="38100" rtlCol="0" anchor="t"/>
          <a:lstStyle/>
          <a:p>
            <a:pPr marL="0" indent="0">
              <a:buNone/>
            </a:pPr>
            <a:r>
              <a:rPr lang="en-US" sz="700" dirty="0">
                <a:solidFill>
                  <a:srgbClr val="CBD5E1"/>
                </a:solidFill>
                <a:latin typeface="Consolas" pitchFamily="34" charset="0"/>
                <a:ea typeface="Consolas" pitchFamily="34" charset="-122"/>
                <a:cs typeface="Consolas" pitchFamily="34" charset="-120"/>
              </a:rPr>
              <a:t>SELECT U.id_utilisateur, U.nom, U.prenom, U.email</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FROM Utilisateur U</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LEFT JOIN Connexion C ON C.id_utilisateur = U.id_utilisateur</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WHERE C.id_connexion IS NULL</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ORDER BY U.nom;</a:t>
            </a:r>
            <a:endParaRPr lang="en-US" sz="700" dirty="0"/>
          </a:p>
        </p:txBody>
      </p:sp>
      <p:sp>
        <p:nvSpPr>
          <p:cNvPr id="9" name="Text 7"/>
          <p:cNvSpPr/>
          <p:nvPr/>
        </p:nvSpPr>
        <p:spPr>
          <a:xfrm>
            <a:off x="210312" y="2779776"/>
            <a:ext cx="3657600" cy="201168"/>
          </a:xfrm>
          <a:prstGeom prst="rect">
            <a:avLst/>
          </a:prstGeom>
          <a:noFill/>
          <a:ln/>
        </p:spPr>
        <p:txBody>
          <a:bodyPr wrap="square" rtlCol="0" anchor="ctr"/>
          <a:lstStyle/>
          <a:p>
            <a:pPr marL="0" indent="0">
              <a:buNone/>
            </a:pPr>
            <a:r>
              <a:rPr lang="en-US" sz="850" b="1" dirty="0">
                <a:solidFill>
                  <a:srgbClr val="0891B2"/>
                </a:solidFill>
                <a:latin typeface="Calibri" pitchFamily="34" charset="0"/>
                <a:ea typeface="Calibri" pitchFamily="34" charset="-122"/>
                <a:cs typeface="Calibri" pitchFamily="34" charset="-120"/>
              </a:rPr>
              <a:t>▶  </a:t>
            </a:r>
            <a:r>
              <a:rPr lang="en-US" sz="850" b="1" dirty="0" err="1" smtClean="0">
                <a:solidFill>
                  <a:srgbClr val="0891B2"/>
                </a:solidFill>
                <a:latin typeface="Calibri" pitchFamily="34" charset="0"/>
                <a:ea typeface="Calibri" pitchFamily="34" charset="-122"/>
                <a:cs typeface="Calibri" pitchFamily="34" charset="-120"/>
              </a:rPr>
              <a:t>Résultats</a:t>
            </a:r>
            <a:r>
              <a:rPr lang="en-US" sz="850" b="1" dirty="0" smtClean="0">
                <a:solidFill>
                  <a:srgbClr val="0891B2"/>
                </a:solidFill>
                <a:latin typeface="Calibri" pitchFamily="34" charset="0"/>
                <a:ea typeface="Calibri" pitchFamily="34" charset="-122"/>
                <a:cs typeface="Calibri" pitchFamily="34" charset="-120"/>
              </a:rPr>
              <a:t> </a:t>
            </a:r>
            <a:r>
              <a:rPr lang="en-US" sz="850" b="1" dirty="0">
                <a:solidFill>
                  <a:srgbClr val="0891B2"/>
                </a:solidFill>
                <a:latin typeface="Calibri" pitchFamily="34" charset="0"/>
                <a:ea typeface="Calibri" pitchFamily="34" charset="-122"/>
                <a:cs typeface="Calibri" pitchFamily="34" charset="-120"/>
              </a:rPr>
              <a:t>:</a:t>
            </a:r>
            <a:endParaRPr lang="en-US" sz="85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210312" y="2999232"/>
          <a:ext cx="8732520" cy="987552"/>
        </p:xfrm>
        <a:graphic>
          <a:graphicData uri="http://schemas.openxmlformats.org/drawingml/2006/table">
            <a:tbl>
              <a:tblPr/>
              <a:tblGrid>
                <a:gridCol w="2183130"/>
                <a:gridCol w="2183130"/>
                <a:gridCol w="2183130"/>
                <a:gridCol w="2183130"/>
              </a:tblGrid>
              <a:tr h="246888">
                <a:tc>
                  <a:txBody>
                    <a:bodyPr/>
                    <a:lstStyle/>
                    <a:p>
                      <a:pPr marL="0" indent="0" algn="ctr">
                        <a:buNone/>
                      </a:pPr>
                      <a:r>
                        <a:rPr lang="en-US" sz="800" b="1" dirty="0">
                          <a:solidFill>
                            <a:srgbClr val="FFFFFF"/>
                          </a:solidFill>
                          <a:latin typeface="Calibri" pitchFamily="34" charset="0"/>
                          <a:ea typeface="Calibri" pitchFamily="34" charset="-122"/>
                          <a:cs typeface="Calibri" pitchFamily="34" charset="-120"/>
                        </a:rPr>
                        <a:t>ID_UTILISATEUR</a:t>
                      </a:r>
                      <a:endParaRPr lang="en-US" sz="8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B1628"/>
                    </a:solidFill>
                  </a:tcPr>
                </a:tc>
                <a:tc>
                  <a:txBody>
                    <a:bodyPr/>
                    <a:lstStyle/>
                    <a:p>
                      <a:pPr marL="0" indent="0" algn="ctr">
                        <a:buNone/>
                      </a:pPr>
                      <a:r>
                        <a:rPr lang="en-US" sz="800" b="1" dirty="0">
                          <a:solidFill>
                            <a:srgbClr val="FFFFFF"/>
                          </a:solidFill>
                          <a:latin typeface="Calibri" pitchFamily="34" charset="0"/>
                          <a:ea typeface="Calibri" pitchFamily="34" charset="-122"/>
                          <a:cs typeface="Calibri" pitchFamily="34" charset="-120"/>
                        </a:rPr>
                        <a:t>NOM</a:t>
                      </a:r>
                      <a:endParaRPr lang="en-US" sz="8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B1628"/>
                    </a:solidFill>
                  </a:tcPr>
                </a:tc>
                <a:tc>
                  <a:txBody>
                    <a:bodyPr/>
                    <a:lstStyle/>
                    <a:p>
                      <a:pPr marL="0" indent="0" algn="ctr">
                        <a:buNone/>
                      </a:pPr>
                      <a:r>
                        <a:rPr lang="en-US" sz="800" b="1" dirty="0">
                          <a:solidFill>
                            <a:srgbClr val="FFFFFF"/>
                          </a:solidFill>
                          <a:latin typeface="Calibri" pitchFamily="34" charset="0"/>
                          <a:ea typeface="Calibri" pitchFamily="34" charset="-122"/>
                          <a:cs typeface="Calibri" pitchFamily="34" charset="-120"/>
                        </a:rPr>
                        <a:t>PRENOM</a:t>
                      </a:r>
                      <a:endParaRPr lang="en-US" sz="8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B1628"/>
                    </a:solidFill>
                  </a:tcPr>
                </a:tc>
                <a:tc>
                  <a:txBody>
                    <a:bodyPr/>
                    <a:lstStyle/>
                    <a:p>
                      <a:pPr marL="0" indent="0" algn="ctr">
                        <a:buNone/>
                      </a:pPr>
                      <a:r>
                        <a:rPr lang="en-US" sz="800" b="1" dirty="0">
                          <a:solidFill>
                            <a:srgbClr val="FFFFFF"/>
                          </a:solidFill>
                          <a:latin typeface="Calibri" pitchFamily="34" charset="0"/>
                          <a:ea typeface="Calibri" pitchFamily="34" charset="-122"/>
                          <a:cs typeface="Calibri" pitchFamily="34" charset="-120"/>
                        </a:rPr>
                        <a:t>EMAIL</a:t>
                      </a:r>
                      <a:endParaRPr lang="en-US" sz="8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B1628"/>
                    </a:solidFill>
                  </a:tcPr>
                </a:tc>
              </a:tr>
              <a:tr h="246888">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18</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CHAABANE</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Nour</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n.chaabane@mail.com</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246888">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25</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HAMDI</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Fares</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f.hamdi@mail.com</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r>
              <a:tr h="246888">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31</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REZGUI</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Ines</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i.rezgui@mail.com</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bl>
          </a:graphicData>
        </a:graphic>
      </p:graphicFrame>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name="Slide 16">
    <p:bg>
      <p:bgPr>
        <a:solidFill>
          <a:srgbClr val="F0F6FF"/>
        </a:solidFill>
        <a:effectLst/>
      </p:bgPr>
    </p:bg>
    <p:spTree>
      <p:nvGrpSpPr>
        <p:cNvPr id="1" name=""/>
        <p:cNvGrpSpPr/>
        <p:nvPr/>
      </p:nvGrpSpPr>
      <p:grpSpPr>
        <a:xfrm>
          <a:off x="0" y="0"/>
          <a:ext cx="0" cy="0"/>
          <a:chOff x="0" y="0"/>
          <a:chExt cx="0" cy="0"/>
        </a:xfrm>
      </p:grpSpPr>
      <p:sp>
        <p:nvSpPr>
          <p:cNvPr id="2" name="Shape 0"/>
          <p:cNvSpPr/>
          <p:nvPr/>
        </p:nvSpPr>
        <p:spPr>
          <a:xfrm>
            <a:off x="0" y="0"/>
            <a:ext cx="118872" cy="5143500"/>
          </a:xfrm>
          <a:prstGeom prst="rect">
            <a:avLst/>
          </a:prstGeom>
          <a:solidFill>
            <a:srgbClr val="0891B2"/>
          </a:solidFill>
          <a:ln w="12700">
            <a:solidFill>
              <a:srgbClr val="0891B2"/>
            </a:solidFill>
            <a:prstDash val="solid"/>
          </a:ln>
        </p:spPr>
      </p:sp>
      <p:sp>
        <p:nvSpPr>
          <p:cNvPr id="3" name="Shape 1"/>
          <p:cNvSpPr/>
          <p:nvPr/>
        </p:nvSpPr>
        <p:spPr>
          <a:xfrm>
            <a:off x="210312" y="91440"/>
            <a:ext cx="640080" cy="310896"/>
          </a:xfrm>
          <a:prstGeom prst="rect">
            <a:avLst/>
          </a:prstGeom>
          <a:solidFill>
            <a:srgbClr val="0891B2"/>
          </a:solidFill>
          <a:ln w="12700">
            <a:solidFill>
              <a:srgbClr val="0891B2"/>
            </a:solidFill>
            <a:prstDash val="solid"/>
          </a:ln>
        </p:spPr>
      </p:sp>
      <p:sp>
        <p:nvSpPr>
          <p:cNvPr id="4" name="Text 2"/>
          <p:cNvSpPr/>
          <p:nvPr/>
        </p:nvSpPr>
        <p:spPr>
          <a:xfrm>
            <a:off x="210312" y="91440"/>
            <a:ext cx="640080"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R09</a:t>
            </a:r>
            <a:endParaRPr lang="en-US" sz="1200" dirty="0"/>
          </a:p>
        </p:txBody>
      </p:sp>
      <p:sp>
        <p:nvSpPr>
          <p:cNvPr id="5" name="Text 3"/>
          <p:cNvSpPr/>
          <p:nvPr/>
        </p:nvSpPr>
        <p:spPr>
          <a:xfrm>
            <a:off x="932688" y="91440"/>
            <a:ext cx="6583680" cy="310896"/>
          </a:xfrm>
          <a:prstGeom prst="rect">
            <a:avLst/>
          </a:prstGeom>
          <a:noFill/>
          <a:ln/>
        </p:spPr>
        <p:txBody>
          <a:bodyPr wrap="square" rtlCol="0" anchor="ctr"/>
          <a:lstStyle/>
          <a:p>
            <a:pPr marL="0" indent="0">
              <a:buNone/>
            </a:pPr>
            <a:r>
              <a:rPr lang="en-US" sz="1350" b="1" dirty="0">
                <a:solidFill>
                  <a:srgbClr val="1E293B"/>
                </a:solidFill>
                <a:latin typeface="Calibri" pitchFamily="34" charset="0"/>
                <a:ea typeface="Calibri" pitchFamily="34" charset="-122"/>
                <a:cs typeface="Calibri" pitchFamily="34" charset="-120"/>
              </a:rPr>
              <a:t>DISTINCT — Pays de connexion avec comptage</a:t>
            </a:r>
            <a:endParaRPr lang="en-US" sz="1350" dirty="0"/>
          </a:p>
        </p:txBody>
      </p:sp>
      <p:sp>
        <p:nvSpPr>
          <p:cNvPr id="6" name="Text 4"/>
          <p:cNvSpPr/>
          <p:nvPr/>
        </p:nvSpPr>
        <p:spPr>
          <a:xfrm>
            <a:off x="210312" y="429768"/>
            <a:ext cx="8732520" cy="246888"/>
          </a:xfrm>
          <a:prstGeom prst="rect">
            <a:avLst/>
          </a:prstGeom>
          <a:noFill/>
          <a:ln/>
        </p:spPr>
        <p:txBody>
          <a:bodyPr wrap="square" rtlCol="0" anchor="ctr"/>
          <a:lstStyle/>
          <a:p>
            <a:pPr marL="0" indent="0">
              <a:buNone/>
            </a:pPr>
            <a:r>
              <a:rPr lang="en-US" sz="1000" i="1" dirty="0">
                <a:solidFill>
                  <a:srgbClr val="475569"/>
                </a:solidFill>
                <a:latin typeface="Calibri" pitchFamily="34" charset="0"/>
                <a:ea typeface="Calibri" pitchFamily="34" charset="-122"/>
                <a:cs typeface="Calibri" pitchFamily="34" charset="-120"/>
              </a:rPr>
              <a:t>Lister tous les pays distincts des connexions avec leur nombre de connexions</a:t>
            </a:r>
            <a:endParaRPr lang="en-US" sz="1000" dirty="0"/>
          </a:p>
        </p:txBody>
      </p:sp>
      <p:sp>
        <p:nvSpPr>
          <p:cNvPr id="7" name="Shape 5"/>
          <p:cNvSpPr/>
          <p:nvPr/>
        </p:nvSpPr>
        <p:spPr>
          <a:xfrm>
            <a:off x="210312" y="704088"/>
            <a:ext cx="8732520" cy="2011680"/>
          </a:xfrm>
          <a:prstGeom prst="rect">
            <a:avLst/>
          </a:prstGeom>
          <a:solidFill>
            <a:srgbClr val="0F1E2E"/>
          </a:solidFill>
          <a:ln w="6350">
            <a:solidFill>
              <a:srgbClr val="1E3A5F"/>
            </a:solidFill>
            <a:prstDash val="solid"/>
          </a:ln>
        </p:spPr>
      </p:sp>
      <p:sp>
        <p:nvSpPr>
          <p:cNvPr id="8" name="Text 6"/>
          <p:cNvSpPr/>
          <p:nvPr/>
        </p:nvSpPr>
        <p:spPr>
          <a:xfrm>
            <a:off x="292608" y="731520"/>
            <a:ext cx="8549640" cy="1920240"/>
          </a:xfrm>
          <a:prstGeom prst="rect">
            <a:avLst/>
          </a:prstGeom>
          <a:noFill/>
          <a:ln/>
        </p:spPr>
        <p:txBody>
          <a:bodyPr wrap="square" lIns="38100" tIns="38100" rIns="38100" bIns="38100" rtlCol="0" anchor="t"/>
          <a:lstStyle/>
          <a:p>
            <a:pPr marL="0" indent="0">
              <a:buNone/>
            </a:pPr>
            <a:r>
              <a:rPr lang="en-US" sz="700" dirty="0">
                <a:solidFill>
                  <a:srgbClr val="CBD5E1"/>
                </a:solidFill>
                <a:latin typeface="Consolas" pitchFamily="34" charset="0"/>
                <a:ea typeface="Consolas" pitchFamily="34" charset="-122"/>
                <a:cs typeface="Consolas" pitchFamily="34" charset="-120"/>
              </a:rPr>
              <a:t>SELECT pays, COUNT(*) AS nb_connexions</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FROM Connexion</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WHERE pays IS NOT NULL</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GROUP BY pays</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ORDER BY nb_connexions DESC;</a:t>
            </a:r>
            <a:endParaRPr lang="en-US" sz="700" dirty="0"/>
          </a:p>
        </p:txBody>
      </p:sp>
      <p:sp>
        <p:nvSpPr>
          <p:cNvPr id="9" name="Text 7"/>
          <p:cNvSpPr/>
          <p:nvPr/>
        </p:nvSpPr>
        <p:spPr>
          <a:xfrm>
            <a:off x="210312" y="2779776"/>
            <a:ext cx="3657600" cy="201168"/>
          </a:xfrm>
          <a:prstGeom prst="rect">
            <a:avLst/>
          </a:prstGeom>
          <a:noFill/>
          <a:ln/>
        </p:spPr>
        <p:txBody>
          <a:bodyPr wrap="square" rtlCol="0" anchor="ctr"/>
          <a:lstStyle/>
          <a:p>
            <a:pPr marL="0" indent="0">
              <a:buNone/>
            </a:pPr>
            <a:r>
              <a:rPr lang="en-US" sz="850" b="1" dirty="0">
                <a:solidFill>
                  <a:srgbClr val="0891B2"/>
                </a:solidFill>
                <a:latin typeface="Calibri" pitchFamily="34" charset="0"/>
                <a:ea typeface="Calibri" pitchFamily="34" charset="-122"/>
                <a:cs typeface="Calibri" pitchFamily="34" charset="-120"/>
              </a:rPr>
              <a:t>▶  </a:t>
            </a:r>
            <a:r>
              <a:rPr lang="en-US" sz="850" b="1" dirty="0" err="1">
                <a:solidFill>
                  <a:srgbClr val="0891B2"/>
                </a:solidFill>
                <a:latin typeface="Calibri" pitchFamily="34" charset="0"/>
                <a:ea typeface="Calibri" pitchFamily="34" charset="-122"/>
                <a:cs typeface="Calibri" pitchFamily="34" charset="-120"/>
              </a:rPr>
              <a:t>Résultats</a:t>
            </a:r>
            <a:r>
              <a:rPr lang="en-US" sz="850" b="1" dirty="0">
                <a:solidFill>
                  <a:srgbClr val="0891B2"/>
                </a:solidFill>
                <a:latin typeface="Calibri" pitchFamily="34" charset="0"/>
                <a:ea typeface="Calibri" pitchFamily="34" charset="-122"/>
                <a:cs typeface="Calibri" pitchFamily="34" charset="-120"/>
              </a:rPr>
              <a:t> </a:t>
            </a:r>
            <a:r>
              <a:rPr lang="en-US" sz="850" b="1" dirty="0" smtClean="0">
                <a:solidFill>
                  <a:srgbClr val="0891B2"/>
                </a:solidFill>
                <a:latin typeface="Calibri" pitchFamily="34" charset="0"/>
                <a:ea typeface="Calibri" pitchFamily="34" charset="-122"/>
                <a:cs typeface="Calibri" pitchFamily="34" charset="-120"/>
              </a:rPr>
              <a:t>:</a:t>
            </a:r>
            <a:endParaRPr lang="en-US" sz="85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210312" y="2999232"/>
          <a:ext cx="8732520" cy="1728216"/>
        </p:xfrm>
        <a:graphic>
          <a:graphicData uri="http://schemas.openxmlformats.org/drawingml/2006/table">
            <a:tbl>
              <a:tblPr/>
              <a:tblGrid>
                <a:gridCol w="4366260"/>
                <a:gridCol w="4366260"/>
              </a:tblGrid>
              <a:tr h="246888">
                <a:tc>
                  <a:txBody>
                    <a:bodyPr/>
                    <a:lstStyle/>
                    <a:p>
                      <a:pPr marL="0" indent="0" algn="ctr">
                        <a:buNone/>
                      </a:pPr>
                      <a:r>
                        <a:rPr lang="en-US" sz="800" b="1" dirty="0">
                          <a:solidFill>
                            <a:srgbClr val="FFFFFF"/>
                          </a:solidFill>
                          <a:latin typeface="Calibri" pitchFamily="34" charset="0"/>
                          <a:ea typeface="Calibri" pitchFamily="34" charset="-122"/>
                          <a:cs typeface="Calibri" pitchFamily="34" charset="-120"/>
                        </a:rPr>
                        <a:t>PAYS</a:t>
                      </a:r>
                      <a:endParaRPr lang="en-US" sz="8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B1628"/>
                    </a:solidFill>
                  </a:tcPr>
                </a:tc>
                <a:tc>
                  <a:txBody>
                    <a:bodyPr/>
                    <a:lstStyle/>
                    <a:p>
                      <a:pPr marL="0" indent="0" algn="ctr">
                        <a:buNone/>
                      </a:pPr>
                      <a:r>
                        <a:rPr lang="en-US" sz="800" b="1" dirty="0">
                          <a:solidFill>
                            <a:srgbClr val="FFFFFF"/>
                          </a:solidFill>
                          <a:latin typeface="Calibri" pitchFamily="34" charset="0"/>
                          <a:ea typeface="Calibri" pitchFamily="34" charset="-122"/>
                          <a:cs typeface="Calibri" pitchFamily="34" charset="-120"/>
                        </a:rPr>
                        <a:t>NB_CONNEXIONS</a:t>
                      </a:r>
                      <a:endParaRPr lang="en-US" sz="8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B1628"/>
                    </a:solidFill>
                  </a:tcPr>
                </a:tc>
              </a:tr>
              <a:tr h="246888">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TN</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1240</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246888">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FR</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387</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r>
              <a:tr h="246888">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DE</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112</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246888">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MA</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98</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r>
              <a:tr h="246888">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AE</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74</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246888">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US</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61</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r>
            </a:tbl>
          </a:graphicData>
        </a:graphic>
      </p:graphicFrame>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name="Slide 17">
    <p:bg>
      <p:bgPr>
        <a:solidFill>
          <a:srgbClr val="F0F6FF"/>
        </a:solidFill>
        <a:effectLst/>
      </p:bgPr>
    </p:bg>
    <p:spTree>
      <p:nvGrpSpPr>
        <p:cNvPr id="1" name=""/>
        <p:cNvGrpSpPr/>
        <p:nvPr/>
      </p:nvGrpSpPr>
      <p:grpSpPr>
        <a:xfrm>
          <a:off x="0" y="0"/>
          <a:ext cx="0" cy="0"/>
          <a:chOff x="0" y="0"/>
          <a:chExt cx="0" cy="0"/>
        </a:xfrm>
      </p:grpSpPr>
      <p:sp>
        <p:nvSpPr>
          <p:cNvPr id="2" name="Shape 0"/>
          <p:cNvSpPr/>
          <p:nvPr/>
        </p:nvSpPr>
        <p:spPr>
          <a:xfrm>
            <a:off x="0" y="0"/>
            <a:ext cx="118872" cy="5143500"/>
          </a:xfrm>
          <a:prstGeom prst="rect">
            <a:avLst/>
          </a:prstGeom>
          <a:solidFill>
            <a:srgbClr val="0891B2"/>
          </a:solidFill>
          <a:ln w="12700">
            <a:solidFill>
              <a:srgbClr val="0891B2"/>
            </a:solidFill>
            <a:prstDash val="solid"/>
          </a:ln>
        </p:spPr>
      </p:sp>
      <p:sp>
        <p:nvSpPr>
          <p:cNvPr id="3" name="Shape 1"/>
          <p:cNvSpPr/>
          <p:nvPr/>
        </p:nvSpPr>
        <p:spPr>
          <a:xfrm>
            <a:off x="210312" y="91440"/>
            <a:ext cx="640080" cy="310896"/>
          </a:xfrm>
          <a:prstGeom prst="rect">
            <a:avLst/>
          </a:prstGeom>
          <a:solidFill>
            <a:srgbClr val="0891B2"/>
          </a:solidFill>
          <a:ln w="12700">
            <a:solidFill>
              <a:srgbClr val="0891B2"/>
            </a:solidFill>
            <a:prstDash val="solid"/>
          </a:ln>
        </p:spPr>
      </p:sp>
      <p:sp>
        <p:nvSpPr>
          <p:cNvPr id="4" name="Text 2"/>
          <p:cNvSpPr/>
          <p:nvPr/>
        </p:nvSpPr>
        <p:spPr>
          <a:xfrm>
            <a:off x="210312" y="91440"/>
            <a:ext cx="640080"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R10</a:t>
            </a:r>
            <a:endParaRPr lang="en-US" sz="1200" dirty="0"/>
          </a:p>
        </p:txBody>
      </p:sp>
      <p:sp>
        <p:nvSpPr>
          <p:cNvPr id="5" name="Text 3"/>
          <p:cNvSpPr/>
          <p:nvPr/>
        </p:nvSpPr>
        <p:spPr>
          <a:xfrm>
            <a:off x="932688" y="91440"/>
            <a:ext cx="6583680" cy="310896"/>
          </a:xfrm>
          <a:prstGeom prst="rect">
            <a:avLst/>
          </a:prstGeom>
          <a:noFill/>
          <a:ln/>
        </p:spPr>
        <p:txBody>
          <a:bodyPr wrap="square" rtlCol="0" anchor="ctr"/>
          <a:lstStyle/>
          <a:p>
            <a:pPr marL="0" indent="0">
              <a:buNone/>
            </a:pPr>
            <a:r>
              <a:rPr lang="en-US" sz="1350" b="1" dirty="0">
                <a:solidFill>
                  <a:srgbClr val="1E293B"/>
                </a:solidFill>
                <a:latin typeface="Calibri" pitchFamily="34" charset="0"/>
                <a:ea typeface="Calibri" pitchFamily="34" charset="-122"/>
                <a:cs typeface="Calibri" pitchFamily="34" charset="-120"/>
              </a:rPr>
              <a:t>IN + sous-requête — Cartes expirées sur comptes actifs</a:t>
            </a:r>
            <a:endParaRPr lang="en-US" sz="1350" dirty="0"/>
          </a:p>
        </p:txBody>
      </p:sp>
      <p:sp>
        <p:nvSpPr>
          <p:cNvPr id="6" name="Text 4"/>
          <p:cNvSpPr/>
          <p:nvPr/>
        </p:nvSpPr>
        <p:spPr>
          <a:xfrm>
            <a:off x="210312" y="429768"/>
            <a:ext cx="8732520" cy="246888"/>
          </a:xfrm>
          <a:prstGeom prst="rect">
            <a:avLst/>
          </a:prstGeom>
          <a:noFill/>
          <a:ln/>
        </p:spPr>
        <p:txBody>
          <a:bodyPr wrap="square" rtlCol="0" anchor="ctr"/>
          <a:lstStyle/>
          <a:p>
            <a:pPr marL="0" indent="0">
              <a:buNone/>
            </a:pPr>
            <a:r>
              <a:rPr lang="en-US" sz="1000" i="1" dirty="0">
                <a:solidFill>
                  <a:srgbClr val="475569"/>
                </a:solidFill>
                <a:latin typeface="Calibri" pitchFamily="34" charset="0"/>
                <a:ea typeface="Calibri" pitchFamily="34" charset="-122"/>
                <a:cs typeface="Calibri" pitchFamily="34" charset="-120"/>
              </a:rPr>
              <a:t>Cartes bancaires expirées appartenant à des comptes non bloqués</a:t>
            </a:r>
            <a:endParaRPr lang="en-US" sz="1000" dirty="0"/>
          </a:p>
        </p:txBody>
      </p:sp>
      <p:sp>
        <p:nvSpPr>
          <p:cNvPr id="7" name="Shape 5"/>
          <p:cNvSpPr/>
          <p:nvPr/>
        </p:nvSpPr>
        <p:spPr>
          <a:xfrm>
            <a:off x="210312" y="704088"/>
            <a:ext cx="8732520" cy="2011680"/>
          </a:xfrm>
          <a:prstGeom prst="rect">
            <a:avLst/>
          </a:prstGeom>
          <a:solidFill>
            <a:srgbClr val="0F1E2E"/>
          </a:solidFill>
          <a:ln w="6350">
            <a:solidFill>
              <a:srgbClr val="1E3A5F"/>
            </a:solidFill>
            <a:prstDash val="solid"/>
          </a:ln>
        </p:spPr>
      </p:sp>
      <p:sp>
        <p:nvSpPr>
          <p:cNvPr id="8" name="Text 6"/>
          <p:cNvSpPr/>
          <p:nvPr/>
        </p:nvSpPr>
        <p:spPr>
          <a:xfrm>
            <a:off x="292608" y="731520"/>
            <a:ext cx="8549640" cy="1920240"/>
          </a:xfrm>
          <a:prstGeom prst="rect">
            <a:avLst/>
          </a:prstGeom>
          <a:noFill/>
          <a:ln/>
        </p:spPr>
        <p:txBody>
          <a:bodyPr wrap="square" lIns="38100" tIns="38100" rIns="38100" bIns="38100" rtlCol="0" anchor="t"/>
          <a:lstStyle/>
          <a:p>
            <a:pPr marL="0" indent="0">
              <a:buNone/>
            </a:pPr>
            <a:r>
              <a:rPr lang="en-US" sz="700" dirty="0">
                <a:solidFill>
                  <a:srgbClr val="CBD5E1"/>
                </a:solidFill>
                <a:latin typeface="Consolas" pitchFamily="34" charset="0"/>
                <a:ea typeface="Consolas" pitchFamily="34" charset="-122"/>
                <a:cs typeface="Consolas" pitchFamily="34" charset="-120"/>
              </a:rPr>
              <a:t>SELECT CB.id_carte, CB.numero_masque,</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    TO_CHAR(CB.date_expiration,'MM/YYYY') AS expiration,</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    CB.statut, CB.id_compte</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FROM Carte_Bancaire CB</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WHERE CB.date_expiration &lt; SYSDATE</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  AND CB.id_compte NOT IN (SELECT id_compte FROM Compte_Bloque)</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ORDER BY CB.date_expiration;</a:t>
            </a:r>
            <a:endParaRPr lang="en-US" sz="700" dirty="0"/>
          </a:p>
        </p:txBody>
      </p:sp>
      <p:sp>
        <p:nvSpPr>
          <p:cNvPr id="9" name="Text 7"/>
          <p:cNvSpPr/>
          <p:nvPr/>
        </p:nvSpPr>
        <p:spPr>
          <a:xfrm>
            <a:off x="210312" y="2779776"/>
            <a:ext cx="3657600" cy="201168"/>
          </a:xfrm>
          <a:prstGeom prst="rect">
            <a:avLst/>
          </a:prstGeom>
          <a:noFill/>
          <a:ln/>
        </p:spPr>
        <p:txBody>
          <a:bodyPr wrap="square" rtlCol="0" anchor="ctr"/>
          <a:lstStyle/>
          <a:p>
            <a:pPr marL="0" indent="0">
              <a:buNone/>
            </a:pPr>
            <a:r>
              <a:rPr lang="en-US" sz="850" b="1" dirty="0">
                <a:solidFill>
                  <a:srgbClr val="0891B2"/>
                </a:solidFill>
                <a:latin typeface="Calibri" pitchFamily="34" charset="0"/>
                <a:ea typeface="Calibri" pitchFamily="34" charset="-122"/>
                <a:cs typeface="Calibri" pitchFamily="34" charset="-120"/>
              </a:rPr>
              <a:t>▶  </a:t>
            </a:r>
            <a:r>
              <a:rPr lang="en-US" sz="850" b="1" dirty="0" err="1" smtClean="0">
                <a:solidFill>
                  <a:srgbClr val="0891B2"/>
                </a:solidFill>
                <a:latin typeface="Calibri" pitchFamily="34" charset="0"/>
                <a:ea typeface="Calibri" pitchFamily="34" charset="-122"/>
                <a:cs typeface="Calibri" pitchFamily="34" charset="-120"/>
              </a:rPr>
              <a:t>Résultats</a:t>
            </a:r>
            <a:r>
              <a:rPr lang="en-US" sz="850" b="1" dirty="0">
                <a:solidFill>
                  <a:srgbClr val="0891B2"/>
                </a:solidFill>
                <a:latin typeface="Calibri" pitchFamily="34" charset="0"/>
                <a:ea typeface="Calibri" pitchFamily="34" charset="-122"/>
                <a:cs typeface="Calibri" pitchFamily="34" charset="-120"/>
              </a:rPr>
              <a:t> </a:t>
            </a:r>
            <a:r>
              <a:rPr lang="en-US" sz="850" b="1" dirty="0" smtClean="0">
                <a:solidFill>
                  <a:srgbClr val="0891B2"/>
                </a:solidFill>
                <a:latin typeface="Calibri" pitchFamily="34" charset="0"/>
                <a:ea typeface="Calibri" pitchFamily="34" charset="-122"/>
                <a:cs typeface="Calibri" pitchFamily="34" charset="-120"/>
              </a:rPr>
              <a:t>:</a:t>
            </a:r>
            <a:endParaRPr lang="en-US" sz="85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210312" y="2999232"/>
          <a:ext cx="8732520" cy="1234440"/>
        </p:xfrm>
        <a:graphic>
          <a:graphicData uri="http://schemas.openxmlformats.org/drawingml/2006/table">
            <a:tbl>
              <a:tblPr/>
              <a:tblGrid>
                <a:gridCol w="1746504"/>
                <a:gridCol w="1746504"/>
                <a:gridCol w="1746504"/>
                <a:gridCol w="1746504"/>
                <a:gridCol w="1746504"/>
              </a:tblGrid>
              <a:tr h="246888">
                <a:tc>
                  <a:txBody>
                    <a:bodyPr/>
                    <a:lstStyle/>
                    <a:p>
                      <a:pPr marL="0" indent="0" algn="ctr">
                        <a:buNone/>
                      </a:pPr>
                      <a:r>
                        <a:rPr lang="en-US" sz="800" b="1" dirty="0">
                          <a:solidFill>
                            <a:srgbClr val="FFFFFF"/>
                          </a:solidFill>
                          <a:latin typeface="Calibri" pitchFamily="34" charset="0"/>
                          <a:ea typeface="Calibri" pitchFamily="34" charset="-122"/>
                          <a:cs typeface="Calibri" pitchFamily="34" charset="-120"/>
                        </a:rPr>
                        <a:t>ID_CARTE</a:t>
                      </a:r>
                      <a:endParaRPr lang="en-US" sz="8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B1628"/>
                    </a:solidFill>
                  </a:tcPr>
                </a:tc>
                <a:tc>
                  <a:txBody>
                    <a:bodyPr/>
                    <a:lstStyle/>
                    <a:p>
                      <a:pPr marL="0" indent="0" algn="ctr">
                        <a:buNone/>
                      </a:pPr>
                      <a:r>
                        <a:rPr lang="en-US" sz="800" b="1" dirty="0">
                          <a:solidFill>
                            <a:srgbClr val="FFFFFF"/>
                          </a:solidFill>
                          <a:latin typeface="Calibri" pitchFamily="34" charset="0"/>
                          <a:ea typeface="Calibri" pitchFamily="34" charset="-122"/>
                          <a:cs typeface="Calibri" pitchFamily="34" charset="-120"/>
                        </a:rPr>
                        <a:t>NUMERO_MASQUE</a:t>
                      </a:r>
                      <a:endParaRPr lang="en-US" sz="8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B1628"/>
                    </a:solidFill>
                  </a:tcPr>
                </a:tc>
                <a:tc>
                  <a:txBody>
                    <a:bodyPr/>
                    <a:lstStyle/>
                    <a:p>
                      <a:pPr marL="0" indent="0" algn="ctr">
                        <a:buNone/>
                      </a:pPr>
                      <a:r>
                        <a:rPr lang="en-US" sz="800" b="1" dirty="0">
                          <a:solidFill>
                            <a:srgbClr val="FFFFFF"/>
                          </a:solidFill>
                          <a:latin typeface="Calibri" pitchFamily="34" charset="0"/>
                          <a:ea typeface="Calibri" pitchFamily="34" charset="-122"/>
                          <a:cs typeface="Calibri" pitchFamily="34" charset="-120"/>
                        </a:rPr>
                        <a:t>EXPIRATION</a:t>
                      </a:r>
                      <a:endParaRPr lang="en-US" sz="8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B1628"/>
                    </a:solidFill>
                  </a:tcPr>
                </a:tc>
                <a:tc>
                  <a:txBody>
                    <a:bodyPr/>
                    <a:lstStyle/>
                    <a:p>
                      <a:pPr marL="0" indent="0" algn="ctr">
                        <a:buNone/>
                      </a:pPr>
                      <a:r>
                        <a:rPr lang="en-US" sz="800" b="1" dirty="0">
                          <a:solidFill>
                            <a:srgbClr val="FFFFFF"/>
                          </a:solidFill>
                          <a:latin typeface="Calibri" pitchFamily="34" charset="0"/>
                          <a:ea typeface="Calibri" pitchFamily="34" charset="-122"/>
                          <a:cs typeface="Calibri" pitchFamily="34" charset="-120"/>
                        </a:rPr>
                        <a:t>STATUT</a:t>
                      </a:r>
                      <a:endParaRPr lang="en-US" sz="8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B1628"/>
                    </a:solidFill>
                  </a:tcPr>
                </a:tc>
                <a:tc>
                  <a:txBody>
                    <a:bodyPr/>
                    <a:lstStyle/>
                    <a:p>
                      <a:pPr marL="0" indent="0" algn="ctr">
                        <a:buNone/>
                      </a:pPr>
                      <a:r>
                        <a:rPr lang="en-US" sz="800" b="1" dirty="0">
                          <a:solidFill>
                            <a:srgbClr val="FFFFFF"/>
                          </a:solidFill>
                          <a:latin typeface="Calibri" pitchFamily="34" charset="0"/>
                          <a:ea typeface="Calibri" pitchFamily="34" charset="-122"/>
                          <a:cs typeface="Calibri" pitchFamily="34" charset="-120"/>
                        </a:rPr>
                        <a:t>ID_COMPTE</a:t>
                      </a:r>
                      <a:endParaRPr lang="en-US" sz="8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B1628"/>
                    </a:solidFill>
                  </a:tcPr>
                </a:tc>
              </a:tr>
              <a:tr h="246888">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301</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****-****-****-4412</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06/2022</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ACTIVE</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2001</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246888">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302</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****-****-****-8891</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11/2023</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ACTIVE</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2004</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r>
              <a:tr h="246888">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303</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****-****-****-2207</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03/2024</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ACTIVE</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2007</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246888">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304</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****-****-****-5530</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12/2024</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ACTIVE</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2011</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r>
            </a:tbl>
          </a:graphicData>
        </a:graphic>
      </p:graphicFrame>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name="Slide 18">
    <p:bg>
      <p:bgPr>
        <a:solidFill>
          <a:srgbClr val="F0F6FF"/>
        </a:solidFill>
        <a:effectLst/>
      </p:bgPr>
    </p:bg>
    <p:spTree>
      <p:nvGrpSpPr>
        <p:cNvPr id="1" name=""/>
        <p:cNvGrpSpPr/>
        <p:nvPr/>
      </p:nvGrpSpPr>
      <p:grpSpPr>
        <a:xfrm>
          <a:off x="0" y="0"/>
          <a:ext cx="0" cy="0"/>
          <a:chOff x="0" y="0"/>
          <a:chExt cx="0" cy="0"/>
        </a:xfrm>
      </p:grpSpPr>
      <p:sp>
        <p:nvSpPr>
          <p:cNvPr id="2" name="Shape 0"/>
          <p:cNvSpPr/>
          <p:nvPr/>
        </p:nvSpPr>
        <p:spPr>
          <a:xfrm>
            <a:off x="0" y="0"/>
            <a:ext cx="118872" cy="5143500"/>
          </a:xfrm>
          <a:prstGeom prst="rect">
            <a:avLst/>
          </a:prstGeom>
          <a:solidFill>
            <a:srgbClr val="0891B2"/>
          </a:solidFill>
          <a:ln w="12700">
            <a:solidFill>
              <a:srgbClr val="0891B2"/>
            </a:solidFill>
            <a:prstDash val="solid"/>
          </a:ln>
        </p:spPr>
      </p:sp>
      <p:sp>
        <p:nvSpPr>
          <p:cNvPr id="3" name="Shape 1"/>
          <p:cNvSpPr/>
          <p:nvPr/>
        </p:nvSpPr>
        <p:spPr>
          <a:xfrm>
            <a:off x="210312" y="91440"/>
            <a:ext cx="640080" cy="310896"/>
          </a:xfrm>
          <a:prstGeom prst="rect">
            <a:avLst/>
          </a:prstGeom>
          <a:solidFill>
            <a:srgbClr val="0891B2"/>
          </a:solidFill>
          <a:ln w="12700">
            <a:solidFill>
              <a:srgbClr val="0891B2"/>
            </a:solidFill>
            <a:prstDash val="solid"/>
          </a:ln>
        </p:spPr>
      </p:sp>
      <p:sp>
        <p:nvSpPr>
          <p:cNvPr id="4" name="Text 2"/>
          <p:cNvSpPr/>
          <p:nvPr/>
        </p:nvSpPr>
        <p:spPr>
          <a:xfrm>
            <a:off x="210312" y="91440"/>
            <a:ext cx="640080"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R11</a:t>
            </a:r>
            <a:endParaRPr lang="en-US" sz="1200" dirty="0"/>
          </a:p>
        </p:txBody>
      </p:sp>
      <p:sp>
        <p:nvSpPr>
          <p:cNvPr id="5" name="Text 3"/>
          <p:cNvSpPr/>
          <p:nvPr/>
        </p:nvSpPr>
        <p:spPr>
          <a:xfrm>
            <a:off x="932688" y="91440"/>
            <a:ext cx="6583680" cy="310896"/>
          </a:xfrm>
          <a:prstGeom prst="rect">
            <a:avLst/>
          </a:prstGeom>
          <a:noFill/>
          <a:ln/>
        </p:spPr>
        <p:txBody>
          <a:bodyPr wrap="square" rtlCol="0" anchor="ctr"/>
          <a:lstStyle/>
          <a:p>
            <a:pPr marL="0" indent="0">
              <a:buNone/>
            </a:pPr>
            <a:r>
              <a:rPr lang="en-US" sz="1350" b="1" dirty="0">
                <a:solidFill>
                  <a:srgbClr val="1E293B"/>
                </a:solidFill>
                <a:latin typeface="Calibri" pitchFamily="34" charset="0"/>
                <a:ea typeface="Calibri" pitchFamily="34" charset="-122"/>
                <a:cs typeface="Calibri" pitchFamily="34" charset="-120"/>
              </a:rPr>
              <a:t>GROUP BY — Nombre de comptes et solde total par utilisateur</a:t>
            </a:r>
            <a:endParaRPr lang="en-US" sz="1350" dirty="0"/>
          </a:p>
        </p:txBody>
      </p:sp>
      <p:sp>
        <p:nvSpPr>
          <p:cNvPr id="6" name="Text 4"/>
          <p:cNvSpPr/>
          <p:nvPr/>
        </p:nvSpPr>
        <p:spPr>
          <a:xfrm>
            <a:off x="210312" y="429768"/>
            <a:ext cx="8732520" cy="246888"/>
          </a:xfrm>
          <a:prstGeom prst="rect">
            <a:avLst/>
          </a:prstGeom>
          <a:noFill/>
          <a:ln/>
        </p:spPr>
        <p:txBody>
          <a:bodyPr wrap="square" rtlCol="0" anchor="ctr"/>
          <a:lstStyle/>
          <a:p>
            <a:pPr marL="0" indent="0">
              <a:buNone/>
            </a:pPr>
            <a:r>
              <a:rPr lang="en-US" sz="1000" i="1" dirty="0">
                <a:solidFill>
                  <a:srgbClr val="475569"/>
                </a:solidFill>
                <a:latin typeface="Calibri" pitchFamily="34" charset="0"/>
                <a:ea typeface="Calibri" pitchFamily="34" charset="-122"/>
                <a:cs typeface="Calibri" pitchFamily="34" charset="-120"/>
              </a:rPr>
              <a:t>Pour chaque utilisateur, nombre de comptes détenus et somme de leurs soldes</a:t>
            </a:r>
            <a:endParaRPr lang="en-US" sz="1000" dirty="0"/>
          </a:p>
        </p:txBody>
      </p:sp>
      <p:sp>
        <p:nvSpPr>
          <p:cNvPr id="7" name="Shape 5"/>
          <p:cNvSpPr/>
          <p:nvPr/>
        </p:nvSpPr>
        <p:spPr>
          <a:xfrm>
            <a:off x="210312" y="704088"/>
            <a:ext cx="8732520" cy="2011680"/>
          </a:xfrm>
          <a:prstGeom prst="rect">
            <a:avLst/>
          </a:prstGeom>
          <a:solidFill>
            <a:srgbClr val="0F1E2E"/>
          </a:solidFill>
          <a:ln w="6350">
            <a:solidFill>
              <a:srgbClr val="1E3A5F"/>
            </a:solidFill>
            <a:prstDash val="solid"/>
          </a:ln>
        </p:spPr>
      </p:sp>
      <p:sp>
        <p:nvSpPr>
          <p:cNvPr id="8" name="Text 6"/>
          <p:cNvSpPr/>
          <p:nvPr/>
        </p:nvSpPr>
        <p:spPr>
          <a:xfrm>
            <a:off x="292608" y="731520"/>
            <a:ext cx="8549640" cy="1920240"/>
          </a:xfrm>
          <a:prstGeom prst="rect">
            <a:avLst/>
          </a:prstGeom>
          <a:noFill/>
          <a:ln/>
        </p:spPr>
        <p:txBody>
          <a:bodyPr wrap="square" lIns="38100" tIns="38100" rIns="38100" bIns="38100" rtlCol="0" anchor="t"/>
          <a:lstStyle/>
          <a:p>
            <a:pPr marL="0" indent="0">
              <a:buNone/>
            </a:pPr>
            <a:r>
              <a:rPr lang="en-US" sz="700" dirty="0">
                <a:solidFill>
                  <a:srgbClr val="CBD5E1"/>
                </a:solidFill>
                <a:latin typeface="Consolas" pitchFamily="34" charset="0"/>
                <a:ea typeface="Consolas" pitchFamily="34" charset="-122"/>
                <a:cs typeface="Consolas" pitchFamily="34" charset="-120"/>
              </a:rPr>
              <a:t>SELECT U.id_utilisateur,</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    U.nom || ' ' || U.prenom  AS utilisateur,</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    COUNT(ET.id_compte)       AS nb_comptes,</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    SUM(CO.solde)             AS solde_total</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FROM Utilisateur U</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JOIN Est_Titulaire ET ON ET.id_utilisateur = U.id_utilisateur</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JOIN Compte CO        ON CO.id_compte      = ET.id_compte</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GROUP BY U.id_utilisateur, U.nom, U.prenom</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ORDER BY nb_comptes DESC;</a:t>
            </a:r>
            <a:endParaRPr lang="en-US" sz="700" dirty="0"/>
          </a:p>
        </p:txBody>
      </p:sp>
      <p:sp>
        <p:nvSpPr>
          <p:cNvPr id="9" name="Text 7"/>
          <p:cNvSpPr/>
          <p:nvPr/>
        </p:nvSpPr>
        <p:spPr>
          <a:xfrm>
            <a:off x="210312" y="2779776"/>
            <a:ext cx="3657600" cy="201168"/>
          </a:xfrm>
          <a:prstGeom prst="rect">
            <a:avLst/>
          </a:prstGeom>
          <a:noFill/>
          <a:ln/>
        </p:spPr>
        <p:txBody>
          <a:bodyPr wrap="square" rtlCol="0" anchor="ctr"/>
          <a:lstStyle/>
          <a:p>
            <a:pPr marL="0" indent="0">
              <a:buNone/>
            </a:pPr>
            <a:r>
              <a:rPr lang="en-US" sz="850" b="1" dirty="0">
                <a:solidFill>
                  <a:srgbClr val="0891B2"/>
                </a:solidFill>
                <a:latin typeface="Calibri" pitchFamily="34" charset="0"/>
                <a:ea typeface="Calibri" pitchFamily="34" charset="-122"/>
                <a:cs typeface="Calibri" pitchFamily="34" charset="-120"/>
              </a:rPr>
              <a:t>▶  </a:t>
            </a:r>
            <a:r>
              <a:rPr lang="en-US" sz="850" b="1" dirty="0" err="1">
                <a:solidFill>
                  <a:srgbClr val="0891B2"/>
                </a:solidFill>
                <a:latin typeface="Calibri" pitchFamily="34" charset="0"/>
                <a:ea typeface="Calibri" pitchFamily="34" charset="-122"/>
                <a:cs typeface="Calibri" pitchFamily="34" charset="-120"/>
              </a:rPr>
              <a:t>Résultats</a:t>
            </a:r>
            <a:r>
              <a:rPr lang="en-US" sz="850" b="1" dirty="0">
                <a:solidFill>
                  <a:srgbClr val="0891B2"/>
                </a:solidFill>
                <a:latin typeface="Calibri" pitchFamily="34" charset="0"/>
                <a:ea typeface="Calibri" pitchFamily="34" charset="-122"/>
                <a:cs typeface="Calibri" pitchFamily="34" charset="-120"/>
              </a:rPr>
              <a:t> </a:t>
            </a:r>
            <a:r>
              <a:rPr lang="en-US" sz="850" b="1" dirty="0" smtClean="0">
                <a:solidFill>
                  <a:srgbClr val="0891B2"/>
                </a:solidFill>
                <a:latin typeface="Calibri" pitchFamily="34" charset="0"/>
                <a:ea typeface="Calibri" pitchFamily="34" charset="-122"/>
                <a:cs typeface="Calibri" pitchFamily="34" charset="-120"/>
              </a:rPr>
              <a:t>:</a:t>
            </a:r>
            <a:endParaRPr lang="en-US" sz="85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210312" y="2999232"/>
          <a:ext cx="8732520" cy="1481328"/>
        </p:xfrm>
        <a:graphic>
          <a:graphicData uri="http://schemas.openxmlformats.org/drawingml/2006/table">
            <a:tbl>
              <a:tblPr/>
              <a:tblGrid>
                <a:gridCol w="2183130"/>
                <a:gridCol w="2183130"/>
                <a:gridCol w="2183130"/>
                <a:gridCol w="2183130"/>
              </a:tblGrid>
              <a:tr h="246888">
                <a:tc>
                  <a:txBody>
                    <a:bodyPr/>
                    <a:lstStyle/>
                    <a:p>
                      <a:pPr marL="0" indent="0" algn="ctr">
                        <a:buNone/>
                      </a:pPr>
                      <a:r>
                        <a:rPr lang="en-US" sz="800" b="1" dirty="0">
                          <a:solidFill>
                            <a:srgbClr val="FFFFFF"/>
                          </a:solidFill>
                          <a:latin typeface="Calibri" pitchFamily="34" charset="0"/>
                          <a:ea typeface="Calibri" pitchFamily="34" charset="-122"/>
                          <a:cs typeface="Calibri" pitchFamily="34" charset="-120"/>
                        </a:rPr>
                        <a:t>ID_UTILISATEUR</a:t>
                      </a:r>
                      <a:endParaRPr lang="en-US" sz="8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B1628"/>
                    </a:solidFill>
                  </a:tcPr>
                </a:tc>
                <a:tc>
                  <a:txBody>
                    <a:bodyPr/>
                    <a:lstStyle/>
                    <a:p>
                      <a:pPr marL="0" indent="0" algn="ctr">
                        <a:buNone/>
                      </a:pPr>
                      <a:r>
                        <a:rPr lang="en-US" sz="800" b="1" dirty="0">
                          <a:solidFill>
                            <a:srgbClr val="FFFFFF"/>
                          </a:solidFill>
                          <a:latin typeface="Calibri" pitchFamily="34" charset="0"/>
                          <a:ea typeface="Calibri" pitchFamily="34" charset="-122"/>
                          <a:cs typeface="Calibri" pitchFamily="34" charset="-120"/>
                        </a:rPr>
                        <a:t>UTILISATEUR</a:t>
                      </a:r>
                      <a:endParaRPr lang="en-US" sz="8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B1628"/>
                    </a:solidFill>
                  </a:tcPr>
                </a:tc>
                <a:tc>
                  <a:txBody>
                    <a:bodyPr/>
                    <a:lstStyle/>
                    <a:p>
                      <a:pPr marL="0" indent="0" algn="ctr">
                        <a:buNone/>
                      </a:pPr>
                      <a:r>
                        <a:rPr lang="en-US" sz="800" b="1" dirty="0">
                          <a:solidFill>
                            <a:srgbClr val="FFFFFF"/>
                          </a:solidFill>
                          <a:latin typeface="Calibri" pitchFamily="34" charset="0"/>
                          <a:ea typeface="Calibri" pitchFamily="34" charset="-122"/>
                          <a:cs typeface="Calibri" pitchFamily="34" charset="-120"/>
                        </a:rPr>
                        <a:t>NB_COMPTES</a:t>
                      </a:r>
                      <a:endParaRPr lang="en-US" sz="8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B1628"/>
                    </a:solidFill>
                  </a:tcPr>
                </a:tc>
                <a:tc>
                  <a:txBody>
                    <a:bodyPr/>
                    <a:lstStyle/>
                    <a:p>
                      <a:pPr marL="0" indent="0" algn="ctr">
                        <a:buNone/>
                      </a:pPr>
                      <a:r>
                        <a:rPr lang="en-US" sz="800" b="1" dirty="0">
                          <a:solidFill>
                            <a:srgbClr val="FFFFFF"/>
                          </a:solidFill>
                          <a:latin typeface="Calibri" pitchFamily="34" charset="0"/>
                          <a:ea typeface="Calibri" pitchFamily="34" charset="-122"/>
                          <a:cs typeface="Calibri" pitchFamily="34" charset="-120"/>
                        </a:rPr>
                        <a:t>SOLDE_TOTAL</a:t>
                      </a:r>
                      <a:endParaRPr lang="en-US" sz="8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B1628"/>
                    </a:solidFill>
                  </a:tcPr>
                </a:tc>
              </a:tr>
              <a:tr h="246888">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1</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Anas SAOUDI</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3</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12450</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246888">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3</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Leila TRABELSI</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2</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5800</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r>
              <a:tr h="246888">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2</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Mohamed BATTI</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2</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3200</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246888">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4</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Karim MANSOURI</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1</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940</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r>
              <a:tr h="246888">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5</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Sarah BEN ALI</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1</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310</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bl>
          </a:graphicData>
        </a:graphic>
      </p:graphicFrame>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name="Slide 19">
    <p:bg>
      <p:bgPr>
        <a:solidFill>
          <a:srgbClr val="F0F6FF"/>
        </a:solidFill>
        <a:effectLst/>
      </p:bgPr>
    </p:bg>
    <p:spTree>
      <p:nvGrpSpPr>
        <p:cNvPr id="1" name=""/>
        <p:cNvGrpSpPr/>
        <p:nvPr/>
      </p:nvGrpSpPr>
      <p:grpSpPr>
        <a:xfrm>
          <a:off x="0" y="0"/>
          <a:ext cx="0" cy="0"/>
          <a:chOff x="0" y="0"/>
          <a:chExt cx="0" cy="0"/>
        </a:xfrm>
      </p:grpSpPr>
      <p:sp>
        <p:nvSpPr>
          <p:cNvPr id="2" name="Shape 0"/>
          <p:cNvSpPr/>
          <p:nvPr/>
        </p:nvSpPr>
        <p:spPr>
          <a:xfrm>
            <a:off x="0" y="0"/>
            <a:ext cx="118872" cy="5143500"/>
          </a:xfrm>
          <a:prstGeom prst="rect">
            <a:avLst/>
          </a:prstGeom>
          <a:solidFill>
            <a:srgbClr val="0891B2"/>
          </a:solidFill>
          <a:ln w="12700">
            <a:solidFill>
              <a:srgbClr val="0891B2"/>
            </a:solidFill>
            <a:prstDash val="solid"/>
          </a:ln>
        </p:spPr>
      </p:sp>
      <p:sp>
        <p:nvSpPr>
          <p:cNvPr id="3" name="Shape 1"/>
          <p:cNvSpPr/>
          <p:nvPr/>
        </p:nvSpPr>
        <p:spPr>
          <a:xfrm>
            <a:off x="210312" y="91440"/>
            <a:ext cx="640080" cy="310896"/>
          </a:xfrm>
          <a:prstGeom prst="rect">
            <a:avLst/>
          </a:prstGeom>
          <a:solidFill>
            <a:srgbClr val="0891B2"/>
          </a:solidFill>
          <a:ln w="12700">
            <a:solidFill>
              <a:srgbClr val="0891B2"/>
            </a:solidFill>
            <a:prstDash val="solid"/>
          </a:ln>
        </p:spPr>
      </p:sp>
      <p:sp>
        <p:nvSpPr>
          <p:cNvPr id="4" name="Text 2"/>
          <p:cNvSpPr/>
          <p:nvPr/>
        </p:nvSpPr>
        <p:spPr>
          <a:xfrm>
            <a:off x="210312" y="91440"/>
            <a:ext cx="640080"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R12</a:t>
            </a:r>
            <a:endParaRPr lang="en-US" sz="1200" dirty="0"/>
          </a:p>
        </p:txBody>
      </p:sp>
      <p:sp>
        <p:nvSpPr>
          <p:cNvPr id="5" name="Text 3"/>
          <p:cNvSpPr/>
          <p:nvPr/>
        </p:nvSpPr>
        <p:spPr>
          <a:xfrm>
            <a:off x="932688" y="91440"/>
            <a:ext cx="6583680" cy="310896"/>
          </a:xfrm>
          <a:prstGeom prst="rect">
            <a:avLst/>
          </a:prstGeom>
          <a:noFill/>
          <a:ln/>
        </p:spPr>
        <p:txBody>
          <a:bodyPr wrap="square" rtlCol="0" anchor="ctr"/>
          <a:lstStyle/>
          <a:p>
            <a:pPr marL="0" indent="0">
              <a:buNone/>
            </a:pPr>
            <a:r>
              <a:rPr lang="en-US" sz="1350" b="1" dirty="0">
                <a:solidFill>
                  <a:srgbClr val="1E293B"/>
                </a:solidFill>
                <a:latin typeface="Calibri" pitchFamily="34" charset="0"/>
                <a:ea typeface="Calibri" pitchFamily="34" charset="-122"/>
                <a:cs typeface="Calibri" pitchFamily="34" charset="-120"/>
              </a:rPr>
              <a:t>BETWEEN — Transactions du mois courant</a:t>
            </a:r>
            <a:endParaRPr lang="en-US" sz="1350" dirty="0"/>
          </a:p>
        </p:txBody>
      </p:sp>
      <p:sp>
        <p:nvSpPr>
          <p:cNvPr id="6" name="Text 4"/>
          <p:cNvSpPr/>
          <p:nvPr/>
        </p:nvSpPr>
        <p:spPr>
          <a:xfrm>
            <a:off x="210312" y="429768"/>
            <a:ext cx="8732520" cy="246888"/>
          </a:xfrm>
          <a:prstGeom prst="rect">
            <a:avLst/>
          </a:prstGeom>
          <a:noFill/>
          <a:ln/>
        </p:spPr>
        <p:txBody>
          <a:bodyPr wrap="square" rtlCol="0" anchor="ctr"/>
          <a:lstStyle/>
          <a:p>
            <a:pPr marL="0" indent="0">
              <a:buNone/>
            </a:pPr>
            <a:r>
              <a:rPr lang="en-US" sz="1000" i="1" dirty="0">
                <a:solidFill>
                  <a:srgbClr val="475569"/>
                </a:solidFill>
                <a:latin typeface="Calibri" pitchFamily="34" charset="0"/>
                <a:ea typeface="Calibri" pitchFamily="34" charset="-122"/>
                <a:cs typeface="Calibri" pitchFamily="34" charset="-120"/>
              </a:rPr>
              <a:t>Lister toutes les transactions du mois en cours via TRUNC et LAST_DAY</a:t>
            </a:r>
            <a:endParaRPr lang="en-US" sz="1000" dirty="0"/>
          </a:p>
        </p:txBody>
      </p:sp>
      <p:sp>
        <p:nvSpPr>
          <p:cNvPr id="7" name="Shape 5"/>
          <p:cNvSpPr/>
          <p:nvPr/>
        </p:nvSpPr>
        <p:spPr>
          <a:xfrm>
            <a:off x="210312" y="704088"/>
            <a:ext cx="8732520" cy="2011680"/>
          </a:xfrm>
          <a:prstGeom prst="rect">
            <a:avLst/>
          </a:prstGeom>
          <a:solidFill>
            <a:srgbClr val="0F1E2E"/>
          </a:solidFill>
          <a:ln w="6350">
            <a:solidFill>
              <a:srgbClr val="1E3A5F"/>
            </a:solidFill>
            <a:prstDash val="solid"/>
          </a:ln>
        </p:spPr>
      </p:sp>
      <p:sp>
        <p:nvSpPr>
          <p:cNvPr id="8" name="Text 6"/>
          <p:cNvSpPr/>
          <p:nvPr/>
        </p:nvSpPr>
        <p:spPr>
          <a:xfrm>
            <a:off x="292608" y="731520"/>
            <a:ext cx="8549640" cy="1920240"/>
          </a:xfrm>
          <a:prstGeom prst="rect">
            <a:avLst/>
          </a:prstGeom>
          <a:noFill/>
          <a:ln/>
        </p:spPr>
        <p:txBody>
          <a:bodyPr wrap="square" lIns="38100" tIns="38100" rIns="38100" bIns="38100" rtlCol="0" anchor="t"/>
          <a:lstStyle/>
          <a:p>
            <a:pPr marL="0" indent="0">
              <a:buNone/>
            </a:pPr>
            <a:r>
              <a:rPr lang="en-US" sz="700" dirty="0">
                <a:solidFill>
                  <a:srgbClr val="CBD5E1"/>
                </a:solidFill>
                <a:latin typeface="Consolas" pitchFamily="34" charset="0"/>
                <a:ea typeface="Consolas" pitchFamily="34" charset="-122"/>
                <a:cs typeface="Consolas" pitchFamily="34" charset="-120"/>
              </a:rPr>
              <a:t>SELECT id_transaction, montant, type_operation, statut, pays,</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    TO_CHAR(date_heure,'DD/MM/YYYY HH24:MI') AS date_heure</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FROM Transaction</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WHERE date_heure BETWEEN TRUNC(SYSDATE,'MM')</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                     AND LAST_DAY(SYSDATE) + 1 - 1/86400</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ORDER BY date_heure;</a:t>
            </a:r>
            <a:endParaRPr lang="en-US" sz="700" dirty="0"/>
          </a:p>
        </p:txBody>
      </p:sp>
      <p:sp>
        <p:nvSpPr>
          <p:cNvPr id="9" name="Text 7"/>
          <p:cNvSpPr/>
          <p:nvPr/>
        </p:nvSpPr>
        <p:spPr>
          <a:xfrm>
            <a:off x="210312" y="2779776"/>
            <a:ext cx="3657600" cy="201168"/>
          </a:xfrm>
          <a:prstGeom prst="rect">
            <a:avLst/>
          </a:prstGeom>
          <a:noFill/>
          <a:ln/>
        </p:spPr>
        <p:txBody>
          <a:bodyPr wrap="square" rtlCol="0" anchor="ctr"/>
          <a:lstStyle/>
          <a:p>
            <a:pPr marL="0" indent="0">
              <a:buNone/>
            </a:pPr>
            <a:r>
              <a:rPr lang="en-US" sz="850" b="1" dirty="0">
                <a:solidFill>
                  <a:srgbClr val="0891B2"/>
                </a:solidFill>
                <a:latin typeface="Calibri" pitchFamily="34" charset="0"/>
                <a:ea typeface="Calibri" pitchFamily="34" charset="-122"/>
                <a:cs typeface="Calibri" pitchFamily="34" charset="-120"/>
              </a:rPr>
              <a:t>▶  </a:t>
            </a:r>
            <a:r>
              <a:rPr lang="en-US" sz="850" b="1" dirty="0" err="1" smtClean="0">
                <a:solidFill>
                  <a:srgbClr val="0891B2"/>
                </a:solidFill>
                <a:latin typeface="Calibri" pitchFamily="34" charset="0"/>
                <a:ea typeface="Calibri" pitchFamily="34" charset="-122"/>
                <a:cs typeface="Calibri" pitchFamily="34" charset="-120"/>
              </a:rPr>
              <a:t>Résultats</a:t>
            </a:r>
            <a:r>
              <a:rPr lang="en-US" sz="850" b="1" dirty="0" smtClean="0">
                <a:solidFill>
                  <a:srgbClr val="0891B2"/>
                </a:solidFill>
                <a:latin typeface="Calibri" pitchFamily="34" charset="0"/>
                <a:ea typeface="Calibri" pitchFamily="34" charset="-122"/>
                <a:cs typeface="Calibri" pitchFamily="34" charset="-120"/>
              </a:rPr>
              <a:t> </a:t>
            </a:r>
            <a:r>
              <a:rPr lang="en-US" sz="850" b="1" dirty="0">
                <a:solidFill>
                  <a:srgbClr val="0891B2"/>
                </a:solidFill>
                <a:latin typeface="Calibri" pitchFamily="34" charset="0"/>
                <a:ea typeface="Calibri" pitchFamily="34" charset="-122"/>
                <a:cs typeface="Calibri" pitchFamily="34" charset="-120"/>
              </a:rPr>
              <a:t>:</a:t>
            </a:r>
            <a:endParaRPr lang="en-US" sz="85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210312" y="2999232"/>
          <a:ext cx="8732520" cy="1481328"/>
        </p:xfrm>
        <a:graphic>
          <a:graphicData uri="http://schemas.openxmlformats.org/drawingml/2006/table">
            <a:tbl>
              <a:tblPr/>
              <a:tblGrid>
                <a:gridCol w="1455420"/>
                <a:gridCol w="1455420"/>
                <a:gridCol w="1455420"/>
                <a:gridCol w="1455420"/>
                <a:gridCol w="1455420"/>
                <a:gridCol w="1455420"/>
              </a:tblGrid>
              <a:tr h="246888">
                <a:tc>
                  <a:txBody>
                    <a:bodyPr/>
                    <a:lstStyle/>
                    <a:p>
                      <a:pPr marL="0" indent="0" algn="ctr">
                        <a:buNone/>
                      </a:pPr>
                      <a:r>
                        <a:rPr lang="en-US" sz="800" b="1" dirty="0">
                          <a:solidFill>
                            <a:srgbClr val="FFFFFF"/>
                          </a:solidFill>
                          <a:latin typeface="Calibri" pitchFamily="34" charset="0"/>
                          <a:ea typeface="Calibri" pitchFamily="34" charset="-122"/>
                          <a:cs typeface="Calibri" pitchFamily="34" charset="-120"/>
                        </a:rPr>
                        <a:t>ID_TRANSACTION</a:t>
                      </a:r>
                      <a:endParaRPr lang="en-US" sz="8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B1628"/>
                    </a:solidFill>
                  </a:tcPr>
                </a:tc>
                <a:tc>
                  <a:txBody>
                    <a:bodyPr/>
                    <a:lstStyle/>
                    <a:p>
                      <a:pPr marL="0" indent="0" algn="ctr">
                        <a:buNone/>
                      </a:pPr>
                      <a:r>
                        <a:rPr lang="en-US" sz="800" b="1" dirty="0">
                          <a:solidFill>
                            <a:srgbClr val="FFFFFF"/>
                          </a:solidFill>
                          <a:latin typeface="Calibri" pitchFamily="34" charset="0"/>
                          <a:ea typeface="Calibri" pitchFamily="34" charset="-122"/>
                          <a:cs typeface="Calibri" pitchFamily="34" charset="-120"/>
                        </a:rPr>
                        <a:t>MONTANT</a:t>
                      </a:r>
                      <a:endParaRPr lang="en-US" sz="8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B1628"/>
                    </a:solidFill>
                  </a:tcPr>
                </a:tc>
                <a:tc>
                  <a:txBody>
                    <a:bodyPr/>
                    <a:lstStyle/>
                    <a:p>
                      <a:pPr marL="0" indent="0" algn="ctr">
                        <a:buNone/>
                      </a:pPr>
                      <a:r>
                        <a:rPr lang="en-US" sz="800" b="1" dirty="0">
                          <a:solidFill>
                            <a:srgbClr val="FFFFFF"/>
                          </a:solidFill>
                          <a:latin typeface="Calibri" pitchFamily="34" charset="0"/>
                          <a:ea typeface="Calibri" pitchFamily="34" charset="-122"/>
                          <a:cs typeface="Calibri" pitchFamily="34" charset="-120"/>
                        </a:rPr>
                        <a:t>TYPE_OPERATION</a:t>
                      </a:r>
                      <a:endParaRPr lang="en-US" sz="8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B1628"/>
                    </a:solidFill>
                  </a:tcPr>
                </a:tc>
                <a:tc>
                  <a:txBody>
                    <a:bodyPr/>
                    <a:lstStyle/>
                    <a:p>
                      <a:pPr marL="0" indent="0" algn="ctr">
                        <a:buNone/>
                      </a:pPr>
                      <a:r>
                        <a:rPr lang="en-US" sz="800" b="1" dirty="0">
                          <a:solidFill>
                            <a:srgbClr val="FFFFFF"/>
                          </a:solidFill>
                          <a:latin typeface="Calibri" pitchFamily="34" charset="0"/>
                          <a:ea typeface="Calibri" pitchFamily="34" charset="-122"/>
                          <a:cs typeface="Calibri" pitchFamily="34" charset="-120"/>
                        </a:rPr>
                        <a:t>STATUT</a:t>
                      </a:r>
                      <a:endParaRPr lang="en-US" sz="8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B1628"/>
                    </a:solidFill>
                  </a:tcPr>
                </a:tc>
                <a:tc>
                  <a:txBody>
                    <a:bodyPr/>
                    <a:lstStyle/>
                    <a:p>
                      <a:pPr marL="0" indent="0" algn="ctr">
                        <a:buNone/>
                      </a:pPr>
                      <a:r>
                        <a:rPr lang="en-US" sz="800" b="1" dirty="0">
                          <a:solidFill>
                            <a:srgbClr val="FFFFFF"/>
                          </a:solidFill>
                          <a:latin typeface="Calibri" pitchFamily="34" charset="0"/>
                          <a:ea typeface="Calibri" pitchFamily="34" charset="-122"/>
                          <a:cs typeface="Calibri" pitchFamily="34" charset="-120"/>
                        </a:rPr>
                        <a:t>PAYS</a:t>
                      </a:r>
                      <a:endParaRPr lang="en-US" sz="8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B1628"/>
                    </a:solidFill>
                  </a:tcPr>
                </a:tc>
                <a:tc>
                  <a:txBody>
                    <a:bodyPr/>
                    <a:lstStyle/>
                    <a:p>
                      <a:pPr marL="0" indent="0" algn="ctr">
                        <a:buNone/>
                      </a:pPr>
                      <a:r>
                        <a:rPr lang="en-US" sz="800" b="1" dirty="0">
                          <a:solidFill>
                            <a:srgbClr val="FFFFFF"/>
                          </a:solidFill>
                          <a:latin typeface="Calibri" pitchFamily="34" charset="0"/>
                          <a:ea typeface="Calibri" pitchFamily="34" charset="-122"/>
                          <a:cs typeface="Calibri" pitchFamily="34" charset="-120"/>
                        </a:rPr>
                        <a:t>DATE_HEURE</a:t>
                      </a:r>
                      <a:endParaRPr lang="en-US" sz="8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B1628"/>
                    </a:solidFill>
                  </a:tcPr>
                </a:tc>
              </a:tr>
              <a:tr h="246888">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6001</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120</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PAIEMENT</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VALIDE</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TN</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02/04/2026 09:01</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246888">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6002</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350.5</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VIREMENT</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VALIDE</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TN</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05/04/2026 14:22</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r>
              <a:tr h="246888">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6003</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89.99</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PAIEMENT</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REFUSE</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FR</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10/04/2026 19:48</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246888">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6004</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2850</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PAIEMENT</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VALIDE</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MT</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16/04/2026 02:13</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r>
              <a:tr h="246888">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6005</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45</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PAIEMENT</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VALIDE</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TN</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18/04/2026 11:07</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bl>
          </a:graphicData>
        </a:graphic>
      </p:graphicFrame>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name="Slide 20">
    <p:bg>
      <p:bgPr>
        <a:solidFill>
          <a:srgbClr val="F0F6FF"/>
        </a:solidFill>
        <a:effectLst/>
      </p:bgPr>
    </p:bg>
    <p:spTree>
      <p:nvGrpSpPr>
        <p:cNvPr id="1" name=""/>
        <p:cNvGrpSpPr/>
        <p:nvPr/>
      </p:nvGrpSpPr>
      <p:grpSpPr>
        <a:xfrm>
          <a:off x="0" y="0"/>
          <a:ext cx="0" cy="0"/>
          <a:chOff x="0" y="0"/>
          <a:chExt cx="0" cy="0"/>
        </a:xfrm>
      </p:grpSpPr>
      <p:sp>
        <p:nvSpPr>
          <p:cNvPr id="2" name="Shape 0"/>
          <p:cNvSpPr/>
          <p:nvPr/>
        </p:nvSpPr>
        <p:spPr>
          <a:xfrm>
            <a:off x="0" y="0"/>
            <a:ext cx="118872" cy="5143500"/>
          </a:xfrm>
          <a:prstGeom prst="rect">
            <a:avLst/>
          </a:prstGeom>
          <a:solidFill>
            <a:srgbClr val="0891B2"/>
          </a:solidFill>
          <a:ln w="12700">
            <a:solidFill>
              <a:srgbClr val="0891B2"/>
            </a:solidFill>
            <a:prstDash val="solid"/>
          </a:ln>
        </p:spPr>
      </p:sp>
      <p:sp>
        <p:nvSpPr>
          <p:cNvPr id="3" name="Shape 1"/>
          <p:cNvSpPr/>
          <p:nvPr/>
        </p:nvSpPr>
        <p:spPr>
          <a:xfrm>
            <a:off x="210312" y="91440"/>
            <a:ext cx="640080" cy="310896"/>
          </a:xfrm>
          <a:prstGeom prst="rect">
            <a:avLst/>
          </a:prstGeom>
          <a:solidFill>
            <a:srgbClr val="0891B2"/>
          </a:solidFill>
          <a:ln w="12700">
            <a:solidFill>
              <a:srgbClr val="0891B2"/>
            </a:solidFill>
            <a:prstDash val="solid"/>
          </a:ln>
        </p:spPr>
      </p:sp>
      <p:sp>
        <p:nvSpPr>
          <p:cNvPr id="4" name="Text 2"/>
          <p:cNvSpPr/>
          <p:nvPr/>
        </p:nvSpPr>
        <p:spPr>
          <a:xfrm>
            <a:off x="210312" y="91440"/>
            <a:ext cx="640080"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R13</a:t>
            </a:r>
            <a:endParaRPr lang="en-US" sz="1200" dirty="0"/>
          </a:p>
        </p:txBody>
      </p:sp>
      <p:sp>
        <p:nvSpPr>
          <p:cNvPr id="5" name="Text 3"/>
          <p:cNvSpPr/>
          <p:nvPr/>
        </p:nvSpPr>
        <p:spPr>
          <a:xfrm>
            <a:off x="932688" y="91440"/>
            <a:ext cx="6583680" cy="310896"/>
          </a:xfrm>
          <a:prstGeom prst="rect">
            <a:avLst/>
          </a:prstGeom>
          <a:noFill/>
          <a:ln/>
        </p:spPr>
        <p:txBody>
          <a:bodyPr wrap="square" rtlCol="0" anchor="ctr"/>
          <a:lstStyle/>
          <a:p>
            <a:pPr marL="0" indent="0">
              <a:buNone/>
            </a:pPr>
            <a:r>
              <a:rPr lang="en-US" sz="1350" b="1" dirty="0">
                <a:solidFill>
                  <a:srgbClr val="1E293B"/>
                </a:solidFill>
                <a:latin typeface="Calibri" pitchFamily="34" charset="0"/>
                <a:ea typeface="Calibri" pitchFamily="34" charset="-122"/>
                <a:cs typeface="Calibri" pitchFamily="34" charset="-120"/>
              </a:rPr>
              <a:t>NVL — Valeur par défaut si NULL</a:t>
            </a:r>
            <a:endParaRPr lang="en-US" sz="1350" dirty="0"/>
          </a:p>
        </p:txBody>
      </p:sp>
      <p:sp>
        <p:nvSpPr>
          <p:cNvPr id="6" name="Text 4"/>
          <p:cNvSpPr/>
          <p:nvPr/>
        </p:nvSpPr>
        <p:spPr>
          <a:xfrm>
            <a:off x="210312" y="429768"/>
            <a:ext cx="8732520" cy="246888"/>
          </a:xfrm>
          <a:prstGeom prst="rect">
            <a:avLst/>
          </a:prstGeom>
          <a:noFill/>
          <a:ln/>
        </p:spPr>
        <p:txBody>
          <a:bodyPr wrap="square" rtlCol="0" anchor="ctr"/>
          <a:lstStyle/>
          <a:p>
            <a:pPr marL="0" indent="0">
              <a:buNone/>
            </a:pPr>
            <a:r>
              <a:rPr lang="en-US" sz="1000" i="1" dirty="0">
                <a:solidFill>
                  <a:srgbClr val="475569"/>
                </a:solidFill>
                <a:latin typeface="Calibri" pitchFamily="34" charset="0"/>
                <a:ea typeface="Calibri" pitchFamily="34" charset="-122"/>
                <a:cs typeface="Calibri" pitchFamily="34" charset="-120"/>
              </a:rPr>
              <a:t>Afficher les comptes en remplaçant une devise NULL par 'TND' via la fonction NVL</a:t>
            </a:r>
            <a:endParaRPr lang="en-US" sz="1000" dirty="0"/>
          </a:p>
        </p:txBody>
      </p:sp>
      <p:sp>
        <p:nvSpPr>
          <p:cNvPr id="7" name="Shape 5"/>
          <p:cNvSpPr/>
          <p:nvPr/>
        </p:nvSpPr>
        <p:spPr>
          <a:xfrm>
            <a:off x="210312" y="704088"/>
            <a:ext cx="8732520" cy="2011680"/>
          </a:xfrm>
          <a:prstGeom prst="rect">
            <a:avLst/>
          </a:prstGeom>
          <a:solidFill>
            <a:srgbClr val="0F1E2E"/>
          </a:solidFill>
          <a:ln w="6350">
            <a:solidFill>
              <a:srgbClr val="1E3A5F"/>
            </a:solidFill>
            <a:prstDash val="solid"/>
          </a:ln>
        </p:spPr>
      </p:sp>
      <p:sp>
        <p:nvSpPr>
          <p:cNvPr id="8" name="Text 6"/>
          <p:cNvSpPr/>
          <p:nvPr/>
        </p:nvSpPr>
        <p:spPr>
          <a:xfrm>
            <a:off x="292608" y="731520"/>
            <a:ext cx="8549640" cy="1920240"/>
          </a:xfrm>
          <a:prstGeom prst="rect">
            <a:avLst/>
          </a:prstGeom>
          <a:noFill/>
          <a:ln/>
        </p:spPr>
        <p:txBody>
          <a:bodyPr wrap="square" lIns="38100" tIns="38100" rIns="38100" bIns="38100" rtlCol="0" anchor="t"/>
          <a:lstStyle/>
          <a:p>
            <a:pPr marL="0" indent="0">
              <a:buNone/>
            </a:pPr>
            <a:r>
              <a:rPr lang="en-US" sz="700" dirty="0">
                <a:solidFill>
                  <a:srgbClr val="CBD5E1"/>
                </a:solidFill>
                <a:latin typeface="Consolas" pitchFamily="34" charset="0"/>
                <a:ea typeface="Consolas" pitchFamily="34" charset="-122"/>
                <a:cs typeface="Consolas" pitchFamily="34" charset="-120"/>
              </a:rPr>
              <a:t>SELECT id_compte,</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    NVL(devise, 'TND')   AS devise,</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    solde,</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    TO_CHAR(date_ouverture,'DD/MM/YYYY') AS date_ouverture</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FROM Compte</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ORDER BY date_ouverture DESC;</a:t>
            </a:r>
            <a:endParaRPr lang="en-US" sz="700" dirty="0"/>
          </a:p>
        </p:txBody>
      </p:sp>
      <p:sp>
        <p:nvSpPr>
          <p:cNvPr id="9" name="Text 7"/>
          <p:cNvSpPr/>
          <p:nvPr/>
        </p:nvSpPr>
        <p:spPr>
          <a:xfrm>
            <a:off x="210312" y="2779776"/>
            <a:ext cx="3657600" cy="201168"/>
          </a:xfrm>
          <a:prstGeom prst="rect">
            <a:avLst/>
          </a:prstGeom>
          <a:noFill/>
          <a:ln/>
        </p:spPr>
        <p:txBody>
          <a:bodyPr wrap="square" rtlCol="0" anchor="ctr"/>
          <a:lstStyle/>
          <a:p>
            <a:pPr marL="0" indent="0">
              <a:buNone/>
            </a:pPr>
            <a:r>
              <a:rPr lang="en-US" sz="850" b="1" dirty="0">
                <a:solidFill>
                  <a:srgbClr val="0891B2"/>
                </a:solidFill>
                <a:latin typeface="Calibri" pitchFamily="34" charset="0"/>
                <a:ea typeface="Calibri" pitchFamily="34" charset="-122"/>
                <a:cs typeface="Calibri" pitchFamily="34" charset="-120"/>
              </a:rPr>
              <a:t>▶  </a:t>
            </a:r>
            <a:r>
              <a:rPr lang="en-US" sz="850" b="1" dirty="0" err="1" smtClean="0">
                <a:solidFill>
                  <a:srgbClr val="0891B2"/>
                </a:solidFill>
                <a:latin typeface="Calibri" pitchFamily="34" charset="0"/>
                <a:ea typeface="Calibri" pitchFamily="34" charset="-122"/>
                <a:cs typeface="Calibri" pitchFamily="34" charset="-120"/>
              </a:rPr>
              <a:t>Résultats</a:t>
            </a:r>
            <a:r>
              <a:rPr lang="en-US" sz="850" b="1" dirty="0" smtClean="0">
                <a:solidFill>
                  <a:srgbClr val="0891B2"/>
                </a:solidFill>
                <a:latin typeface="Calibri" pitchFamily="34" charset="0"/>
                <a:ea typeface="Calibri" pitchFamily="34" charset="-122"/>
                <a:cs typeface="Calibri" pitchFamily="34" charset="-120"/>
              </a:rPr>
              <a:t> </a:t>
            </a:r>
            <a:r>
              <a:rPr lang="en-US" sz="850" b="1" dirty="0">
                <a:solidFill>
                  <a:srgbClr val="0891B2"/>
                </a:solidFill>
                <a:latin typeface="Calibri" pitchFamily="34" charset="0"/>
                <a:ea typeface="Calibri" pitchFamily="34" charset="-122"/>
                <a:cs typeface="Calibri" pitchFamily="34" charset="-120"/>
              </a:rPr>
              <a:t>:</a:t>
            </a:r>
            <a:endParaRPr lang="en-US" sz="85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210312" y="2999232"/>
          <a:ext cx="8732520" cy="1481328"/>
        </p:xfrm>
        <a:graphic>
          <a:graphicData uri="http://schemas.openxmlformats.org/drawingml/2006/table">
            <a:tbl>
              <a:tblPr/>
              <a:tblGrid>
                <a:gridCol w="2183130"/>
                <a:gridCol w="2183130"/>
                <a:gridCol w="2183130"/>
                <a:gridCol w="2183130"/>
              </a:tblGrid>
              <a:tr h="246888">
                <a:tc>
                  <a:txBody>
                    <a:bodyPr/>
                    <a:lstStyle/>
                    <a:p>
                      <a:pPr marL="0" indent="0" algn="ctr">
                        <a:buNone/>
                      </a:pPr>
                      <a:r>
                        <a:rPr lang="en-US" sz="800" b="1" dirty="0">
                          <a:solidFill>
                            <a:srgbClr val="FFFFFF"/>
                          </a:solidFill>
                          <a:latin typeface="Calibri" pitchFamily="34" charset="0"/>
                          <a:ea typeface="Calibri" pitchFamily="34" charset="-122"/>
                          <a:cs typeface="Calibri" pitchFamily="34" charset="-120"/>
                        </a:rPr>
                        <a:t>ID_COMPTE</a:t>
                      </a:r>
                      <a:endParaRPr lang="en-US" sz="8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B1628"/>
                    </a:solidFill>
                  </a:tcPr>
                </a:tc>
                <a:tc>
                  <a:txBody>
                    <a:bodyPr/>
                    <a:lstStyle/>
                    <a:p>
                      <a:pPr marL="0" indent="0" algn="ctr">
                        <a:buNone/>
                      </a:pPr>
                      <a:r>
                        <a:rPr lang="en-US" sz="800" b="1" dirty="0">
                          <a:solidFill>
                            <a:srgbClr val="FFFFFF"/>
                          </a:solidFill>
                          <a:latin typeface="Calibri" pitchFamily="34" charset="0"/>
                          <a:ea typeface="Calibri" pitchFamily="34" charset="-122"/>
                          <a:cs typeface="Calibri" pitchFamily="34" charset="-120"/>
                        </a:rPr>
                        <a:t>DEVISE</a:t>
                      </a:r>
                      <a:endParaRPr lang="en-US" sz="8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B1628"/>
                    </a:solidFill>
                  </a:tcPr>
                </a:tc>
                <a:tc>
                  <a:txBody>
                    <a:bodyPr/>
                    <a:lstStyle/>
                    <a:p>
                      <a:pPr marL="0" indent="0" algn="ctr">
                        <a:buNone/>
                      </a:pPr>
                      <a:r>
                        <a:rPr lang="en-US" sz="800" b="1" dirty="0">
                          <a:solidFill>
                            <a:srgbClr val="FFFFFF"/>
                          </a:solidFill>
                          <a:latin typeface="Calibri" pitchFamily="34" charset="0"/>
                          <a:ea typeface="Calibri" pitchFamily="34" charset="-122"/>
                          <a:cs typeface="Calibri" pitchFamily="34" charset="-120"/>
                        </a:rPr>
                        <a:t>SOLDE</a:t>
                      </a:r>
                      <a:endParaRPr lang="en-US" sz="8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B1628"/>
                    </a:solidFill>
                  </a:tcPr>
                </a:tc>
                <a:tc>
                  <a:txBody>
                    <a:bodyPr/>
                    <a:lstStyle/>
                    <a:p>
                      <a:pPr marL="0" indent="0" algn="ctr">
                        <a:buNone/>
                      </a:pPr>
                      <a:r>
                        <a:rPr lang="en-US" sz="800" b="1" dirty="0">
                          <a:solidFill>
                            <a:srgbClr val="FFFFFF"/>
                          </a:solidFill>
                          <a:latin typeface="Calibri" pitchFamily="34" charset="0"/>
                          <a:ea typeface="Calibri" pitchFamily="34" charset="-122"/>
                          <a:cs typeface="Calibri" pitchFamily="34" charset="-120"/>
                        </a:rPr>
                        <a:t>DATE_OUVERTURE</a:t>
                      </a:r>
                      <a:endParaRPr lang="en-US" sz="8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B1628"/>
                    </a:solidFill>
                  </a:tcPr>
                </a:tc>
              </a:tr>
              <a:tr h="246888">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2001</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EUR</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12450</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10/01/2026</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246888">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2002</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TND</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5800</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22/06/2025</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r>
              <a:tr h="246888">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2003</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USD</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3200</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15/03/2025</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246888">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2004</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TND</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940</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08/11/2024</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r>
              <a:tr h="246888">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2005</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TND</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310</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01/09/2024</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bl>
          </a:graphicData>
        </a:graphic>
      </p:graphicFrame>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name="Slide 21">
    <p:bg>
      <p:bgPr>
        <a:solidFill>
          <a:srgbClr val="F0F6FF"/>
        </a:solidFill>
        <a:effectLst/>
      </p:bgPr>
    </p:bg>
    <p:spTree>
      <p:nvGrpSpPr>
        <p:cNvPr id="1" name=""/>
        <p:cNvGrpSpPr/>
        <p:nvPr/>
      </p:nvGrpSpPr>
      <p:grpSpPr>
        <a:xfrm>
          <a:off x="0" y="0"/>
          <a:ext cx="0" cy="0"/>
          <a:chOff x="0" y="0"/>
          <a:chExt cx="0" cy="0"/>
        </a:xfrm>
      </p:grpSpPr>
      <p:sp>
        <p:nvSpPr>
          <p:cNvPr id="2" name="Shape 0"/>
          <p:cNvSpPr/>
          <p:nvPr/>
        </p:nvSpPr>
        <p:spPr>
          <a:xfrm>
            <a:off x="0" y="0"/>
            <a:ext cx="118872" cy="5143500"/>
          </a:xfrm>
          <a:prstGeom prst="rect">
            <a:avLst/>
          </a:prstGeom>
          <a:solidFill>
            <a:srgbClr val="0891B2"/>
          </a:solidFill>
          <a:ln w="12700">
            <a:solidFill>
              <a:srgbClr val="0891B2"/>
            </a:solidFill>
            <a:prstDash val="solid"/>
          </a:ln>
        </p:spPr>
      </p:sp>
      <p:sp>
        <p:nvSpPr>
          <p:cNvPr id="3" name="Shape 1"/>
          <p:cNvSpPr/>
          <p:nvPr/>
        </p:nvSpPr>
        <p:spPr>
          <a:xfrm>
            <a:off x="210312" y="91440"/>
            <a:ext cx="640080" cy="310896"/>
          </a:xfrm>
          <a:prstGeom prst="rect">
            <a:avLst/>
          </a:prstGeom>
          <a:solidFill>
            <a:srgbClr val="0891B2"/>
          </a:solidFill>
          <a:ln w="12700">
            <a:solidFill>
              <a:srgbClr val="0891B2"/>
            </a:solidFill>
            <a:prstDash val="solid"/>
          </a:ln>
        </p:spPr>
      </p:sp>
      <p:sp>
        <p:nvSpPr>
          <p:cNvPr id="4" name="Text 2"/>
          <p:cNvSpPr/>
          <p:nvPr/>
        </p:nvSpPr>
        <p:spPr>
          <a:xfrm>
            <a:off x="210312" y="91440"/>
            <a:ext cx="640080"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R14</a:t>
            </a:r>
            <a:endParaRPr lang="en-US" sz="1200" dirty="0"/>
          </a:p>
        </p:txBody>
      </p:sp>
      <p:sp>
        <p:nvSpPr>
          <p:cNvPr id="5" name="Text 3"/>
          <p:cNvSpPr/>
          <p:nvPr/>
        </p:nvSpPr>
        <p:spPr>
          <a:xfrm>
            <a:off x="932688" y="91440"/>
            <a:ext cx="6583680" cy="310896"/>
          </a:xfrm>
          <a:prstGeom prst="rect">
            <a:avLst/>
          </a:prstGeom>
          <a:noFill/>
          <a:ln/>
        </p:spPr>
        <p:txBody>
          <a:bodyPr wrap="square" rtlCol="0" anchor="ctr"/>
          <a:lstStyle/>
          <a:p>
            <a:pPr marL="0" indent="0">
              <a:buNone/>
            </a:pPr>
            <a:r>
              <a:rPr lang="en-US" sz="1350" b="1" dirty="0">
                <a:solidFill>
                  <a:srgbClr val="1E293B"/>
                </a:solidFill>
                <a:latin typeface="Calibri" pitchFamily="34" charset="0"/>
                <a:ea typeface="Calibri" pitchFamily="34" charset="-122"/>
                <a:cs typeface="Calibri" pitchFamily="34" charset="-120"/>
              </a:rPr>
              <a:t>JOIN + agrégation — Chiffre d'affaires par commerçant</a:t>
            </a:r>
            <a:endParaRPr lang="en-US" sz="1350" dirty="0"/>
          </a:p>
        </p:txBody>
      </p:sp>
      <p:sp>
        <p:nvSpPr>
          <p:cNvPr id="6" name="Text 4"/>
          <p:cNvSpPr/>
          <p:nvPr/>
        </p:nvSpPr>
        <p:spPr>
          <a:xfrm>
            <a:off x="210312" y="429768"/>
            <a:ext cx="8732520" cy="246888"/>
          </a:xfrm>
          <a:prstGeom prst="rect">
            <a:avLst/>
          </a:prstGeom>
          <a:noFill/>
          <a:ln/>
        </p:spPr>
        <p:txBody>
          <a:bodyPr wrap="square" rtlCol="0" anchor="ctr"/>
          <a:lstStyle/>
          <a:p>
            <a:pPr marL="0" indent="0">
              <a:buNone/>
            </a:pPr>
            <a:r>
              <a:rPr lang="en-US" sz="1000" i="1" dirty="0">
                <a:solidFill>
                  <a:srgbClr val="475569"/>
                </a:solidFill>
                <a:latin typeface="Calibri" pitchFamily="34" charset="0"/>
                <a:ea typeface="Calibri" pitchFamily="34" charset="-122"/>
                <a:cs typeface="Calibri" pitchFamily="34" charset="-120"/>
              </a:rPr>
              <a:t>Total des montants, nombre de transactions et panier moyen pour chaque commerçant</a:t>
            </a:r>
            <a:endParaRPr lang="en-US" sz="1000" dirty="0"/>
          </a:p>
        </p:txBody>
      </p:sp>
      <p:sp>
        <p:nvSpPr>
          <p:cNvPr id="7" name="Shape 5"/>
          <p:cNvSpPr/>
          <p:nvPr/>
        </p:nvSpPr>
        <p:spPr>
          <a:xfrm>
            <a:off x="210312" y="704088"/>
            <a:ext cx="8732520" cy="2011680"/>
          </a:xfrm>
          <a:prstGeom prst="rect">
            <a:avLst/>
          </a:prstGeom>
          <a:solidFill>
            <a:srgbClr val="0F1E2E"/>
          </a:solidFill>
          <a:ln w="6350">
            <a:solidFill>
              <a:srgbClr val="1E3A5F"/>
            </a:solidFill>
            <a:prstDash val="solid"/>
          </a:ln>
        </p:spPr>
      </p:sp>
      <p:sp>
        <p:nvSpPr>
          <p:cNvPr id="8" name="Text 6"/>
          <p:cNvSpPr/>
          <p:nvPr/>
        </p:nvSpPr>
        <p:spPr>
          <a:xfrm>
            <a:off x="292608" y="731520"/>
            <a:ext cx="8549640" cy="1920240"/>
          </a:xfrm>
          <a:prstGeom prst="rect">
            <a:avLst/>
          </a:prstGeom>
          <a:noFill/>
          <a:ln/>
        </p:spPr>
        <p:txBody>
          <a:bodyPr wrap="square" lIns="38100" tIns="38100" rIns="38100" bIns="38100" rtlCol="0" anchor="t"/>
          <a:lstStyle/>
          <a:p>
            <a:pPr marL="0" indent="0">
              <a:buNone/>
            </a:pPr>
            <a:r>
              <a:rPr lang="en-US" sz="700" dirty="0">
                <a:solidFill>
                  <a:srgbClr val="CBD5E1"/>
                </a:solidFill>
                <a:latin typeface="Consolas" pitchFamily="34" charset="0"/>
                <a:ea typeface="Consolas" pitchFamily="34" charset="-122"/>
                <a:cs typeface="Consolas" pitchFamily="34" charset="-120"/>
              </a:rPr>
              <a:t>SELECT CO.id_commercant, CO.nom_commercant,</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    CC.libelle AS categorie,</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    COUNT(T.id_transaction) AS nb_transactions,</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    SUM(T.montant)          AS ca_total,</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    ROUND(AVG(T.montant),2) AS panier_moyen</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FROM Commercant CO</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JOIN Categories_Commerces CC ON CC.id_categorie = CO.id_categorie</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LEFT JOIN Transaction T      ON T.id_commercant = CO.id_commercant</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GROUP BY CO.id_commercant, CO.nom_commercant, CC.libelle</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ORDER BY ca_total DESC NULLS LAST;</a:t>
            </a:r>
            <a:endParaRPr lang="en-US" sz="700" dirty="0"/>
          </a:p>
        </p:txBody>
      </p:sp>
      <p:sp>
        <p:nvSpPr>
          <p:cNvPr id="9" name="Text 7"/>
          <p:cNvSpPr/>
          <p:nvPr/>
        </p:nvSpPr>
        <p:spPr>
          <a:xfrm>
            <a:off x="210312" y="2779776"/>
            <a:ext cx="3657600" cy="201168"/>
          </a:xfrm>
          <a:prstGeom prst="rect">
            <a:avLst/>
          </a:prstGeom>
          <a:noFill/>
          <a:ln/>
        </p:spPr>
        <p:txBody>
          <a:bodyPr wrap="square" rtlCol="0" anchor="ctr"/>
          <a:lstStyle/>
          <a:p>
            <a:pPr marL="0" indent="0">
              <a:buNone/>
            </a:pPr>
            <a:r>
              <a:rPr lang="en-US" sz="850" b="1" dirty="0">
                <a:solidFill>
                  <a:srgbClr val="0891B2"/>
                </a:solidFill>
                <a:latin typeface="Calibri" pitchFamily="34" charset="0"/>
                <a:ea typeface="Calibri" pitchFamily="34" charset="-122"/>
                <a:cs typeface="Calibri" pitchFamily="34" charset="-120"/>
              </a:rPr>
              <a:t>▶  </a:t>
            </a:r>
            <a:r>
              <a:rPr lang="en-US" sz="850" b="1" dirty="0" err="1" smtClean="0">
                <a:solidFill>
                  <a:srgbClr val="0891B2"/>
                </a:solidFill>
                <a:latin typeface="Calibri" pitchFamily="34" charset="0"/>
                <a:ea typeface="Calibri" pitchFamily="34" charset="-122"/>
                <a:cs typeface="Calibri" pitchFamily="34" charset="-120"/>
              </a:rPr>
              <a:t>Résultats</a:t>
            </a:r>
            <a:r>
              <a:rPr lang="en-US" sz="850" b="1" dirty="0" smtClean="0">
                <a:solidFill>
                  <a:srgbClr val="0891B2"/>
                </a:solidFill>
                <a:latin typeface="Calibri" pitchFamily="34" charset="0"/>
                <a:ea typeface="Calibri" pitchFamily="34" charset="-122"/>
                <a:cs typeface="Calibri" pitchFamily="34" charset="-120"/>
              </a:rPr>
              <a:t> :</a:t>
            </a:r>
            <a:endParaRPr lang="en-US" sz="85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210312" y="2999232"/>
          <a:ext cx="8732520" cy="1481328"/>
        </p:xfrm>
        <a:graphic>
          <a:graphicData uri="http://schemas.openxmlformats.org/drawingml/2006/table">
            <a:tbl>
              <a:tblPr/>
              <a:tblGrid>
                <a:gridCol w="1455420"/>
                <a:gridCol w="1455420"/>
                <a:gridCol w="1455420"/>
                <a:gridCol w="1455420"/>
                <a:gridCol w="1455420"/>
                <a:gridCol w="1455420"/>
              </a:tblGrid>
              <a:tr h="246888">
                <a:tc>
                  <a:txBody>
                    <a:bodyPr/>
                    <a:lstStyle/>
                    <a:p>
                      <a:pPr marL="0" indent="0" algn="ctr">
                        <a:buNone/>
                      </a:pPr>
                      <a:r>
                        <a:rPr lang="en-US" sz="800" b="1" dirty="0">
                          <a:solidFill>
                            <a:srgbClr val="FFFFFF"/>
                          </a:solidFill>
                          <a:latin typeface="Calibri" pitchFamily="34" charset="0"/>
                          <a:ea typeface="Calibri" pitchFamily="34" charset="-122"/>
                          <a:cs typeface="Calibri" pitchFamily="34" charset="-120"/>
                        </a:rPr>
                        <a:t>ID_COMM</a:t>
                      </a:r>
                      <a:endParaRPr lang="en-US" sz="8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B1628"/>
                    </a:solidFill>
                  </a:tcPr>
                </a:tc>
                <a:tc>
                  <a:txBody>
                    <a:bodyPr/>
                    <a:lstStyle/>
                    <a:p>
                      <a:pPr marL="0" indent="0" algn="ctr">
                        <a:buNone/>
                      </a:pPr>
                      <a:r>
                        <a:rPr lang="en-US" sz="800" b="1" dirty="0">
                          <a:solidFill>
                            <a:srgbClr val="FFFFFF"/>
                          </a:solidFill>
                          <a:latin typeface="Calibri" pitchFamily="34" charset="0"/>
                          <a:ea typeface="Calibri" pitchFamily="34" charset="-122"/>
                          <a:cs typeface="Calibri" pitchFamily="34" charset="-120"/>
                        </a:rPr>
                        <a:t>NOM_COMMERCANT</a:t>
                      </a:r>
                      <a:endParaRPr lang="en-US" sz="8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B1628"/>
                    </a:solidFill>
                  </a:tcPr>
                </a:tc>
                <a:tc>
                  <a:txBody>
                    <a:bodyPr/>
                    <a:lstStyle/>
                    <a:p>
                      <a:pPr marL="0" indent="0" algn="ctr">
                        <a:buNone/>
                      </a:pPr>
                      <a:r>
                        <a:rPr lang="en-US" sz="800" b="1" dirty="0">
                          <a:solidFill>
                            <a:srgbClr val="FFFFFF"/>
                          </a:solidFill>
                          <a:latin typeface="Calibri" pitchFamily="34" charset="0"/>
                          <a:ea typeface="Calibri" pitchFamily="34" charset="-122"/>
                          <a:cs typeface="Calibri" pitchFamily="34" charset="-120"/>
                        </a:rPr>
                        <a:t>CATEGORIE</a:t>
                      </a:r>
                      <a:endParaRPr lang="en-US" sz="8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B1628"/>
                    </a:solidFill>
                  </a:tcPr>
                </a:tc>
                <a:tc>
                  <a:txBody>
                    <a:bodyPr/>
                    <a:lstStyle/>
                    <a:p>
                      <a:pPr marL="0" indent="0" algn="ctr">
                        <a:buNone/>
                      </a:pPr>
                      <a:r>
                        <a:rPr lang="en-US" sz="800" b="1" dirty="0">
                          <a:solidFill>
                            <a:srgbClr val="FFFFFF"/>
                          </a:solidFill>
                          <a:latin typeface="Calibri" pitchFamily="34" charset="0"/>
                          <a:ea typeface="Calibri" pitchFamily="34" charset="-122"/>
                          <a:cs typeface="Calibri" pitchFamily="34" charset="-120"/>
                        </a:rPr>
                        <a:t>NB_TRANS</a:t>
                      </a:r>
                      <a:endParaRPr lang="en-US" sz="8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B1628"/>
                    </a:solidFill>
                  </a:tcPr>
                </a:tc>
                <a:tc>
                  <a:txBody>
                    <a:bodyPr/>
                    <a:lstStyle/>
                    <a:p>
                      <a:pPr marL="0" indent="0" algn="ctr">
                        <a:buNone/>
                      </a:pPr>
                      <a:r>
                        <a:rPr lang="en-US" sz="800" b="1" dirty="0">
                          <a:solidFill>
                            <a:srgbClr val="FFFFFF"/>
                          </a:solidFill>
                          <a:latin typeface="Calibri" pitchFamily="34" charset="0"/>
                          <a:ea typeface="Calibri" pitchFamily="34" charset="-122"/>
                          <a:cs typeface="Calibri" pitchFamily="34" charset="-120"/>
                        </a:rPr>
                        <a:t>CA_TOTAL</a:t>
                      </a:r>
                      <a:endParaRPr lang="en-US" sz="8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B1628"/>
                    </a:solidFill>
                  </a:tcPr>
                </a:tc>
                <a:tc>
                  <a:txBody>
                    <a:bodyPr/>
                    <a:lstStyle/>
                    <a:p>
                      <a:pPr marL="0" indent="0" algn="ctr">
                        <a:buNone/>
                      </a:pPr>
                      <a:r>
                        <a:rPr lang="en-US" sz="800" b="1" dirty="0">
                          <a:solidFill>
                            <a:srgbClr val="FFFFFF"/>
                          </a:solidFill>
                          <a:latin typeface="Calibri" pitchFamily="34" charset="0"/>
                          <a:ea typeface="Calibri" pitchFamily="34" charset="-122"/>
                          <a:cs typeface="Calibri" pitchFamily="34" charset="-120"/>
                        </a:rPr>
                        <a:t>PANIER_MOYEN</a:t>
                      </a:r>
                      <a:endParaRPr lang="en-US" sz="8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B1628"/>
                    </a:solidFill>
                  </a:tcPr>
                </a:tc>
              </a:tr>
              <a:tr h="246888">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401</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Binance</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Crypto-monnaie</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38</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42100</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1107.89</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246888">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402</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Amazon France</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E-commerce</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120</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18500</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154.17</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r>
              <a:tr h="246888">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403</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Emirates Airlines</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Voyage</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22</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9800</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445.45</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246888">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404</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Carrefour TN</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Supermarché</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310</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7200</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23.23</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r>
              <a:tr h="246888">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405</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Casino Royal</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Casino</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15</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3400</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226.67</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bl>
          </a:graphicData>
        </a:graphic>
      </p:graphicFrame>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name="Slide 22">
    <p:bg>
      <p:bgPr>
        <a:solidFill>
          <a:srgbClr val="F0F6FF"/>
        </a:solidFill>
        <a:effectLst/>
      </p:bgPr>
    </p:bg>
    <p:spTree>
      <p:nvGrpSpPr>
        <p:cNvPr id="1" name=""/>
        <p:cNvGrpSpPr/>
        <p:nvPr/>
      </p:nvGrpSpPr>
      <p:grpSpPr>
        <a:xfrm>
          <a:off x="0" y="0"/>
          <a:ext cx="0" cy="0"/>
          <a:chOff x="0" y="0"/>
          <a:chExt cx="0" cy="0"/>
        </a:xfrm>
      </p:grpSpPr>
      <p:sp>
        <p:nvSpPr>
          <p:cNvPr id="2" name="Shape 0"/>
          <p:cNvSpPr/>
          <p:nvPr/>
        </p:nvSpPr>
        <p:spPr>
          <a:xfrm>
            <a:off x="0" y="0"/>
            <a:ext cx="118872" cy="5143500"/>
          </a:xfrm>
          <a:prstGeom prst="rect">
            <a:avLst/>
          </a:prstGeom>
          <a:solidFill>
            <a:srgbClr val="0891B2"/>
          </a:solidFill>
          <a:ln w="12700">
            <a:solidFill>
              <a:srgbClr val="0891B2"/>
            </a:solidFill>
            <a:prstDash val="solid"/>
          </a:ln>
        </p:spPr>
      </p:sp>
      <p:sp>
        <p:nvSpPr>
          <p:cNvPr id="3" name="Shape 1"/>
          <p:cNvSpPr/>
          <p:nvPr/>
        </p:nvSpPr>
        <p:spPr>
          <a:xfrm>
            <a:off x="210312" y="91440"/>
            <a:ext cx="640080" cy="310896"/>
          </a:xfrm>
          <a:prstGeom prst="rect">
            <a:avLst/>
          </a:prstGeom>
          <a:solidFill>
            <a:srgbClr val="0891B2"/>
          </a:solidFill>
          <a:ln w="12700">
            <a:solidFill>
              <a:srgbClr val="0891B2"/>
            </a:solidFill>
            <a:prstDash val="solid"/>
          </a:ln>
        </p:spPr>
      </p:sp>
      <p:sp>
        <p:nvSpPr>
          <p:cNvPr id="4" name="Text 2"/>
          <p:cNvSpPr/>
          <p:nvPr/>
        </p:nvSpPr>
        <p:spPr>
          <a:xfrm>
            <a:off x="210312" y="91440"/>
            <a:ext cx="640080"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R15</a:t>
            </a:r>
            <a:endParaRPr lang="en-US" sz="1200" dirty="0"/>
          </a:p>
        </p:txBody>
      </p:sp>
      <p:sp>
        <p:nvSpPr>
          <p:cNvPr id="5" name="Text 3"/>
          <p:cNvSpPr/>
          <p:nvPr/>
        </p:nvSpPr>
        <p:spPr>
          <a:xfrm>
            <a:off x="932688" y="91440"/>
            <a:ext cx="6583680" cy="310896"/>
          </a:xfrm>
          <a:prstGeom prst="rect">
            <a:avLst/>
          </a:prstGeom>
          <a:noFill/>
          <a:ln/>
        </p:spPr>
        <p:txBody>
          <a:bodyPr wrap="square" rtlCol="0" anchor="ctr"/>
          <a:lstStyle/>
          <a:p>
            <a:pPr marL="0" indent="0">
              <a:buNone/>
            </a:pPr>
            <a:r>
              <a:rPr lang="en-US" sz="1350" b="1" dirty="0">
                <a:solidFill>
                  <a:srgbClr val="1E293B"/>
                </a:solidFill>
                <a:latin typeface="Calibri" pitchFamily="34" charset="0"/>
                <a:ea typeface="Calibri" pitchFamily="34" charset="-122"/>
                <a:cs typeface="Calibri" pitchFamily="34" charset="-120"/>
              </a:rPr>
              <a:t>Sous-requête corrélée — Utilisateurs au-dessus de la moyenne</a:t>
            </a:r>
            <a:endParaRPr lang="en-US" sz="1350" dirty="0"/>
          </a:p>
        </p:txBody>
      </p:sp>
      <p:sp>
        <p:nvSpPr>
          <p:cNvPr id="6" name="Text 4"/>
          <p:cNvSpPr/>
          <p:nvPr/>
        </p:nvSpPr>
        <p:spPr>
          <a:xfrm>
            <a:off x="210312" y="429768"/>
            <a:ext cx="8732520" cy="246888"/>
          </a:xfrm>
          <a:prstGeom prst="rect">
            <a:avLst/>
          </a:prstGeom>
          <a:noFill/>
          <a:ln/>
        </p:spPr>
        <p:txBody>
          <a:bodyPr wrap="square" rtlCol="0" anchor="ctr"/>
          <a:lstStyle/>
          <a:p>
            <a:pPr marL="0" indent="0">
              <a:buNone/>
            </a:pPr>
            <a:r>
              <a:rPr lang="en-US" sz="1000" i="1" dirty="0">
                <a:solidFill>
                  <a:srgbClr val="475569"/>
                </a:solidFill>
                <a:latin typeface="Calibri" pitchFamily="34" charset="0"/>
                <a:ea typeface="Calibri" pitchFamily="34" charset="-122"/>
                <a:cs typeface="Calibri" pitchFamily="34" charset="-120"/>
              </a:rPr>
              <a:t>Utilisateurs dont le solde total est supérieur au solde moyen de tous les comptes</a:t>
            </a:r>
            <a:endParaRPr lang="en-US" sz="1000" dirty="0"/>
          </a:p>
        </p:txBody>
      </p:sp>
      <p:sp>
        <p:nvSpPr>
          <p:cNvPr id="7" name="Shape 5"/>
          <p:cNvSpPr/>
          <p:nvPr/>
        </p:nvSpPr>
        <p:spPr>
          <a:xfrm>
            <a:off x="210312" y="704088"/>
            <a:ext cx="8732520" cy="2011680"/>
          </a:xfrm>
          <a:prstGeom prst="rect">
            <a:avLst/>
          </a:prstGeom>
          <a:solidFill>
            <a:srgbClr val="0F1E2E"/>
          </a:solidFill>
          <a:ln w="6350">
            <a:solidFill>
              <a:srgbClr val="1E3A5F"/>
            </a:solidFill>
            <a:prstDash val="solid"/>
          </a:ln>
        </p:spPr>
      </p:sp>
      <p:sp>
        <p:nvSpPr>
          <p:cNvPr id="8" name="Text 6"/>
          <p:cNvSpPr/>
          <p:nvPr/>
        </p:nvSpPr>
        <p:spPr>
          <a:xfrm>
            <a:off x="292608" y="731520"/>
            <a:ext cx="8549640" cy="1920240"/>
          </a:xfrm>
          <a:prstGeom prst="rect">
            <a:avLst/>
          </a:prstGeom>
          <a:noFill/>
          <a:ln/>
        </p:spPr>
        <p:txBody>
          <a:bodyPr wrap="square" lIns="38100" tIns="38100" rIns="38100" bIns="38100" rtlCol="0" anchor="t"/>
          <a:lstStyle/>
          <a:p>
            <a:pPr marL="0" indent="0">
              <a:buNone/>
            </a:pPr>
            <a:r>
              <a:rPr lang="en-US" sz="700" dirty="0">
                <a:solidFill>
                  <a:srgbClr val="CBD5E1"/>
                </a:solidFill>
                <a:latin typeface="Consolas" pitchFamily="34" charset="0"/>
                <a:ea typeface="Consolas" pitchFamily="34" charset="-122"/>
                <a:cs typeface="Consolas" pitchFamily="34" charset="-120"/>
              </a:rPr>
              <a:t>SELECT U.id_utilisateur,</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    U.nom || ' ' || U.prenom AS utilisateur,</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    SUM(CO.solde)            AS solde_total</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FROM Utilisateur U</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JOIN Est_Titulaire ET ON ET.id_utilisateur = U.id_utilisateur</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JOIN Compte CO        ON CO.id_compte      = ET.id_compte</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GROUP BY U.id_utilisateur, U.nom, U.prenom</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HAVING SUM(CO.solde) &gt; (SELECT AVG(solde) FROM Compte)</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ORDER BY solde_total DESC;</a:t>
            </a:r>
            <a:endParaRPr lang="en-US" sz="700" dirty="0"/>
          </a:p>
        </p:txBody>
      </p:sp>
      <p:sp>
        <p:nvSpPr>
          <p:cNvPr id="9" name="Text 7"/>
          <p:cNvSpPr/>
          <p:nvPr/>
        </p:nvSpPr>
        <p:spPr>
          <a:xfrm>
            <a:off x="210312" y="2779776"/>
            <a:ext cx="3657600" cy="201168"/>
          </a:xfrm>
          <a:prstGeom prst="rect">
            <a:avLst/>
          </a:prstGeom>
          <a:noFill/>
          <a:ln/>
        </p:spPr>
        <p:txBody>
          <a:bodyPr wrap="square" rtlCol="0" anchor="ctr"/>
          <a:lstStyle/>
          <a:p>
            <a:pPr marL="0" indent="0">
              <a:buNone/>
            </a:pPr>
            <a:r>
              <a:rPr lang="en-US" sz="850" b="1" dirty="0">
                <a:solidFill>
                  <a:srgbClr val="0891B2"/>
                </a:solidFill>
                <a:latin typeface="Calibri" pitchFamily="34" charset="0"/>
                <a:ea typeface="Calibri" pitchFamily="34" charset="-122"/>
                <a:cs typeface="Calibri" pitchFamily="34" charset="-120"/>
              </a:rPr>
              <a:t>▶  </a:t>
            </a:r>
            <a:r>
              <a:rPr lang="en-US" sz="850" b="1" dirty="0" err="1" smtClean="0">
                <a:solidFill>
                  <a:srgbClr val="0891B2"/>
                </a:solidFill>
                <a:latin typeface="Calibri" pitchFamily="34" charset="0"/>
                <a:ea typeface="Calibri" pitchFamily="34" charset="-122"/>
                <a:cs typeface="Calibri" pitchFamily="34" charset="-120"/>
              </a:rPr>
              <a:t>Résultats</a:t>
            </a:r>
            <a:r>
              <a:rPr lang="en-US" sz="850" b="1" dirty="0" smtClean="0">
                <a:solidFill>
                  <a:srgbClr val="0891B2"/>
                </a:solidFill>
                <a:latin typeface="Calibri" pitchFamily="34" charset="0"/>
                <a:ea typeface="Calibri" pitchFamily="34" charset="-122"/>
                <a:cs typeface="Calibri" pitchFamily="34" charset="-120"/>
              </a:rPr>
              <a:t> </a:t>
            </a:r>
            <a:r>
              <a:rPr lang="en-US" sz="850" b="1" dirty="0">
                <a:solidFill>
                  <a:srgbClr val="0891B2"/>
                </a:solidFill>
                <a:latin typeface="Calibri" pitchFamily="34" charset="0"/>
                <a:ea typeface="Calibri" pitchFamily="34" charset="-122"/>
                <a:cs typeface="Calibri" pitchFamily="34" charset="-120"/>
              </a:rPr>
              <a:t>:</a:t>
            </a:r>
            <a:endParaRPr lang="en-US" sz="85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210312" y="2999232"/>
          <a:ext cx="8732520" cy="987552"/>
        </p:xfrm>
        <a:graphic>
          <a:graphicData uri="http://schemas.openxmlformats.org/drawingml/2006/table">
            <a:tbl>
              <a:tblPr/>
              <a:tblGrid>
                <a:gridCol w="2910840"/>
                <a:gridCol w="2910840"/>
                <a:gridCol w="2910840"/>
              </a:tblGrid>
              <a:tr h="246888">
                <a:tc>
                  <a:txBody>
                    <a:bodyPr/>
                    <a:lstStyle/>
                    <a:p>
                      <a:pPr marL="0" indent="0" algn="ctr">
                        <a:buNone/>
                      </a:pPr>
                      <a:r>
                        <a:rPr lang="en-US" sz="800" b="1" dirty="0">
                          <a:solidFill>
                            <a:srgbClr val="FFFFFF"/>
                          </a:solidFill>
                          <a:latin typeface="Calibri" pitchFamily="34" charset="0"/>
                          <a:ea typeface="Calibri" pitchFamily="34" charset="-122"/>
                          <a:cs typeface="Calibri" pitchFamily="34" charset="-120"/>
                        </a:rPr>
                        <a:t>ID_UTILISATEUR</a:t>
                      </a:r>
                      <a:endParaRPr lang="en-US" sz="8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B1628"/>
                    </a:solidFill>
                  </a:tcPr>
                </a:tc>
                <a:tc>
                  <a:txBody>
                    <a:bodyPr/>
                    <a:lstStyle/>
                    <a:p>
                      <a:pPr marL="0" indent="0" algn="ctr">
                        <a:buNone/>
                      </a:pPr>
                      <a:r>
                        <a:rPr lang="en-US" sz="800" b="1" dirty="0">
                          <a:solidFill>
                            <a:srgbClr val="FFFFFF"/>
                          </a:solidFill>
                          <a:latin typeface="Calibri" pitchFamily="34" charset="0"/>
                          <a:ea typeface="Calibri" pitchFamily="34" charset="-122"/>
                          <a:cs typeface="Calibri" pitchFamily="34" charset="-120"/>
                        </a:rPr>
                        <a:t>UTILISATEUR</a:t>
                      </a:r>
                      <a:endParaRPr lang="en-US" sz="8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B1628"/>
                    </a:solidFill>
                  </a:tcPr>
                </a:tc>
                <a:tc>
                  <a:txBody>
                    <a:bodyPr/>
                    <a:lstStyle/>
                    <a:p>
                      <a:pPr marL="0" indent="0" algn="ctr">
                        <a:buNone/>
                      </a:pPr>
                      <a:r>
                        <a:rPr lang="en-US" sz="800" b="1" dirty="0">
                          <a:solidFill>
                            <a:srgbClr val="FFFFFF"/>
                          </a:solidFill>
                          <a:latin typeface="Calibri" pitchFamily="34" charset="0"/>
                          <a:ea typeface="Calibri" pitchFamily="34" charset="-122"/>
                          <a:cs typeface="Calibri" pitchFamily="34" charset="-120"/>
                        </a:rPr>
                        <a:t>SOLDE_TOTAL</a:t>
                      </a:r>
                      <a:endParaRPr lang="en-US" sz="8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B1628"/>
                    </a:solidFill>
                  </a:tcPr>
                </a:tc>
              </a:tr>
              <a:tr h="246888">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1</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Anas SAOUDI</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12450</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246888">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3</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Leila TRABELSI</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5800</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r>
              <a:tr h="246888">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2</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Mohamed BATTI</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3200</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bl>
          </a:graphicData>
        </a:graphic>
      </p:graphicFrame>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name="Slide 23">
    <p:bg>
      <p:bgPr>
        <a:solidFill>
          <a:srgbClr val="F0F6FF"/>
        </a:solidFill>
        <a:effectLst/>
      </p:bgPr>
    </p:bg>
    <p:spTree>
      <p:nvGrpSpPr>
        <p:cNvPr id="1" name=""/>
        <p:cNvGrpSpPr/>
        <p:nvPr/>
      </p:nvGrpSpPr>
      <p:grpSpPr>
        <a:xfrm>
          <a:off x="0" y="0"/>
          <a:ext cx="0" cy="0"/>
          <a:chOff x="0" y="0"/>
          <a:chExt cx="0" cy="0"/>
        </a:xfrm>
      </p:grpSpPr>
      <p:sp>
        <p:nvSpPr>
          <p:cNvPr id="2" name="Shape 0"/>
          <p:cNvSpPr/>
          <p:nvPr/>
        </p:nvSpPr>
        <p:spPr>
          <a:xfrm>
            <a:off x="0" y="0"/>
            <a:ext cx="118872" cy="5143500"/>
          </a:xfrm>
          <a:prstGeom prst="rect">
            <a:avLst/>
          </a:prstGeom>
          <a:solidFill>
            <a:srgbClr val="EA580C"/>
          </a:solidFill>
          <a:ln w="12700">
            <a:solidFill>
              <a:srgbClr val="EA580C"/>
            </a:solidFill>
            <a:prstDash val="solid"/>
          </a:ln>
        </p:spPr>
      </p:sp>
      <p:sp>
        <p:nvSpPr>
          <p:cNvPr id="3" name="Shape 1"/>
          <p:cNvSpPr/>
          <p:nvPr/>
        </p:nvSpPr>
        <p:spPr>
          <a:xfrm>
            <a:off x="210312" y="91440"/>
            <a:ext cx="640080" cy="310896"/>
          </a:xfrm>
          <a:prstGeom prst="rect">
            <a:avLst/>
          </a:prstGeom>
          <a:solidFill>
            <a:srgbClr val="EA580C"/>
          </a:solidFill>
          <a:ln w="12700">
            <a:solidFill>
              <a:srgbClr val="EA580C"/>
            </a:solidFill>
            <a:prstDash val="solid"/>
          </a:ln>
        </p:spPr>
      </p:sp>
      <p:sp>
        <p:nvSpPr>
          <p:cNvPr id="4" name="Text 2"/>
          <p:cNvSpPr/>
          <p:nvPr/>
        </p:nvSpPr>
        <p:spPr>
          <a:xfrm>
            <a:off x="210312" y="91440"/>
            <a:ext cx="640080"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R16</a:t>
            </a:r>
            <a:endParaRPr lang="en-US" sz="1200" dirty="0"/>
          </a:p>
        </p:txBody>
      </p:sp>
      <p:sp>
        <p:nvSpPr>
          <p:cNvPr id="5" name="Text 3"/>
          <p:cNvSpPr/>
          <p:nvPr/>
        </p:nvSpPr>
        <p:spPr>
          <a:xfrm>
            <a:off x="7589520" y="118872"/>
            <a:ext cx="1417320" cy="228600"/>
          </a:xfrm>
          <a:prstGeom prst="rect">
            <a:avLst/>
          </a:prstGeom>
          <a:noFill/>
          <a:ln/>
        </p:spPr>
        <p:txBody>
          <a:bodyPr wrap="square" rtlCol="0" anchor="ctr"/>
          <a:lstStyle/>
          <a:p>
            <a:pPr marL="0" indent="0" algn="r">
              <a:buNone/>
            </a:pPr>
            <a:r>
              <a:rPr lang="en-US" sz="700" b="1" dirty="0">
                <a:solidFill>
                  <a:srgbClr val="EA580C"/>
                </a:solidFill>
                <a:latin typeface="Calibri" pitchFamily="34" charset="0"/>
                <a:ea typeface="Calibri" pitchFamily="34" charset="-122"/>
                <a:cs typeface="Calibri" pitchFamily="34" charset="-120"/>
              </a:rPr>
              <a:t>DÉTECTION DE FRAUDE</a:t>
            </a:r>
            <a:endParaRPr lang="en-US" sz="700" dirty="0"/>
          </a:p>
        </p:txBody>
      </p:sp>
      <p:sp>
        <p:nvSpPr>
          <p:cNvPr id="6" name="Text 4"/>
          <p:cNvSpPr/>
          <p:nvPr/>
        </p:nvSpPr>
        <p:spPr>
          <a:xfrm>
            <a:off x="932688" y="91440"/>
            <a:ext cx="6583680" cy="310896"/>
          </a:xfrm>
          <a:prstGeom prst="rect">
            <a:avLst/>
          </a:prstGeom>
          <a:noFill/>
          <a:ln/>
        </p:spPr>
        <p:txBody>
          <a:bodyPr wrap="square" rtlCol="0" anchor="ctr"/>
          <a:lstStyle/>
          <a:p>
            <a:pPr marL="0" indent="0">
              <a:buNone/>
            </a:pPr>
            <a:r>
              <a:rPr lang="en-US" sz="1350" b="1" dirty="0">
                <a:solidFill>
                  <a:srgbClr val="1E293B"/>
                </a:solidFill>
                <a:latin typeface="Calibri" pitchFamily="34" charset="0"/>
                <a:ea typeface="Calibri" pitchFamily="34" charset="-122"/>
                <a:cs typeface="Calibri" pitchFamily="34" charset="-120"/>
              </a:rPr>
              <a:t>Velocity Check — Fraude de vitesse</a:t>
            </a:r>
            <a:endParaRPr lang="en-US" sz="1350" dirty="0"/>
          </a:p>
        </p:txBody>
      </p:sp>
      <p:sp>
        <p:nvSpPr>
          <p:cNvPr id="7" name="Text 5"/>
          <p:cNvSpPr/>
          <p:nvPr/>
        </p:nvSpPr>
        <p:spPr>
          <a:xfrm>
            <a:off x="210312" y="429768"/>
            <a:ext cx="8732520" cy="246888"/>
          </a:xfrm>
          <a:prstGeom prst="rect">
            <a:avLst/>
          </a:prstGeom>
          <a:noFill/>
          <a:ln/>
        </p:spPr>
        <p:txBody>
          <a:bodyPr wrap="square" rtlCol="0" anchor="ctr"/>
          <a:lstStyle/>
          <a:p>
            <a:pPr marL="0" indent="0">
              <a:buNone/>
            </a:pPr>
            <a:r>
              <a:rPr lang="en-US" sz="1000" i="1" dirty="0">
                <a:solidFill>
                  <a:srgbClr val="475569"/>
                </a:solidFill>
                <a:latin typeface="Calibri" pitchFamily="34" charset="0"/>
                <a:ea typeface="Calibri" pitchFamily="34" charset="-122"/>
                <a:cs typeface="Calibri" pitchFamily="34" charset="-120"/>
              </a:rPr>
              <a:t>Détecter les cartes utilisées dans deux pays différents en moins de 2 heures</a:t>
            </a:r>
            <a:endParaRPr lang="en-US" sz="1000" dirty="0"/>
          </a:p>
        </p:txBody>
      </p:sp>
      <p:sp>
        <p:nvSpPr>
          <p:cNvPr id="8" name="Shape 6"/>
          <p:cNvSpPr/>
          <p:nvPr/>
        </p:nvSpPr>
        <p:spPr>
          <a:xfrm>
            <a:off x="210312" y="704088"/>
            <a:ext cx="8732520" cy="2011680"/>
          </a:xfrm>
          <a:prstGeom prst="rect">
            <a:avLst/>
          </a:prstGeom>
          <a:solidFill>
            <a:srgbClr val="0F1E2E"/>
          </a:solidFill>
          <a:ln w="6350">
            <a:solidFill>
              <a:srgbClr val="1E3A5F"/>
            </a:solidFill>
            <a:prstDash val="solid"/>
          </a:ln>
        </p:spPr>
      </p:sp>
      <p:sp>
        <p:nvSpPr>
          <p:cNvPr id="9" name="Text 7"/>
          <p:cNvSpPr/>
          <p:nvPr/>
        </p:nvSpPr>
        <p:spPr>
          <a:xfrm>
            <a:off x="292608" y="731520"/>
            <a:ext cx="8549640" cy="1920240"/>
          </a:xfrm>
          <a:prstGeom prst="rect">
            <a:avLst/>
          </a:prstGeom>
          <a:noFill/>
          <a:ln/>
        </p:spPr>
        <p:txBody>
          <a:bodyPr wrap="square" lIns="38100" tIns="38100" rIns="38100" bIns="38100" rtlCol="0" anchor="t"/>
          <a:lstStyle/>
          <a:p>
            <a:pPr marL="0" indent="0">
              <a:buNone/>
            </a:pPr>
            <a:r>
              <a:rPr lang="en-US" sz="700" dirty="0">
                <a:solidFill>
                  <a:srgbClr val="CBD5E1"/>
                </a:solidFill>
                <a:latin typeface="Consolas" pitchFamily="34" charset="0"/>
                <a:ea typeface="Consolas" pitchFamily="34" charset="-122"/>
                <a:cs typeface="Consolas" pitchFamily="34" charset="-120"/>
              </a:rPr>
              <a:t>SELECT T1.id_carte, T1.pays AS pays_1, T2.pays AS pays_2,</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    TO_CHAR(T1.date_heure,'DD/MM/YYYY HH24:MI') AS heure_trans_1,</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    TO_CHAR(T2.date_heure,'DD/MM/YYYY HH24:MI') AS heure_trans_2,</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    ROUND((T2.date_heure - T1.date_heure)*24,2) AS ecart_heures</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FROM Transaction T1</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JOIN Transaction T2</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    ON  T1.id_carte = T2.id_carte AND T1.id_transaction != T2.id_transaction</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    AND T1.pays != T2.pays AND T2.date_heure &gt; T1.date_heure</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    AND (T2.date_heure - T1.date_heure)*24 &lt; 2</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WHERE T1.id_carte IS NOT NULL</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ORDER BY T1.id_carte, T1.date_heure;</a:t>
            </a:r>
            <a:endParaRPr lang="en-US" sz="700" dirty="0"/>
          </a:p>
        </p:txBody>
      </p:sp>
      <p:sp>
        <p:nvSpPr>
          <p:cNvPr id="10" name="Text 8"/>
          <p:cNvSpPr/>
          <p:nvPr/>
        </p:nvSpPr>
        <p:spPr>
          <a:xfrm>
            <a:off x="210312" y="2779776"/>
            <a:ext cx="3657600" cy="201168"/>
          </a:xfrm>
          <a:prstGeom prst="rect">
            <a:avLst/>
          </a:prstGeom>
          <a:noFill/>
          <a:ln/>
        </p:spPr>
        <p:txBody>
          <a:bodyPr wrap="square" rtlCol="0" anchor="ctr"/>
          <a:lstStyle/>
          <a:p>
            <a:pPr marL="0" indent="0">
              <a:buNone/>
            </a:pPr>
            <a:r>
              <a:rPr lang="en-US" sz="850" b="1" dirty="0">
                <a:solidFill>
                  <a:srgbClr val="EA580C"/>
                </a:solidFill>
                <a:latin typeface="Calibri" pitchFamily="34" charset="0"/>
                <a:ea typeface="Calibri" pitchFamily="34" charset="-122"/>
                <a:cs typeface="Calibri" pitchFamily="34" charset="-120"/>
              </a:rPr>
              <a:t>▶  </a:t>
            </a:r>
            <a:r>
              <a:rPr lang="en-US" sz="850" b="1" dirty="0" err="1" smtClean="0">
                <a:solidFill>
                  <a:srgbClr val="EA580C"/>
                </a:solidFill>
                <a:latin typeface="Calibri" pitchFamily="34" charset="0"/>
                <a:ea typeface="Calibri" pitchFamily="34" charset="-122"/>
                <a:cs typeface="Calibri" pitchFamily="34" charset="-120"/>
              </a:rPr>
              <a:t>Résultats</a:t>
            </a:r>
            <a:r>
              <a:rPr lang="en-US" sz="850" b="1" dirty="0" smtClean="0">
                <a:solidFill>
                  <a:srgbClr val="EA580C"/>
                </a:solidFill>
                <a:latin typeface="Calibri" pitchFamily="34" charset="0"/>
                <a:ea typeface="Calibri" pitchFamily="34" charset="-122"/>
                <a:cs typeface="Calibri" pitchFamily="34" charset="-120"/>
              </a:rPr>
              <a:t> </a:t>
            </a:r>
            <a:r>
              <a:rPr lang="en-US" sz="850" b="1" dirty="0">
                <a:solidFill>
                  <a:srgbClr val="EA580C"/>
                </a:solidFill>
                <a:latin typeface="Calibri" pitchFamily="34" charset="0"/>
                <a:ea typeface="Calibri" pitchFamily="34" charset="-122"/>
                <a:cs typeface="Calibri" pitchFamily="34" charset="-120"/>
              </a:rPr>
              <a:t>:</a:t>
            </a:r>
            <a:endParaRPr lang="en-US" sz="85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210312" y="2999232"/>
          <a:ext cx="8732520" cy="987552"/>
        </p:xfrm>
        <a:graphic>
          <a:graphicData uri="http://schemas.openxmlformats.org/drawingml/2006/table">
            <a:tbl>
              <a:tblPr/>
              <a:tblGrid>
                <a:gridCol w="1455420"/>
                <a:gridCol w="1455420"/>
                <a:gridCol w="1455420"/>
                <a:gridCol w="1455420"/>
                <a:gridCol w="1455420"/>
                <a:gridCol w="1455420"/>
              </a:tblGrid>
              <a:tr h="246888">
                <a:tc>
                  <a:txBody>
                    <a:bodyPr/>
                    <a:lstStyle/>
                    <a:p>
                      <a:pPr marL="0" indent="0" algn="ctr">
                        <a:buNone/>
                      </a:pPr>
                      <a:r>
                        <a:rPr lang="en-US" sz="800" b="1" dirty="0">
                          <a:solidFill>
                            <a:srgbClr val="FFFFFF"/>
                          </a:solidFill>
                          <a:latin typeface="Calibri" pitchFamily="34" charset="0"/>
                          <a:ea typeface="Calibri" pitchFamily="34" charset="-122"/>
                          <a:cs typeface="Calibri" pitchFamily="34" charset="-120"/>
                        </a:rPr>
                        <a:t>ID_CARTE</a:t>
                      </a:r>
                      <a:endParaRPr lang="en-US" sz="8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B1628"/>
                    </a:solidFill>
                  </a:tcPr>
                </a:tc>
                <a:tc>
                  <a:txBody>
                    <a:bodyPr/>
                    <a:lstStyle/>
                    <a:p>
                      <a:pPr marL="0" indent="0" algn="ctr">
                        <a:buNone/>
                      </a:pPr>
                      <a:r>
                        <a:rPr lang="en-US" sz="800" b="1" dirty="0">
                          <a:solidFill>
                            <a:srgbClr val="FFFFFF"/>
                          </a:solidFill>
                          <a:latin typeface="Calibri" pitchFamily="34" charset="0"/>
                          <a:ea typeface="Calibri" pitchFamily="34" charset="-122"/>
                          <a:cs typeface="Calibri" pitchFamily="34" charset="-120"/>
                        </a:rPr>
                        <a:t>PAYS_1</a:t>
                      </a:r>
                      <a:endParaRPr lang="en-US" sz="8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B1628"/>
                    </a:solidFill>
                  </a:tcPr>
                </a:tc>
                <a:tc>
                  <a:txBody>
                    <a:bodyPr/>
                    <a:lstStyle/>
                    <a:p>
                      <a:pPr marL="0" indent="0" algn="ctr">
                        <a:buNone/>
                      </a:pPr>
                      <a:r>
                        <a:rPr lang="en-US" sz="800" b="1" dirty="0">
                          <a:solidFill>
                            <a:srgbClr val="FFFFFF"/>
                          </a:solidFill>
                          <a:latin typeface="Calibri" pitchFamily="34" charset="0"/>
                          <a:ea typeface="Calibri" pitchFamily="34" charset="-122"/>
                          <a:cs typeface="Calibri" pitchFamily="34" charset="-120"/>
                        </a:rPr>
                        <a:t>PAYS_2</a:t>
                      </a:r>
                      <a:endParaRPr lang="en-US" sz="8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B1628"/>
                    </a:solidFill>
                  </a:tcPr>
                </a:tc>
                <a:tc>
                  <a:txBody>
                    <a:bodyPr/>
                    <a:lstStyle/>
                    <a:p>
                      <a:pPr marL="0" indent="0" algn="ctr">
                        <a:buNone/>
                      </a:pPr>
                      <a:r>
                        <a:rPr lang="en-US" sz="800" b="1" dirty="0">
                          <a:solidFill>
                            <a:srgbClr val="FFFFFF"/>
                          </a:solidFill>
                          <a:latin typeface="Calibri" pitchFamily="34" charset="0"/>
                          <a:ea typeface="Calibri" pitchFamily="34" charset="-122"/>
                          <a:cs typeface="Calibri" pitchFamily="34" charset="-120"/>
                        </a:rPr>
                        <a:t>HEURE_TRANS_1</a:t>
                      </a:r>
                      <a:endParaRPr lang="en-US" sz="8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B1628"/>
                    </a:solidFill>
                  </a:tcPr>
                </a:tc>
                <a:tc>
                  <a:txBody>
                    <a:bodyPr/>
                    <a:lstStyle/>
                    <a:p>
                      <a:pPr marL="0" indent="0" algn="ctr">
                        <a:buNone/>
                      </a:pPr>
                      <a:r>
                        <a:rPr lang="en-US" sz="800" b="1" dirty="0">
                          <a:solidFill>
                            <a:srgbClr val="FFFFFF"/>
                          </a:solidFill>
                          <a:latin typeface="Calibri" pitchFamily="34" charset="0"/>
                          <a:ea typeface="Calibri" pitchFamily="34" charset="-122"/>
                          <a:cs typeface="Calibri" pitchFamily="34" charset="-120"/>
                        </a:rPr>
                        <a:t>HEURE_TRANS_2</a:t>
                      </a:r>
                      <a:endParaRPr lang="en-US" sz="8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B1628"/>
                    </a:solidFill>
                  </a:tcPr>
                </a:tc>
                <a:tc>
                  <a:txBody>
                    <a:bodyPr/>
                    <a:lstStyle/>
                    <a:p>
                      <a:pPr marL="0" indent="0" algn="ctr">
                        <a:buNone/>
                      </a:pPr>
                      <a:r>
                        <a:rPr lang="en-US" sz="800" b="1" dirty="0">
                          <a:solidFill>
                            <a:srgbClr val="FFFFFF"/>
                          </a:solidFill>
                          <a:latin typeface="Calibri" pitchFamily="34" charset="0"/>
                          <a:ea typeface="Calibri" pitchFamily="34" charset="-122"/>
                          <a:cs typeface="Calibri" pitchFamily="34" charset="-120"/>
                        </a:rPr>
                        <a:t>ECART_HEURES</a:t>
                      </a:r>
                      <a:endParaRPr lang="en-US" sz="8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B1628"/>
                    </a:solidFill>
                  </a:tcPr>
                </a:tc>
              </a:tr>
              <a:tr h="246888">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301</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TN</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FR</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16/04/2026 08:12</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16/04/2026 09:05</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0.88</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246888">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302</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DE</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US</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15/04/2026 22:30</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15/04/2026 23:47</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1.28</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r>
              <a:tr h="246888">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305</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TN</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MT</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14/04/2026 01:10</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14/04/2026 02:50</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1.67</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bl>
          </a:graphicData>
        </a:graphic>
      </p:graphicFrame>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name="Slide 24">
    <p:bg>
      <p:bgPr>
        <a:solidFill>
          <a:srgbClr val="F0F6FF"/>
        </a:solidFill>
        <a:effectLst/>
      </p:bgPr>
    </p:bg>
    <p:spTree>
      <p:nvGrpSpPr>
        <p:cNvPr id="1" name=""/>
        <p:cNvGrpSpPr/>
        <p:nvPr/>
      </p:nvGrpSpPr>
      <p:grpSpPr>
        <a:xfrm>
          <a:off x="0" y="0"/>
          <a:ext cx="0" cy="0"/>
          <a:chOff x="0" y="0"/>
          <a:chExt cx="0" cy="0"/>
        </a:xfrm>
      </p:grpSpPr>
      <p:sp>
        <p:nvSpPr>
          <p:cNvPr id="2" name="Shape 0"/>
          <p:cNvSpPr/>
          <p:nvPr/>
        </p:nvSpPr>
        <p:spPr>
          <a:xfrm>
            <a:off x="0" y="0"/>
            <a:ext cx="118872" cy="5143500"/>
          </a:xfrm>
          <a:prstGeom prst="rect">
            <a:avLst/>
          </a:prstGeom>
          <a:solidFill>
            <a:srgbClr val="EA580C"/>
          </a:solidFill>
          <a:ln w="12700">
            <a:solidFill>
              <a:srgbClr val="EA580C"/>
            </a:solidFill>
            <a:prstDash val="solid"/>
          </a:ln>
        </p:spPr>
      </p:sp>
      <p:sp>
        <p:nvSpPr>
          <p:cNvPr id="3" name="Shape 1"/>
          <p:cNvSpPr/>
          <p:nvPr/>
        </p:nvSpPr>
        <p:spPr>
          <a:xfrm>
            <a:off x="210312" y="91440"/>
            <a:ext cx="640080" cy="310896"/>
          </a:xfrm>
          <a:prstGeom prst="rect">
            <a:avLst/>
          </a:prstGeom>
          <a:solidFill>
            <a:srgbClr val="EA580C"/>
          </a:solidFill>
          <a:ln w="12700">
            <a:solidFill>
              <a:srgbClr val="EA580C"/>
            </a:solidFill>
            <a:prstDash val="solid"/>
          </a:ln>
        </p:spPr>
      </p:sp>
      <p:sp>
        <p:nvSpPr>
          <p:cNvPr id="4" name="Text 2"/>
          <p:cNvSpPr/>
          <p:nvPr/>
        </p:nvSpPr>
        <p:spPr>
          <a:xfrm>
            <a:off x="210312" y="91440"/>
            <a:ext cx="640080"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R17</a:t>
            </a:r>
            <a:endParaRPr lang="en-US" sz="1200" dirty="0"/>
          </a:p>
        </p:txBody>
      </p:sp>
      <p:sp>
        <p:nvSpPr>
          <p:cNvPr id="5" name="Text 3"/>
          <p:cNvSpPr/>
          <p:nvPr/>
        </p:nvSpPr>
        <p:spPr>
          <a:xfrm>
            <a:off x="7589520" y="118872"/>
            <a:ext cx="1417320" cy="228600"/>
          </a:xfrm>
          <a:prstGeom prst="rect">
            <a:avLst/>
          </a:prstGeom>
          <a:noFill/>
          <a:ln/>
        </p:spPr>
        <p:txBody>
          <a:bodyPr wrap="square" rtlCol="0" anchor="ctr"/>
          <a:lstStyle/>
          <a:p>
            <a:pPr marL="0" indent="0" algn="r">
              <a:buNone/>
            </a:pPr>
            <a:r>
              <a:rPr lang="en-US" sz="700" b="1" dirty="0">
                <a:solidFill>
                  <a:srgbClr val="EA580C"/>
                </a:solidFill>
                <a:latin typeface="Calibri" pitchFamily="34" charset="0"/>
                <a:ea typeface="Calibri" pitchFamily="34" charset="-122"/>
                <a:cs typeface="Calibri" pitchFamily="34" charset="-120"/>
              </a:rPr>
              <a:t>DÉTECTION DE FRAUDE</a:t>
            </a:r>
            <a:endParaRPr lang="en-US" sz="700" dirty="0"/>
          </a:p>
        </p:txBody>
      </p:sp>
      <p:sp>
        <p:nvSpPr>
          <p:cNvPr id="6" name="Text 4"/>
          <p:cNvSpPr/>
          <p:nvPr/>
        </p:nvSpPr>
        <p:spPr>
          <a:xfrm>
            <a:off x="932688" y="91440"/>
            <a:ext cx="6583680" cy="310896"/>
          </a:xfrm>
          <a:prstGeom prst="rect">
            <a:avLst/>
          </a:prstGeom>
          <a:noFill/>
          <a:ln/>
        </p:spPr>
        <p:txBody>
          <a:bodyPr wrap="square" rtlCol="0" anchor="ctr"/>
          <a:lstStyle/>
          <a:p>
            <a:pPr marL="0" indent="0">
              <a:buNone/>
            </a:pPr>
            <a:r>
              <a:rPr lang="en-US" sz="1350" b="1" dirty="0">
                <a:solidFill>
                  <a:srgbClr val="1E293B"/>
                </a:solidFill>
                <a:latin typeface="Calibri" pitchFamily="34" charset="0"/>
                <a:ea typeface="Calibri" pitchFamily="34" charset="-122"/>
                <a:cs typeface="Calibri" pitchFamily="34" charset="-120"/>
              </a:rPr>
              <a:t>Comportement inhabituel — Paiements refusés au Casino</a:t>
            </a:r>
            <a:endParaRPr lang="en-US" sz="1350" dirty="0"/>
          </a:p>
        </p:txBody>
      </p:sp>
      <p:sp>
        <p:nvSpPr>
          <p:cNvPr id="7" name="Text 5"/>
          <p:cNvSpPr/>
          <p:nvPr/>
        </p:nvSpPr>
        <p:spPr>
          <a:xfrm>
            <a:off x="210312" y="429768"/>
            <a:ext cx="8732520" cy="246888"/>
          </a:xfrm>
          <a:prstGeom prst="rect">
            <a:avLst/>
          </a:prstGeom>
          <a:noFill/>
          <a:ln/>
        </p:spPr>
        <p:txBody>
          <a:bodyPr wrap="square" rtlCol="0" anchor="ctr"/>
          <a:lstStyle/>
          <a:p>
            <a:pPr marL="0" indent="0">
              <a:buNone/>
            </a:pPr>
            <a:r>
              <a:rPr lang="en-US" sz="1000" i="1" dirty="0">
                <a:solidFill>
                  <a:srgbClr val="475569"/>
                </a:solidFill>
                <a:latin typeface="Calibri" pitchFamily="34" charset="0"/>
                <a:ea typeface="Calibri" pitchFamily="34" charset="-122"/>
                <a:cs typeface="Calibri" pitchFamily="34" charset="-120"/>
              </a:rPr>
              <a:t>Utilisateurs avec plus de 5 paiements refusés dans la même journée chez un commerçant Casino</a:t>
            </a:r>
            <a:endParaRPr lang="en-US" sz="1000" dirty="0"/>
          </a:p>
        </p:txBody>
      </p:sp>
      <p:sp>
        <p:nvSpPr>
          <p:cNvPr id="8" name="Shape 6"/>
          <p:cNvSpPr/>
          <p:nvPr/>
        </p:nvSpPr>
        <p:spPr>
          <a:xfrm>
            <a:off x="210312" y="704088"/>
            <a:ext cx="8732520" cy="2011680"/>
          </a:xfrm>
          <a:prstGeom prst="rect">
            <a:avLst/>
          </a:prstGeom>
          <a:solidFill>
            <a:srgbClr val="0F1E2E"/>
          </a:solidFill>
          <a:ln w="6350">
            <a:solidFill>
              <a:srgbClr val="1E3A5F"/>
            </a:solidFill>
            <a:prstDash val="solid"/>
          </a:ln>
        </p:spPr>
      </p:sp>
      <p:sp>
        <p:nvSpPr>
          <p:cNvPr id="9" name="Text 7"/>
          <p:cNvSpPr/>
          <p:nvPr/>
        </p:nvSpPr>
        <p:spPr>
          <a:xfrm>
            <a:off x="292608" y="731520"/>
            <a:ext cx="8549640" cy="1920240"/>
          </a:xfrm>
          <a:prstGeom prst="rect">
            <a:avLst/>
          </a:prstGeom>
          <a:noFill/>
          <a:ln/>
        </p:spPr>
        <p:txBody>
          <a:bodyPr wrap="square" lIns="38100" tIns="38100" rIns="38100" bIns="38100" rtlCol="0" anchor="t"/>
          <a:lstStyle/>
          <a:p>
            <a:pPr marL="0" indent="0">
              <a:buNone/>
            </a:pPr>
            <a:r>
              <a:rPr lang="en-US" sz="700" dirty="0">
                <a:solidFill>
                  <a:srgbClr val="CBD5E1"/>
                </a:solidFill>
                <a:latin typeface="Consolas" pitchFamily="34" charset="0"/>
                <a:ea typeface="Consolas" pitchFamily="34" charset="-122"/>
                <a:cs typeface="Consolas" pitchFamily="34" charset="-120"/>
              </a:rPr>
              <a:t>SELECT ET.id_utilisateur, U.nom || ' ' || U.prenom AS utilisateur,</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    TRUNC(T.date_heure) AS jour, COUNT(T.id_transaction) AS nb_paiements_refuses</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FROM Transaction T</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JOIN Commercant CO           ON CO.id_commercant = T.id_commercant</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JOIN Categories_Commerces CC ON CC.id_categorie  = CO.id_categorie</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JOIN Est_Titulaire ET        ON ET.id_compte      = T.id_compte</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JOIN Utilisateur U           ON U.id_utilisateur  = ET.id_utilisateur</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WHERE T.statut = 'REFUSE' AND UPPER(CC.libelle) = 'CASINO'</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GROUP BY ET.id_utilisateur, U.nom, U.prenom, TRUNC(T.date_heure)</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HAVING COUNT(T.id_transaction) &gt; 5 ORDER BY nb_paiements_refuses DESC;</a:t>
            </a:r>
            <a:endParaRPr lang="en-US" sz="700" dirty="0"/>
          </a:p>
        </p:txBody>
      </p:sp>
      <p:sp>
        <p:nvSpPr>
          <p:cNvPr id="10" name="Text 8"/>
          <p:cNvSpPr/>
          <p:nvPr/>
        </p:nvSpPr>
        <p:spPr>
          <a:xfrm>
            <a:off x="210312" y="2779776"/>
            <a:ext cx="3657600" cy="201168"/>
          </a:xfrm>
          <a:prstGeom prst="rect">
            <a:avLst/>
          </a:prstGeom>
          <a:noFill/>
          <a:ln/>
        </p:spPr>
        <p:txBody>
          <a:bodyPr wrap="square" rtlCol="0" anchor="ctr"/>
          <a:lstStyle/>
          <a:p>
            <a:pPr marL="0" indent="0">
              <a:buNone/>
            </a:pPr>
            <a:r>
              <a:rPr lang="en-US" sz="850" b="1" dirty="0">
                <a:solidFill>
                  <a:srgbClr val="EA580C"/>
                </a:solidFill>
                <a:latin typeface="Calibri" pitchFamily="34" charset="0"/>
                <a:ea typeface="Calibri" pitchFamily="34" charset="-122"/>
                <a:cs typeface="Calibri" pitchFamily="34" charset="-120"/>
              </a:rPr>
              <a:t>▶  </a:t>
            </a:r>
            <a:r>
              <a:rPr lang="en-US" sz="850" b="1" dirty="0" err="1" smtClean="0">
                <a:solidFill>
                  <a:srgbClr val="EA580C"/>
                </a:solidFill>
                <a:latin typeface="Calibri" pitchFamily="34" charset="0"/>
                <a:ea typeface="Calibri" pitchFamily="34" charset="-122"/>
                <a:cs typeface="Calibri" pitchFamily="34" charset="-120"/>
              </a:rPr>
              <a:t>Résultats</a:t>
            </a:r>
            <a:r>
              <a:rPr lang="en-US" sz="850" b="1" dirty="0" smtClean="0">
                <a:solidFill>
                  <a:srgbClr val="EA580C"/>
                </a:solidFill>
                <a:latin typeface="Calibri" pitchFamily="34" charset="0"/>
                <a:ea typeface="Calibri" pitchFamily="34" charset="-122"/>
                <a:cs typeface="Calibri" pitchFamily="34" charset="-120"/>
              </a:rPr>
              <a:t> </a:t>
            </a:r>
            <a:r>
              <a:rPr lang="en-US" sz="850" b="1" dirty="0">
                <a:solidFill>
                  <a:srgbClr val="EA580C"/>
                </a:solidFill>
                <a:latin typeface="Calibri" pitchFamily="34" charset="0"/>
                <a:ea typeface="Calibri" pitchFamily="34" charset="-122"/>
                <a:cs typeface="Calibri" pitchFamily="34" charset="-120"/>
              </a:rPr>
              <a:t>:</a:t>
            </a:r>
            <a:endParaRPr lang="en-US" sz="85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210312" y="2999232"/>
          <a:ext cx="8732520" cy="987552"/>
        </p:xfrm>
        <a:graphic>
          <a:graphicData uri="http://schemas.openxmlformats.org/drawingml/2006/table">
            <a:tbl>
              <a:tblPr/>
              <a:tblGrid>
                <a:gridCol w="2183130"/>
                <a:gridCol w="2183130"/>
                <a:gridCol w="2183130"/>
                <a:gridCol w="2183130"/>
              </a:tblGrid>
              <a:tr h="246888">
                <a:tc>
                  <a:txBody>
                    <a:bodyPr/>
                    <a:lstStyle/>
                    <a:p>
                      <a:pPr marL="0" indent="0" algn="ctr">
                        <a:buNone/>
                      </a:pPr>
                      <a:r>
                        <a:rPr lang="en-US" sz="800" b="1" dirty="0">
                          <a:solidFill>
                            <a:srgbClr val="FFFFFF"/>
                          </a:solidFill>
                          <a:latin typeface="Calibri" pitchFamily="34" charset="0"/>
                          <a:ea typeface="Calibri" pitchFamily="34" charset="-122"/>
                          <a:cs typeface="Calibri" pitchFamily="34" charset="-120"/>
                        </a:rPr>
                        <a:t>ID_UTILISATEUR</a:t>
                      </a:r>
                      <a:endParaRPr lang="en-US" sz="8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B1628"/>
                    </a:solidFill>
                  </a:tcPr>
                </a:tc>
                <a:tc>
                  <a:txBody>
                    <a:bodyPr/>
                    <a:lstStyle/>
                    <a:p>
                      <a:pPr marL="0" indent="0" algn="ctr">
                        <a:buNone/>
                      </a:pPr>
                      <a:r>
                        <a:rPr lang="en-US" sz="800" b="1" dirty="0">
                          <a:solidFill>
                            <a:srgbClr val="FFFFFF"/>
                          </a:solidFill>
                          <a:latin typeface="Calibri" pitchFamily="34" charset="0"/>
                          <a:ea typeface="Calibri" pitchFamily="34" charset="-122"/>
                          <a:cs typeface="Calibri" pitchFamily="34" charset="-120"/>
                        </a:rPr>
                        <a:t>UTILISATEUR</a:t>
                      </a:r>
                      <a:endParaRPr lang="en-US" sz="8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B1628"/>
                    </a:solidFill>
                  </a:tcPr>
                </a:tc>
                <a:tc>
                  <a:txBody>
                    <a:bodyPr/>
                    <a:lstStyle/>
                    <a:p>
                      <a:pPr marL="0" indent="0" algn="ctr">
                        <a:buNone/>
                      </a:pPr>
                      <a:r>
                        <a:rPr lang="en-US" sz="800" b="1" dirty="0">
                          <a:solidFill>
                            <a:srgbClr val="FFFFFF"/>
                          </a:solidFill>
                          <a:latin typeface="Calibri" pitchFamily="34" charset="0"/>
                          <a:ea typeface="Calibri" pitchFamily="34" charset="-122"/>
                          <a:cs typeface="Calibri" pitchFamily="34" charset="-120"/>
                        </a:rPr>
                        <a:t>JOUR</a:t>
                      </a:r>
                      <a:endParaRPr lang="en-US" sz="8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B1628"/>
                    </a:solidFill>
                  </a:tcPr>
                </a:tc>
                <a:tc>
                  <a:txBody>
                    <a:bodyPr/>
                    <a:lstStyle/>
                    <a:p>
                      <a:pPr marL="0" indent="0" algn="ctr">
                        <a:buNone/>
                      </a:pPr>
                      <a:r>
                        <a:rPr lang="en-US" sz="800" b="1" dirty="0">
                          <a:solidFill>
                            <a:srgbClr val="FFFFFF"/>
                          </a:solidFill>
                          <a:latin typeface="Calibri" pitchFamily="34" charset="0"/>
                          <a:ea typeface="Calibri" pitchFamily="34" charset="-122"/>
                          <a:cs typeface="Calibri" pitchFamily="34" charset="-120"/>
                        </a:rPr>
                        <a:t>NB_PAIEMENTS_REFUSES</a:t>
                      </a:r>
                      <a:endParaRPr lang="en-US" sz="8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B1628"/>
                    </a:solidFill>
                  </a:tcPr>
                </a:tc>
              </a:tr>
              <a:tr h="246888">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12</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Karim MANSOURI</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12/04/2026</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11</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246888">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7</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Rim BEN ALI</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15/04/2026</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8</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r>
              <a:tr h="246888">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19</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Fares HAMDI</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10/04/2026</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6</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bl>
          </a:graphicData>
        </a:graphic>
      </p:graphicFrame>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name="Slide 25">
    <p:bg>
      <p:bgPr>
        <a:solidFill>
          <a:srgbClr val="F0F6FF"/>
        </a:solidFill>
        <a:effectLst/>
      </p:bgPr>
    </p:bg>
    <p:spTree>
      <p:nvGrpSpPr>
        <p:cNvPr id="1" name=""/>
        <p:cNvGrpSpPr/>
        <p:nvPr/>
      </p:nvGrpSpPr>
      <p:grpSpPr>
        <a:xfrm>
          <a:off x="0" y="0"/>
          <a:ext cx="0" cy="0"/>
          <a:chOff x="0" y="0"/>
          <a:chExt cx="0" cy="0"/>
        </a:xfrm>
      </p:grpSpPr>
      <p:sp>
        <p:nvSpPr>
          <p:cNvPr id="2" name="Shape 0"/>
          <p:cNvSpPr/>
          <p:nvPr/>
        </p:nvSpPr>
        <p:spPr>
          <a:xfrm>
            <a:off x="0" y="0"/>
            <a:ext cx="118872" cy="5143500"/>
          </a:xfrm>
          <a:prstGeom prst="rect">
            <a:avLst/>
          </a:prstGeom>
          <a:solidFill>
            <a:srgbClr val="EA580C"/>
          </a:solidFill>
          <a:ln w="12700">
            <a:solidFill>
              <a:srgbClr val="EA580C"/>
            </a:solidFill>
            <a:prstDash val="solid"/>
          </a:ln>
        </p:spPr>
      </p:sp>
      <p:sp>
        <p:nvSpPr>
          <p:cNvPr id="3" name="Shape 1"/>
          <p:cNvSpPr/>
          <p:nvPr/>
        </p:nvSpPr>
        <p:spPr>
          <a:xfrm>
            <a:off x="210312" y="91440"/>
            <a:ext cx="640080" cy="310896"/>
          </a:xfrm>
          <a:prstGeom prst="rect">
            <a:avLst/>
          </a:prstGeom>
          <a:solidFill>
            <a:srgbClr val="EA580C"/>
          </a:solidFill>
          <a:ln w="12700">
            <a:solidFill>
              <a:srgbClr val="EA580C"/>
            </a:solidFill>
            <a:prstDash val="solid"/>
          </a:ln>
        </p:spPr>
      </p:sp>
      <p:sp>
        <p:nvSpPr>
          <p:cNvPr id="4" name="Text 2"/>
          <p:cNvSpPr/>
          <p:nvPr/>
        </p:nvSpPr>
        <p:spPr>
          <a:xfrm>
            <a:off x="210312" y="91440"/>
            <a:ext cx="640080"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R18</a:t>
            </a:r>
            <a:endParaRPr lang="en-US" sz="1200" dirty="0"/>
          </a:p>
        </p:txBody>
      </p:sp>
      <p:sp>
        <p:nvSpPr>
          <p:cNvPr id="5" name="Text 3"/>
          <p:cNvSpPr/>
          <p:nvPr/>
        </p:nvSpPr>
        <p:spPr>
          <a:xfrm>
            <a:off x="7589520" y="118872"/>
            <a:ext cx="1417320" cy="228600"/>
          </a:xfrm>
          <a:prstGeom prst="rect">
            <a:avLst/>
          </a:prstGeom>
          <a:noFill/>
          <a:ln/>
        </p:spPr>
        <p:txBody>
          <a:bodyPr wrap="square" rtlCol="0" anchor="ctr"/>
          <a:lstStyle/>
          <a:p>
            <a:pPr marL="0" indent="0" algn="r">
              <a:buNone/>
            </a:pPr>
            <a:r>
              <a:rPr lang="en-US" sz="700" b="1" dirty="0">
                <a:solidFill>
                  <a:srgbClr val="EA580C"/>
                </a:solidFill>
                <a:latin typeface="Calibri" pitchFamily="34" charset="0"/>
                <a:ea typeface="Calibri" pitchFamily="34" charset="-122"/>
                <a:cs typeface="Calibri" pitchFamily="34" charset="-120"/>
              </a:rPr>
              <a:t>DÉTECTION DE FRAUDE</a:t>
            </a:r>
            <a:endParaRPr lang="en-US" sz="700" dirty="0"/>
          </a:p>
        </p:txBody>
      </p:sp>
      <p:sp>
        <p:nvSpPr>
          <p:cNvPr id="6" name="Text 4"/>
          <p:cNvSpPr/>
          <p:nvPr/>
        </p:nvSpPr>
        <p:spPr>
          <a:xfrm>
            <a:off x="932688" y="91440"/>
            <a:ext cx="6583680" cy="310896"/>
          </a:xfrm>
          <a:prstGeom prst="rect">
            <a:avLst/>
          </a:prstGeom>
          <a:noFill/>
          <a:ln/>
        </p:spPr>
        <p:txBody>
          <a:bodyPr wrap="square" rtlCol="0" anchor="ctr"/>
          <a:lstStyle/>
          <a:p>
            <a:pPr marL="0" indent="0">
              <a:buNone/>
            </a:pPr>
            <a:r>
              <a:rPr lang="en-US" sz="1350" b="1" dirty="0">
                <a:solidFill>
                  <a:srgbClr val="1E293B"/>
                </a:solidFill>
                <a:latin typeface="Calibri" pitchFamily="34" charset="0"/>
                <a:ea typeface="Calibri" pitchFamily="34" charset="-122"/>
                <a:cs typeface="Calibri" pitchFamily="34" charset="-120"/>
              </a:rPr>
              <a:t>Nouveaux appareils — Virement important depuis appareil récent</a:t>
            </a:r>
            <a:endParaRPr lang="en-US" sz="1350" dirty="0"/>
          </a:p>
        </p:txBody>
      </p:sp>
      <p:sp>
        <p:nvSpPr>
          <p:cNvPr id="7" name="Text 5"/>
          <p:cNvSpPr/>
          <p:nvPr/>
        </p:nvSpPr>
        <p:spPr>
          <a:xfrm>
            <a:off x="210312" y="429768"/>
            <a:ext cx="8732520" cy="246888"/>
          </a:xfrm>
          <a:prstGeom prst="rect">
            <a:avLst/>
          </a:prstGeom>
          <a:noFill/>
          <a:ln/>
        </p:spPr>
        <p:txBody>
          <a:bodyPr wrap="square" rtlCol="0" anchor="ctr"/>
          <a:lstStyle/>
          <a:p>
            <a:pPr marL="0" indent="0">
              <a:buNone/>
            </a:pPr>
            <a:r>
              <a:rPr lang="en-US" sz="1000" i="1" dirty="0">
                <a:solidFill>
                  <a:srgbClr val="475569"/>
                </a:solidFill>
                <a:latin typeface="Calibri" pitchFamily="34" charset="0"/>
                <a:ea typeface="Calibri" pitchFamily="34" charset="-122"/>
                <a:cs typeface="Calibri" pitchFamily="34" charset="-120"/>
              </a:rPr>
              <a:t>Virements &gt; 1 000 effectués depuis un appareil enregistré il y a moins de 7 jours</a:t>
            </a:r>
            <a:endParaRPr lang="en-US" sz="1000" dirty="0"/>
          </a:p>
        </p:txBody>
      </p:sp>
      <p:sp>
        <p:nvSpPr>
          <p:cNvPr id="8" name="Shape 6"/>
          <p:cNvSpPr/>
          <p:nvPr/>
        </p:nvSpPr>
        <p:spPr>
          <a:xfrm>
            <a:off x="210312" y="704088"/>
            <a:ext cx="8732520" cy="2011680"/>
          </a:xfrm>
          <a:prstGeom prst="rect">
            <a:avLst/>
          </a:prstGeom>
          <a:solidFill>
            <a:srgbClr val="0F1E2E"/>
          </a:solidFill>
          <a:ln w="6350">
            <a:solidFill>
              <a:srgbClr val="1E3A5F"/>
            </a:solidFill>
            <a:prstDash val="solid"/>
          </a:ln>
        </p:spPr>
      </p:sp>
      <p:sp>
        <p:nvSpPr>
          <p:cNvPr id="9" name="Text 7"/>
          <p:cNvSpPr/>
          <p:nvPr/>
        </p:nvSpPr>
        <p:spPr>
          <a:xfrm>
            <a:off x="292608" y="731520"/>
            <a:ext cx="8549640" cy="1920240"/>
          </a:xfrm>
          <a:prstGeom prst="rect">
            <a:avLst/>
          </a:prstGeom>
          <a:noFill/>
          <a:ln/>
        </p:spPr>
        <p:txBody>
          <a:bodyPr wrap="square" lIns="38100" tIns="38100" rIns="38100" bIns="38100" rtlCol="0" anchor="t"/>
          <a:lstStyle/>
          <a:p>
            <a:pPr marL="0" indent="0">
              <a:buNone/>
            </a:pPr>
            <a:r>
              <a:rPr lang="en-US" sz="700" dirty="0">
                <a:solidFill>
                  <a:srgbClr val="CBD5E1"/>
                </a:solidFill>
                <a:latin typeface="Consolas" pitchFamily="34" charset="0"/>
                <a:ea typeface="Consolas" pitchFamily="34" charset="-122"/>
                <a:cs typeface="Consolas" pitchFamily="34" charset="-120"/>
              </a:rPr>
              <a:t>SELECT T.id_transaction, U.nom || ' ' || U.prenom AS utilisateur,</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    A.type_appareil,</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    TO_CHAR(A.date_enregistrement,'DD/MM/YYYY') AS date_ajout,</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    T.montant,</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    TO_CHAR(T.date_heure,'DD/MM/YYYY HH24:MI') AS date_transaction</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FROM Transaction T</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JOIN Connexion   C  ON C.id_connexion   = T.id_connexion</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JOIN Appareil    A  ON A.id_appareil    = C.id_appareil</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JOIN Utilisateur U  ON U.id_utilisateur = C.id_utilisateur</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WHERE T.montant &gt; 1000 AND T.type_operation = 'VIREMENT'</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  AND (SYSDATE - A.date_enregistrement) &lt; 7 ORDER BY T.montant DESC;</a:t>
            </a:r>
            <a:endParaRPr lang="en-US" sz="700" dirty="0"/>
          </a:p>
        </p:txBody>
      </p:sp>
      <p:sp>
        <p:nvSpPr>
          <p:cNvPr id="10" name="Text 8"/>
          <p:cNvSpPr/>
          <p:nvPr/>
        </p:nvSpPr>
        <p:spPr>
          <a:xfrm>
            <a:off x="210312" y="2779776"/>
            <a:ext cx="3657600" cy="201168"/>
          </a:xfrm>
          <a:prstGeom prst="rect">
            <a:avLst/>
          </a:prstGeom>
          <a:noFill/>
          <a:ln/>
        </p:spPr>
        <p:txBody>
          <a:bodyPr wrap="square" rtlCol="0" anchor="ctr"/>
          <a:lstStyle/>
          <a:p>
            <a:pPr marL="0" indent="0">
              <a:buNone/>
            </a:pPr>
            <a:r>
              <a:rPr lang="en-US" sz="850" b="1" dirty="0">
                <a:solidFill>
                  <a:srgbClr val="EA580C"/>
                </a:solidFill>
                <a:latin typeface="Calibri" pitchFamily="34" charset="0"/>
                <a:ea typeface="Calibri" pitchFamily="34" charset="-122"/>
                <a:cs typeface="Calibri" pitchFamily="34" charset="-120"/>
              </a:rPr>
              <a:t>▶  </a:t>
            </a:r>
            <a:r>
              <a:rPr lang="en-US" sz="850" b="1" dirty="0" err="1" smtClean="0">
                <a:solidFill>
                  <a:srgbClr val="EA580C"/>
                </a:solidFill>
                <a:latin typeface="Calibri" pitchFamily="34" charset="0"/>
                <a:ea typeface="Calibri" pitchFamily="34" charset="-122"/>
                <a:cs typeface="Calibri" pitchFamily="34" charset="-120"/>
              </a:rPr>
              <a:t>Résultats</a:t>
            </a:r>
            <a:r>
              <a:rPr lang="en-US" sz="850" b="1" dirty="0" smtClean="0">
                <a:solidFill>
                  <a:srgbClr val="EA580C"/>
                </a:solidFill>
                <a:latin typeface="Calibri" pitchFamily="34" charset="0"/>
                <a:ea typeface="Calibri" pitchFamily="34" charset="-122"/>
                <a:cs typeface="Calibri" pitchFamily="34" charset="-120"/>
              </a:rPr>
              <a:t> </a:t>
            </a:r>
            <a:r>
              <a:rPr lang="en-US" sz="850" b="1" dirty="0">
                <a:solidFill>
                  <a:srgbClr val="EA580C"/>
                </a:solidFill>
                <a:latin typeface="Calibri" pitchFamily="34" charset="0"/>
                <a:ea typeface="Calibri" pitchFamily="34" charset="-122"/>
                <a:cs typeface="Calibri" pitchFamily="34" charset="-120"/>
              </a:rPr>
              <a:t>:</a:t>
            </a:r>
            <a:endParaRPr lang="en-US" sz="85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210312" y="2999232"/>
          <a:ext cx="8732520" cy="987552"/>
        </p:xfrm>
        <a:graphic>
          <a:graphicData uri="http://schemas.openxmlformats.org/drawingml/2006/table">
            <a:tbl>
              <a:tblPr/>
              <a:tblGrid>
                <a:gridCol w="1455420"/>
                <a:gridCol w="1455420"/>
                <a:gridCol w="1455420"/>
                <a:gridCol w="1455420"/>
                <a:gridCol w="1455420"/>
                <a:gridCol w="1455420"/>
              </a:tblGrid>
              <a:tr h="246888">
                <a:tc>
                  <a:txBody>
                    <a:bodyPr/>
                    <a:lstStyle/>
                    <a:p>
                      <a:pPr marL="0" indent="0" algn="ctr">
                        <a:buNone/>
                      </a:pPr>
                      <a:r>
                        <a:rPr lang="en-US" sz="800" b="1" dirty="0">
                          <a:solidFill>
                            <a:srgbClr val="FFFFFF"/>
                          </a:solidFill>
                          <a:latin typeface="Calibri" pitchFamily="34" charset="0"/>
                          <a:ea typeface="Calibri" pitchFamily="34" charset="-122"/>
                          <a:cs typeface="Calibri" pitchFamily="34" charset="-120"/>
                        </a:rPr>
                        <a:t>ID_TRANS</a:t>
                      </a:r>
                      <a:endParaRPr lang="en-US" sz="8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B1628"/>
                    </a:solidFill>
                  </a:tcPr>
                </a:tc>
                <a:tc>
                  <a:txBody>
                    <a:bodyPr/>
                    <a:lstStyle/>
                    <a:p>
                      <a:pPr marL="0" indent="0" algn="ctr">
                        <a:buNone/>
                      </a:pPr>
                      <a:r>
                        <a:rPr lang="en-US" sz="800" b="1" dirty="0">
                          <a:solidFill>
                            <a:srgbClr val="FFFFFF"/>
                          </a:solidFill>
                          <a:latin typeface="Calibri" pitchFamily="34" charset="0"/>
                          <a:ea typeface="Calibri" pitchFamily="34" charset="-122"/>
                          <a:cs typeface="Calibri" pitchFamily="34" charset="-120"/>
                        </a:rPr>
                        <a:t>UTILISATEUR</a:t>
                      </a:r>
                      <a:endParaRPr lang="en-US" sz="8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B1628"/>
                    </a:solidFill>
                  </a:tcPr>
                </a:tc>
                <a:tc>
                  <a:txBody>
                    <a:bodyPr/>
                    <a:lstStyle/>
                    <a:p>
                      <a:pPr marL="0" indent="0" algn="ctr">
                        <a:buNone/>
                      </a:pPr>
                      <a:r>
                        <a:rPr lang="en-US" sz="800" b="1" dirty="0">
                          <a:solidFill>
                            <a:srgbClr val="FFFFFF"/>
                          </a:solidFill>
                          <a:latin typeface="Calibri" pitchFamily="34" charset="0"/>
                          <a:ea typeface="Calibri" pitchFamily="34" charset="-122"/>
                          <a:cs typeface="Calibri" pitchFamily="34" charset="-120"/>
                        </a:rPr>
                        <a:t>TYPE_APPAREIL</a:t>
                      </a:r>
                      <a:endParaRPr lang="en-US" sz="8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B1628"/>
                    </a:solidFill>
                  </a:tcPr>
                </a:tc>
                <a:tc>
                  <a:txBody>
                    <a:bodyPr/>
                    <a:lstStyle/>
                    <a:p>
                      <a:pPr marL="0" indent="0" algn="ctr">
                        <a:buNone/>
                      </a:pPr>
                      <a:r>
                        <a:rPr lang="en-US" sz="800" b="1" dirty="0">
                          <a:solidFill>
                            <a:srgbClr val="FFFFFF"/>
                          </a:solidFill>
                          <a:latin typeface="Calibri" pitchFamily="34" charset="0"/>
                          <a:ea typeface="Calibri" pitchFamily="34" charset="-122"/>
                          <a:cs typeface="Calibri" pitchFamily="34" charset="-120"/>
                        </a:rPr>
                        <a:t>DATE_AJOUT</a:t>
                      </a:r>
                      <a:endParaRPr lang="en-US" sz="8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B1628"/>
                    </a:solidFill>
                  </a:tcPr>
                </a:tc>
                <a:tc>
                  <a:txBody>
                    <a:bodyPr/>
                    <a:lstStyle/>
                    <a:p>
                      <a:pPr marL="0" indent="0" algn="ctr">
                        <a:buNone/>
                      </a:pPr>
                      <a:r>
                        <a:rPr lang="en-US" sz="800" b="1" dirty="0">
                          <a:solidFill>
                            <a:srgbClr val="FFFFFF"/>
                          </a:solidFill>
                          <a:latin typeface="Calibri" pitchFamily="34" charset="0"/>
                          <a:ea typeface="Calibri" pitchFamily="34" charset="-122"/>
                          <a:cs typeface="Calibri" pitchFamily="34" charset="-120"/>
                        </a:rPr>
                        <a:t>MONTANT</a:t>
                      </a:r>
                      <a:endParaRPr lang="en-US" sz="8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B1628"/>
                    </a:solidFill>
                  </a:tcPr>
                </a:tc>
                <a:tc>
                  <a:txBody>
                    <a:bodyPr/>
                    <a:lstStyle/>
                    <a:p>
                      <a:pPr marL="0" indent="0" algn="ctr">
                        <a:buNone/>
                      </a:pPr>
                      <a:r>
                        <a:rPr lang="en-US" sz="800" b="1" dirty="0">
                          <a:solidFill>
                            <a:srgbClr val="FFFFFF"/>
                          </a:solidFill>
                          <a:latin typeface="Calibri" pitchFamily="34" charset="0"/>
                          <a:ea typeface="Calibri" pitchFamily="34" charset="-122"/>
                          <a:cs typeface="Calibri" pitchFamily="34" charset="-120"/>
                        </a:rPr>
                        <a:t>DATE_TRANSACTION</a:t>
                      </a:r>
                      <a:endParaRPr lang="en-US" sz="8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B1628"/>
                    </a:solidFill>
                  </a:tcPr>
                </a:tc>
              </a:tr>
              <a:tr h="246888">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6010</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Leila TRABELSI</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iPhone 15 Pro</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14/04/2026</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2850</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16/04/2026 02:13</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246888">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6011</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Mohamed BATTI</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Xiaomi 14</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15/04/2026</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1400</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17/04/2026 03:40</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r>
              <a:tr h="246888">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6012</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Nour CHAABANE</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Samsung Galaxy</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16/04/2026</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1100</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18/04/2026 23:55</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bl>
          </a:graphicData>
        </a:graphic>
      </p:graphicFrame>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name="Slide 26">
    <p:bg>
      <p:bgPr>
        <a:solidFill>
          <a:srgbClr val="F0F6FF"/>
        </a:solidFill>
        <a:effectLst/>
      </p:bgPr>
    </p:bg>
    <p:spTree>
      <p:nvGrpSpPr>
        <p:cNvPr id="1" name=""/>
        <p:cNvGrpSpPr/>
        <p:nvPr/>
      </p:nvGrpSpPr>
      <p:grpSpPr>
        <a:xfrm>
          <a:off x="0" y="0"/>
          <a:ext cx="0" cy="0"/>
          <a:chOff x="0" y="0"/>
          <a:chExt cx="0" cy="0"/>
        </a:xfrm>
      </p:grpSpPr>
      <p:sp>
        <p:nvSpPr>
          <p:cNvPr id="2" name="Shape 0"/>
          <p:cNvSpPr/>
          <p:nvPr/>
        </p:nvSpPr>
        <p:spPr>
          <a:xfrm>
            <a:off x="0" y="0"/>
            <a:ext cx="118872" cy="5143500"/>
          </a:xfrm>
          <a:prstGeom prst="rect">
            <a:avLst/>
          </a:prstGeom>
          <a:solidFill>
            <a:srgbClr val="EA580C"/>
          </a:solidFill>
          <a:ln w="12700">
            <a:solidFill>
              <a:srgbClr val="EA580C"/>
            </a:solidFill>
            <a:prstDash val="solid"/>
          </a:ln>
        </p:spPr>
      </p:sp>
      <p:sp>
        <p:nvSpPr>
          <p:cNvPr id="3" name="Shape 1"/>
          <p:cNvSpPr/>
          <p:nvPr/>
        </p:nvSpPr>
        <p:spPr>
          <a:xfrm>
            <a:off x="210312" y="91440"/>
            <a:ext cx="640080" cy="310896"/>
          </a:xfrm>
          <a:prstGeom prst="rect">
            <a:avLst/>
          </a:prstGeom>
          <a:solidFill>
            <a:srgbClr val="EA580C"/>
          </a:solidFill>
          <a:ln w="12700">
            <a:solidFill>
              <a:srgbClr val="EA580C"/>
            </a:solidFill>
            <a:prstDash val="solid"/>
          </a:ln>
        </p:spPr>
      </p:sp>
      <p:sp>
        <p:nvSpPr>
          <p:cNvPr id="4" name="Text 2"/>
          <p:cNvSpPr/>
          <p:nvPr/>
        </p:nvSpPr>
        <p:spPr>
          <a:xfrm>
            <a:off x="210312" y="91440"/>
            <a:ext cx="640080"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R19</a:t>
            </a:r>
            <a:endParaRPr lang="en-US" sz="1200" dirty="0"/>
          </a:p>
        </p:txBody>
      </p:sp>
      <p:sp>
        <p:nvSpPr>
          <p:cNvPr id="5" name="Text 3"/>
          <p:cNvSpPr/>
          <p:nvPr/>
        </p:nvSpPr>
        <p:spPr>
          <a:xfrm>
            <a:off x="7589520" y="118872"/>
            <a:ext cx="1417320" cy="228600"/>
          </a:xfrm>
          <a:prstGeom prst="rect">
            <a:avLst/>
          </a:prstGeom>
          <a:noFill/>
          <a:ln/>
        </p:spPr>
        <p:txBody>
          <a:bodyPr wrap="square" rtlCol="0" anchor="ctr"/>
          <a:lstStyle/>
          <a:p>
            <a:pPr marL="0" indent="0" algn="r">
              <a:buNone/>
            </a:pPr>
            <a:r>
              <a:rPr lang="en-US" sz="700" b="1" dirty="0">
                <a:solidFill>
                  <a:srgbClr val="EA580C"/>
                </a:solidFill>
                <a:latin typeface="Calibri" pitchFamily="34" charset="0"/>
                <a:ea typeface="Calibri" pitchFamily="34" charset="-122"/>
                <a:cs typeface="Calibri" pitchFamily="34" charset="-120"/>
              </a:rPr>
              <a:t>DÉTECTION DE FRAUDE</a:t>
            </a:r>
            <a:endParaRPr lang="en-US" sz="700" dirty="0"/>
          </a:p>
        </p:txBody>
      </p:sp>
      <p:sp>
        <p:nvSpPr>
          <p:cNvPr id="6" name="Text 4"/>
          <p:cNvSpPr/>
          <p:nvPr/>
        </p:nvSpPr>
        <p:spPr>
          <a:xfrm>
            <a:off x="932688" y="91440"/>
            <a:ext cx="6583680" cy="310896"/>
          </a:xfrm>
          <a:prstGeom prst="rect">
            <a:avLst/>
          </a:prstGeom>
          <a:noFill/>
          <a:ln/>
        </p:spPr>
        <p:txBody>
          <a:bodyPr wrap="square" rtlCol="0" anchor="ctr"/>
          <a:lstStyle/>
          <a:p>
            <a:pPr marL="0" indent="0">
              <a:buNone/>
            </a:pPr>
            <a:r>
              <a:rPr lang="en-US" sz="1350" b="1" dirty="0">
                <a:solidFill>
                  <a:srgbClr val="1E293B"/>
                </a:solidFill>
                <a:latin typeface="Calibri" pitchFamily="34" charset="0"/>
                <a:ea typeface="Calibri" pitchFamily="34" charset="-122"/>
                <a:cs typeface="Calibri" pitchFamily="34" charset="-120"/>
              </a:rPr>
              <a:t>Scoring de risque — Taux de fraude par commerçant</a:t>
            </a:r>
            <a:endParaRPr lang="en-US" sz="1350" dirty="0"/>
          </a:p>
        </p:txBody>
      </p:sp>
      <p:sp>
        <p:nvSpPr>
          <p:cNvPr id="7" name="Text 5"/>
          <p:cNvSpPr/>
          <p:nvPr/>
        </p:nvSpPr>
        <p:spPr>
          <a:xfrm>
            <a:off x="210312" y="429768"/>
            <a:ext cx="8732520" cy="246888"/>
          </a:xfrm>
          <a:prstGeom prst="rect">
            <a:avLst/>
          </a:prstGeom>
          <a:noFill/>
          <a:ln/>
        </p:spPr>
        <p:txBody>
          <a:bodyPr wrap="square" rtlCol="0" anchor="ctr"/>
          <a:lstStyle/>
          <a:p>
            <a:pPr marL="0" indent="0">
              <a:buNone/>
            </a:pPr>
            <a:r>
              <a:rPr lang="en-US" sz="1000" i="1" dirty="0">
                <a:solidFill>
                  <a:srgbClr val="475569"/>
                </a:solidFill>
                <a:latin typeface="Calibri" pitchFamily="34" charset="0"/>
                <a:ea typeface="Calibri" pitchFamily="34" charset="-122"/>
                <a:cs typeface="Calibri" pitchFamily="34" charset="-120"/>
              </a:rPr>
              <a:t>Commerçants dont le taux de transactions suspectes dépasse 5 % sur les 30 derniers jours</a:t>
            </a:r>
            <a:endParaRPr lang="en-US" sz="1000" dirty="0"/>
          </a:p>
        </p:txBody>
      </p:sp>
      <p:sp>
        <p:nvSpPr>
          <p:cNvPr id="8" name="Shape 6"/>
          <p:cNvSpPr/>
          <p:nvPr/>
        </p:nvSpPr>
        <p:spPr>
          <a:xfrm>
            <a:off x="210312" y="704088"/>
            <a:ext cx="8732520" cy="2011680"/>
          </a:xfrm>
          <a:prstGeom prst="rect">
            <a:avLst/>
          </a:prstGeom>
          <a:solidFill>
            <a:srgbClr val="0F1E2E"/>
          </a:solidFill>
          <a:ln w="6350">
            <a:solidFill>
              <a:srgbClr val="1E3A5F"/>
            </a:solidFill>
            <a:prstDash val="solid"/>
          </a:ln>
        </p:spPr>
      </p:sp>
      <p:sp>
        <p:nvSpPr>
          <p:cNvPr id="9" name="Text 7"/>
          <p:cNvSpPr/>
          <p:nvPr/>
        </p:nvSpPr>
        <p:spPr>
          <a:xfrm>
            <a:off x="292608" y="731520"/>
            <a:ext cx="8549640" cy="1920240"/>
          </a:xfrm>
          <a:prstGeom prst="rect">
            <a:avLst/>
          </a:prstGeom>
          <a:noFill/>
          <a:ln/>
        </p:spPr>
        <p:txBody>
          <a:bodyPr wrap="square" lIns="38100" tIns="38100" rIns="38100" bIns="38100" rtlCol="0" anchor="t"/>
          <a:lstStyle/>
          <a:p>
            <a:pPr marL="0" indent="0">
              <a:buNone/>
            </a:pPr>
            <a:r>
              <a:rPr lang="en-US" sz="700" dirty="0">
                <a:solidFill>
                  <a:srgbClr val="CBD5E1"/>
                </a:solidFill>
                <a:latin typeface="Consolas" pitchFamily="34" charset="0"/>
                <a:ea typeface="Consolas" pitchFamily="34" charset="-122"/>
                <a:cs typeface="Consolas" pitchFamily="34" charset="-120"/>
              </a:rPr>
              <a:t>SELECT CO.id_commercant, CO.nom_commercant, CC.libelle AS categorie,</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    COUNT(T.id_transaction)       AS total_transactions,</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    COUNT(TS.id_transac_suspecte) AS transactions_suspectes,</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    ROUND(COUNT(TS.id_transac_suspecte)*100.0</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          /NULLIF(COUNT(T.id_transaction),0),2) AS taux_fraude_pct</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FROM Commercant CO</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JOIN Categories_Commerces CC   ON CC.id_categorie     = CO.id_categorie</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JOIN Transaction T             ON T.id_commercant     = CO.id_commercant</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LEFT JOIN Transaction_Suspecte TS ON TS.id_transaction = T.id_transaction</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WHERE T.date_heure &gt;= SYSDATE - 30</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GROUP BY CO.id_commercant, CO.nom_commercant, CC.libelle</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HAVING ROUND(COUNT(TS.id_transac_suspecte)*100.0</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             /NULLIF(COUNT(T.id_transaction),0),2) &gt; 5</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ORDER BY taux_fraude_pct DESC;</a:t>
            </a:r>
            <a:endParaRPr lang="en-US" sz="700" dirty="0"/>
          </a:p>
        </p:txBody>
      </p:sp>
      <p:sp>
        <p:nvSpPr>
          <p:cNvPr id="10" name="Text 8"/>
          <p:cNvSpPr/>
          <p:nvPr/>
        </p:nvSpPr>
        <p:spPr>
          <a:xfrm>
            <a:off x="210312" y="2779776"/>
            <a:ext cx="3657600" cy="201168"/>
          </a:xfrm>
          <a:prstGeom prst="rect">
            <a:avLst/>
          </a:prstGeom>
          <a:noFill/>
          <a:ln/>
        </p:spPr>
        <p:txBody>
          <a:bodyPr wrap="square" rtlCol="0" anchor="ctr"/>
          <a:lstStyle/>
          <a:p>
            <a:pPr marL="0" indent="0">
              <a:buNone/>
            </a:pPr>
            <a:r>
              <a:rPr lang="en-US" sz="850" b="1" dirty="0">
                <a:solidFill>
                  <a:srgbClr val="EA580C"/>
                </a:solidFill>
                <a:latin typeface="Calibri" pitchFamily="34" charset="0"/>
                <a:ea typeface="Calibri" pitchFamily="34" charset="-122"/>
                <a:cs typeface="Calibri" pitchFamily="34" charset="-120"/>
              </a:rPr>
              <a:t>▶  </a:t>
            </a:r>
            <a:r>
              <a:rPr lang="en-US" sz="850" b="1" dirty="0" err="1" smtClean="0">
                <a:solidFill>
                  <a:srgbClr val="EA580C"/>
                </a:solidFill>
                <a:latin typeface="Calibri" pitchFamily="34" charset="0"/>
                <a:ea typeface="Calibri" pitchFamily="34" charset="-122"/>
                <a:cs typeface="Calibri" pitchFamily="34" charset="-120"/>
              </a:rPr>
              <a:t>Résultats</a:t>
            </a:r>
            <a:r>
              <a:rPr lang="en-US" sz="850" b="1" dirty="0" smtClean="0">
                <a:solidFill>
                  <a:srgbClr val="EA580C"/>
                </a:solidFill>
                <a:latin typeface="Calibri" pitchFamily="34" charset="0"/>
                <a:ea typeface="Calibri" pitchFamily="34" charset="-122"/>
                <a:cs typeface="Calibri" pitchFamily="34" charset="-120"/>
              </a:rPr>
              <a:t> </a:t>
            </a:r>
            <a:r>
              <a:rPr lang="en-US" sz="850" b="1" dirty="0">
                <a:solidFill>
                  <a:srgbClr val="EA580C"/>
                </a:solidFill>
                <a:latin typeface="Calibri" pitchFamily="34" charset="0"/>
                <a:ea typeface="Calibri" pitchFamily="34" charset="-122"/>
                <a:cs typeface="Calibri" pitchFamily="34" charset="-120"/>
              </a:rPr>
              <a:t>:</a:t>
            </a:r>
            <a:endParaRPr lang="en-US" sz="85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210312" y="2999232"/>
          <a:ext cx="8732520" cy="1234440"/>
        </p:xfrm>
        <a:graphic>
          <a:graphicData uri="http://schemas.openxmlformats.org/drawingml/2006/table">
            <a:tbl>
              <a:tblPr/>
              <a:tblGrid>
                <a:gridCol w="1455420"/>
                <a:gridCol w="1455420"/>
                <a:gridCol w="1455420"/>
                <a:gridCol w="1455420"/>
                <a:gridCol w="1455420"/>
                <a:gridCol w="1455420"/>
              </a:tblGrid>
              <a:tr h="246888">
                <a:tc>
                  <a:txBody>
                    <a:bodyPr/>
                    <a:lstStyle/>
                    <a:p>
                      <a:pPr marL="0" indent="0" algn="ctr">
                        <a:buNone/>
                      </a:pPr>
                      <a:r>
                        <a:rPr lang="en-US" sz="800" b="1" dirty="0">
                          <a:solidFill>
                            <a:srgbClr val="FFFFFF"/>
                          </a:solidFill>
                          <a:latin typeface="Calibri" pitchFamily="34" charset="0"/>
                          <a:ea typeface="Calibri" pitchFamily="34" charset="-122"/>
                          <a:cs typeface="Calibri" pitchFamily="34" charset="-120"/>
                        </a:rPr>
                        <a:t>ID_COMM</a:t>
                      </a:r>
                      <a:endParaRPr lang="en-US" sz="8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B1628"/>
                    </a:solidFill>
                  </a:tcPr>
                </a:tc>
                <a:tc>
                  <a:txBody>
                    <a:bodyPr/>
                    <a:lstStyle/>
                    <a:p>
                      <a:pPr marL="0" indent="0" algn="ctr">
                        <a:buNone/>
                      </a:pPr>
                      <a:r>
                        <a:rPr lang="en-US" sz="800" b="1" dirty="0">
                          <a:solidFill>
                            <a:srgbClr val="FFFFFF"/>
                          </a:solidFill>
                          <a:latin typeface="Calibri" pitchFamily="34" charset="0"/>
                          <a:ea typeface="Calibri" pitchFamily="34" charset="-122"/>
                          <a:cs typeface="Calibri" pitchFamily="34" charset="-120"/>
                        </a:rPr>
                        <a:t>NOM_COMMERCANT</a:t>
                      </a:r>
                      <a:endParaRPr lang="en-US" sz="8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B1628"/>
                    </a:solidFill>
                  </a:tcPr>
                </a:tc>
                <a:tc>
                  <a:txBody>
                    <a:bodyPr/>
                    <a:lstStyle/>
                    <a:p>
                      <a:pPr marL="0" indent="0" algn="ctr">
                        <a:buNone/>
                      </a:pPr>
                      <a:r>
                        <a:rPr lang="en-US" sz="800" b="1" dirty="0">
                          <a:solidFill>
                            <a:srgbClr val="FFFFFF"/>
                          </a:solidFill>
                          <a:latin typeface="Calibri" pitchFamily="34" charset="0"/>
                          <a:ea typeface="Calibri" pitchFamily="34" charset="-122"/>
                          <a:cs typeface="Calibri" pitchFamily="34" charset="-120"/>
                        </a:rPr>
                        <a:t>CATEGORIE</a:t>
                      </a:r>
                      <a:endParaRPr lang="en-US" sz="8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B1628"/>
                    </a:solidFill>
                  </a:tcPr>
                </a:tc>
                <a:tc>
                  <a:txBody>
                    <a:bodyPr/>
                    <a:lstStyle/>
                    <a:p>
                      <a:pPr marL="0" indent="0" algn="ctr">
                        <a:buNone/>
                      </a:pPr>
                      <a:r>
                        <a:rPr lang="en-US" sz="800" b="1" dirty="0">
                          <a:solidFill>
                            <a:srgbClr val="FFFFFF"/>
                          </a:solidFill>
                          <a:latin typeface="Calibri" pitchFamily="34" charset="0"/>
                          <a:ea typeface="Calibri" pitchFamily="34" charset="-122"/>
                          <a:cs typeface="Calibri" pitchFamily="34" charset="-120"/>
                        </a:rPr>
                        <a:t>TOTAL_TRANS</a:t>
                      </a:r>
                      <a:endParaRPr lang="en-US" sz="8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B1628"/>
                    </a:solidFill>
                  </a:tcPr>
                </a:tc>
                <a:tc>
                  <a:txBody>
                    <a:bodyPr/>
                    <a:lstStyle/>
                    <a:p>
                      <a:pPr marL="0" indent="0" algn="ctr">
                        <a:buNone/>
                      </a:pPr>
                      <a:r>
                        <a:rPr lang="en-US" sz="800" b="1" dirty="0">
                          <a:solidFill>
                            <a:srgbClr val="FFFFFF"/>
                          </a:solidFill>
                          <a:latin typeface="Calibri" pitchFamily="34" charset="0"/>
                          <a:ea typeface="Calibri" pitchFamily="34" charset="-122"/>
                          <a:cs typeface="Calibri" pitchFamily="34" charset="-120"/>
                        </a:rPr>
                        <a:t>TRANS_SUSPECTES</a:t>
                      </a:r>
                      <a:endParaRPr lang="en-US" sz="8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B1628"/>
                    </a:solidFill>
                  </a:tcPr>
                </a:tc>
                <a:tc>
                  <a:txBody>
                    <a:bodyPr/>
                    <a:lstStyle/>
                    <a:p>
                      <a:pPr marL="0" indent="0" algn="ctr">
                        <a:buNone/>
                      </a:pPr>
                      <a:r>
                        <a:rPr lang="en-US" sz="800" b="1" dirty="0">
                          <a:solidFill>
                            <a:srgbClr val="FFFFFF"/>
                          </a:solidFill>
                          <a:latin typeface="Calibri" pitchFamily="34" charset="0"/>
                          <a:ea typeface="Calibri" pitchFamily="34" charset="-122"/>
                          <a:cs typeface="Calibri" pitchFamily="34" charset="-120"/>
                        </a:rPr>
                        <a:t>TAUX_FRAUDE_PCT</a:t>
                      </a:r>
                      <a:endParaRPr lang="en-US" sz="8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B1628"/>
                    </a:solidFill>
                  </a:tcPr>
                </a:tc>
              </a:tr>
              <a:tr h="246888">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402</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CryptoExchange Pro</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Crypto-monnaie</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42</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18</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42.86</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246888">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405</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Casino Royal</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Casino</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15</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4</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26.67</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r>
              <a:tr h="246888">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410</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FastTransfer</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Virement</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28</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3</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10.71</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246888">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407</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TechShop Online</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E-commerce</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50</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4</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8</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r>
            </a:tbl>
          </a:graphicData>
        </a:graphic>
      </p:graphicFrame>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name="Slide 27">
    <p:bg>
      <p:bgPr>
        <a:solidFill>
          <a:srgbClr val="F0F6FF"/>
        </a:solidFill>
        <a:effectLst/>
      </p:bgPr>
    </p:bg>
    <p:spTree>
      <p:nvGrpSpPr>
        <p:cNvPr id="1" name=""/>
        <p:cNvGrpSpPr/>
        <p:nvPr/>
      </p:nvGrpSpPr>
      <p:grpSpPr>
        <a:xfrm>
          <a:off x="0" y="0"/>
          <a:ext cx="0" cy="0"/>
          <a:chOff x="0" y="0"/>
          <a:chExt cx="0" cy="0"/>
        </a:xfrm>
      </p:grpSpPr>
      <p:sp>
        <p:nvSpPr>
          <p:cNvPr id="2" name="Shape 0"/>
          <p:cNvSpPr/>
          <p:nvPr/>
        </p:nvSpPr>
        <p:spPr>
          <a:xfrm>
            <a:off x="0" y="0"/>
            <a:ext cx="118872" cy="5143500"/>
          </a:xfrm>
          <a:prstGeom prst="rect">
            <a:avLst/>
          </a:prstGeom>
          <a:solidFill>
            <a:srgbClr val="EA580C"/>
          </a:solidFill>
          <a:ln w="12700">
            <a:solidFill>
              <a:srgbClr val="EA580C"/>
            </a:solidFill>
            <a:prstDash val="solid"/>
          </a:ln>
        </p:spPr>
      </p:sp>
      <p:sp>
        <p:nvSpPr>
          <p:cNvPr id="3" name="Shape 1"/>
          <p:cNvSpPr/>
          <p:nvPr/>
        </p:nvSpPr>
        <p:spPr>
          <a:xfrm>
            <a:off x="210312" y="91440"/>
            <a:ext cx="640080" cy="310896"/>
          </a:xfrm>
          <a:prstGeom prst="rect">
            <a:avLst/>
          </a:prstGeom>
          <a:solidFill>
            <a:srgbClr val="EA580C"/>
          </a:solidFill>
          <a:ln w="12700">
            <a:solidFill>
              <a:srgbClr val="EA580C"/>
            </a:solidFill>
            <a:prstDash val="solid"/>
          </a:ln>
        </p:spPr>
      </p:sp>
      <p:sp>
        <p:nvSpPr>
          <p:cNvPr id="4" name="Text 2"/>
          <p:cNvSpPr/>
          <p:nvPr/>
        </p:nvSpPr>
        <p:spPr>
          <a:xfrm>
            <a:off x="210312" y="91440"/>
            <a:ext cx="640080"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R20</a:t>
            </a:r>
            <a:endParaRPr lang="en-US" sz="1200" dirty="0"/>
          </a:p>
        </p:txBody>
      </p:sp>
      <p:sp>
        <p:nvSpPr>
          <p:cNvPr id="5" name="Text 3"/>
          <p:cNvSpPr/>
          <p:nvPr/>
        </p:nvSpPr>
        <p:spPr>
          <a:xfrm>
            <a:off x="7589520" y="118872"/>
            <a:ext cx="1417320" cy="228600"/>
          </a:xfrm>
          <a:prstGeom prst="rect">
            <a:avLst/>
          </a:prstGeom>
          <a:noFill/>
          <a:ln/>
        </p:spPr>
        <p:txBody>
          <a:bodyPr wrap="square" rtlCol="0" anchor="ctr"/>
          <a:lstStyle/>
          <a:p>
            <a:pPr marL="0" indent="0" algn="r">
              <a:buNone/>
            </a:pPr>
            <a:r>
              <a:rPr lang="en-US" sz="700" b="1" dirty="0">
                <a:solidFill>
                  <a:srgbClr val="EA580C"/>
                </a:solidFill>
                <a:latin typeface="Calibri" pitchFamily="34" charset="0"/>
                <a:ea typeface="Calibri" pitchFamily="34" charset="-122"/>
                <a:cs typeface="Calibri" pitchFamily="34" charset="-120"/>
              </a:rPr>
              <a:t>DÉTECTION DE FRAUDE</a:t>
            </a:r>
            <a:endParaRPr lang="en-US" sz="700" dirty="0"/>
          </a:p>
        </p:txBody>
      </p:sp>
      <p:sp>
        <p:nvSpPr>
          <p:cNvPr id="6" name="Text 4"/>
          <p:cNvSpPr/>
          <p:nvPr/>
        </p:nvSpPr>
        <p:spPr>
          <a:xfrm>
            <a:off x="932688" y="91440"/>
            <a:ext cx="6583680" cy="310896"/>
          </a:xfrm>
          <a:prstGeom prst="rect">
            <a:avLst/>
          </a:prstGeom>
          <a:noFill/>
          <a:ln/>
        </p:spPr>
        <p:txBody>
          <a:bodyPr wrap="square" rtlCol="0" anchor="ctr"/>
          <a:lstStyle/>
          <a:p>
            <a:pPr marL="0" indent="0">
              <a:buNone/>
            </a:pPr>
            <a:r>
              <a:rPr lang="en-US" sz="1350" b="1" dirty="0">
                <a:solidFill>
                  <a:srgbClr val="1E293B"/>
                </a:solidFill>
                <a:latin typeface="Calibri" pitchFamily="34" charset="0"/>
                <a:ea typeface="Calibri" pitchFamily="34" charset="-122"/>
                <a:cs typeface="Calibri" pitchFamily="34" charset="-120"/>
              </a:rPr>
              <a:t>Credential Stuffing — Piratage de masse</a:t>
            </a:r>
            <a:endParaRPr lang="en-US" sz="1350" dirty="0"/>
          </a:p>
        </p:txBody>
      </p:sp>
      <p:sp>
        <p:nvSpPr>
          <p:cNvPr id="7" name="Text 5"/>
          <p:cNvSpPr/>
          <p:nvPr/>
        </p:nvSpPr>
        <p:spPr>
          <a:xfrm>
            <a:off x="210312" y="429768"/>
            <a:ext cx="8732520" cy="246888"/>
          </a:xfrm>
          <a:prstGeom prst="rect">
            <a:avLst/>
          </a:prstGeom>
          <a:noFill/>
          <a:ln/>
        </p:spPr>
        <p:txBody>
          <a:bodyPr wrap="square" rtlCol="0" anchor="ctr"/>
          <a:lstStyle/>
          <a:p>
            <a:pPr marL="0" indent="0">
              <a:buNone/>
            </a:pPr>
            <a:r>
              <a:rPr lang="en-US" sz="1000" i="1" dirty="0">
                <a:solidFill>
                  <a:srgbClr val="475569"/>
                </a:solidFill>
                <a:latin typeface="Calibri" pitchFamily="34" charset="0"/>
                <a:ea typeface="Calibri" pitchFamily="34" charset="-122"/>
                <a:cs typeface="Calibri" pitchFamily="34" charset="-120"/>
              </a:rPr>
              <a:t>Adresses IP ayant tenté de se connecter sur plus de 3 comptes différents en moins de 10 minutes</a:t>
            </a:r>
            <a:endParaRPr lang="en-US" sz="1000" dirty="0"/>
          </a:p>
        </p:txBody>
      </p:sp>
      <p:sp>
        <p:nvSpPr>
          <p:cNvPr id="8" name="Shape 6"/>
          <p:cNvSpPr/>
          <p:nvPr/>
        </p:nvSpPr>
        <p:spPr>
          <a:xfrm>
            <a:off x="210312" y="704088"/>
            <a:ext cx="8732520" cy="2011680"/>
          </a:xfrm>
          <a:prstGeom prst="rect">
            <a:avLst/>
          </a:prstGeom>
          <a:solidFill>
            <a:srgbClr val="0F1E2E"/>
          </a:solidFill>
          <a:ln w="6350">
            <a:solidFill>
              <a:srgbClr val="1E3A5F"/>
            </a:solidFill>
            <a:prstDash val="solid"/>
          </a:ln>
        </p:spPr>
      </p:sp>
      <p:sp>
        <p:nvSpPr>
          <p:cNvPr id="9" name="Text 7"/>
          <p:cNvSpPr/>
          <p:nvPr/>
        </p:nvSpPr>
        <p:spPr>
          <a:xfrm>
            <a:off x="292608" y="731520"/>
            <a:ext cx="8549640" cy="1920240"/>
          </a:xfrm>
          <a:prstGeom prst="rect">
            <a:avLst/>
          </a:prstGeom>
          <a:noFill/>
          <a:ln/>
        </p:spPr>
        <p:txBody>
          <a:bodyPr wrap="square" lIns="38100" tIns="38100" rIns="38100" bIns="38100" rtlCol="0" anchor="t"/>
          <a:lstStyle/>
          <a:p>
            <a:pPr marL="0" indent="0">
              <a:buNone/>
            </a:pPr>
            <a:r>
              <a:rPr lang="en-US" sz="700" dirty="0">
                <a:solidFill>
                  <a:srgbClr val="CBD5E1"/>
                </a:solidFill>
                <a:latin typeface="Consolas" pitchFamily="34" charset="0"/>
                <a:ea typeface="Consolas" pitchFamily="34" charset="-122"/>
                <a:cs typeface="Consolas" pitchFamily="34" charset="-120"/>
              </a:rPr>
              <a:t>SELECT C1.adresse_ip,</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    COUNT(DISTINCT C1.id_utilisateur) AS nb_comptes_cibles,</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    MIN(TO_CHAR(C1.date_heure,'DD/MM/YYYY HH24:MI')) AS premiere_tentative,</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    MAX(TO_CHAR(C1.date_heure,'DD/MM/YYYY HH24:MI')) AS derniere_tentative</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FROM Connexion C1</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WHERE EXISTS (</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    SELECT 1 FROM Connexion C2</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    WHERE C2.adresse_ip = C1.adresse_ip AND C2.id_utilisateur != C1.id_utilisateur</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      AND ABS((C1.date_heure - C2.date_heure)*24*60) &lt; 10</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GROUP BY C1.adresse_ip</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HAVING COUNT(DISTINCT C1.id_utilisateur) &gt; 3</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ORDER BY nb_comptes_cibles DESC;</a:t>
            </a:r>
            <a:endParaRPr lang="en-US" sz="700" dirty="0"/>
          </a:p>
        </p:txBody>
      </p:sp>
      <p:sp>
        <p:nvSpPr>
          <p:cNvPr id="10" name="Text 8"/>
          <p:cNvSpPr/>
          <p:nvPr/>
        </p:nvSpPr>
        <p:spPr>
          <a:xfrm>
            <a:off x="210312" y="2779776"/>
            <a:ext cx="3657600" cy="201168"/>
          </a:xfrm>
          <a:prstGeom prst="rect">
            <a:avLst/>
          </a:prstGeom>
          <a:noFill/>
          <a:ln/>
        </p:spPr>
        <p:txBody>
          <a:bodyPr wrap="square" rtlCol="0" anchor="ctr"/>
          <a:lstStyle/>
          <a:p>
            <a:pPr marL="0" indent="0">
              <a:buNone/>
            </a:pPr>
            <a:r>
              <a:rPr lang="en-US" sz="850" b="1" dirty="0">
                <a:solidFill>
                  <a:srgbClr val="EA580C"/>
                </a:solidFill>
                <a:latin typeface="Calibri" pitchFamily="34" charset="0"/>
                <a:ea typeface="Calibri" pitchFamily="34" charset="-122"/>
                <a:cs typeface="Calibri" pitchFamily="34" charset="-120"/>
              </a:rPr>
              <a:t>▶  </a:t>
            </a:r>
            <a:r>
              <a:rPr lang="en-US" sz="850" b="1" dirty="0" err="1" smtClean="0">
                <a:solidFill>
                  <a:srgbClr val="EA580C"/>
                </a:solidFill>
                <a:latin typeface="Calibri" pitchFamily="34" charset="0"/>
                <a:ea typeface="Calibri" pitchFamily="34" charset="-122"/>
                <a:cs typeface="Calibri" pitchFamily="34" charset="-120"/>
              </a:rPr>
              <a:t>Résultats</a:t>
            </a:r>
            <a:r>
              <a:rPr lang="en-US" sz="850" b="1" dirty="0" smtClean="0">
                <a:solidFill>
                  <a:srgbClr val="EA580C"/>
                </a:solidFill>
                <a:latin typeface="Calibri" pitchFamily="34" charset="0"/>
                <a:ea typeface="Calibri" pitchFamily="34" charset="-122"/>
                <a:cs typeface="Calibri" pitchFamily="34" charset="-120"/>
              </a:rPr>
              <a:t> </a:t>
            </a:r>
            <a:r>
              <a:rPr lang="en-US" sz="850" b="1" dirty="0">
                <a:solidFill>
                  <a:srgbClr val="EA580C"/>
                </a:solidFill>
                <a:latin typeface="Calibri" pitchFamily="34" charset="0"/>
                <a:ea typeface="Calibri" pitchFamily="34" charset="-122"/>
                <a:cs typeface="Calibri" pitchFamily="34" charset="-120"/>
              </a:rPr>
              <a:t>:</a:t>
            </a:r>
            <a:endParaRPr lang="en-US" sz="85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210312" y="2999232"/>
          <a:ext cx="8732520" cy="1234440"/>
        </p:xfrm>
        <a:graphic>
          <a:graphicData uri="http://schemas.openxmlformats.org/drawingml/2006/table">
            <a:tbl>
              <a:tblPr/>
              <a:tblGrid>
                <a:gridCol w="2183130"/>
                <a:gridCol w="2183130"/>
                <a:gridCol w="2183130"/>
                <a:gridCol w="2183130"/>
              </a:tblGrid>
              <a:tr h="246888">
                <a:tc>
                  <a:txBody>
                    <a:bodyPr/>
                    <a:lstStyle/>
                    <a:p>
                      <a:pPr marL="0" indent="0" algn="ctr">
                        <a:buNone/>
                      </a:pPr>
                      <a:r>
                        <a:rPr lang="en-US" sz="800" b="1" dirty="0">
                          <a:solidFill>
                            <a:srgbClr val="FFFFFF"/>
                          </a:solidFill>
                          <a:latin typeface="Calibri" pitchFamily="34" charset="0"/>
                          <a:ea typeface="Calibri" pitchFamily="34" charset="-122"/>
                          <a:cs typeface="Calibri" pitchFamily="34" charset="-120"/>
                        </a:rPr>
                        <a:t>ADRESSE_IP</a:t>
                      </a:r>
                      <a:endParaRPr lang="en-US" sz="8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B1628"/>
                    </a:solidFill>
                  </a:tcPr>
                </a:tc>
                <a:tc>
                  <a:txBody>
                    <a:bodyPr/>
                    <a:lstStyle/>
                    <a:p>
                      <a:pPr marL="0" indent="0" algn="ctr">
                        <a:buNone/>
                      </a:pPr>
                      <a:r>
                        <a:rPr lang="en-US" sz="800" b="1" dirty="0">
                          <a:solidFill>
                            <a:srgbClr val="FFFFFF"/>
                          </a:solidFill>
                          <a:latin typeface="Calibri" pitchFamily="34" charset="0"/>
                          <a:ea typeface="Calibri" pitchFamily="34" charset="-122"/>
                          <a:cs typeface="Calibri" pitchFamily="34" charset="-120"/>
                        </a:rPr>
                        <a:t>NB_COMPTES_CIBLES</a:t>
                      </a:r>
                      <a:endParaRPr lang="en-US" sz="8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B1628"/>
                    </a:solidFill>
                  </a:tcPr>
                </a:tc>
                <a:tc>
                  <a:txBody>
                    <a:bodyPr/>
                    <a:lstStyle/>
                    <a:p>
                      <a:pPr marL="0" indent="0" algn="ctr">
                        <a:buNone/>
                      </a:pPr>
                      <a:r>
                        <a:rPr lang="en-US" sz="800" b="1" dirty="0">
                          <a:solidFill>
                            <a:srgbClr val="FFFFFF"/>
                          </a:solidFill>
                          <a:latin typeface="Calibri" pitchFamily="34" charset="0"/>
                          <a:ea typeface="Calibri" pitchFamily="34" charset="-122"/>
                          <a:cs typeface="Calibri" pitchFamily="34" charset="-120"/>
                        </a:rPr>
                        <a:t>PREMIERE_TENTATIVE</a:t>
                      </a:r>
                      <a:endParaRPr lang="en-US" sz="8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B1628"/>
                    </a:solidFill>
                  </a:tcPr>
                </a:tc>
                <a:tc>
                  <a:txBody>
                    <a:bodyPr/>
                    <a:lstStyle/>
                    <a:p>
                      <a:pPr marL="0" indent="0" algn="ctr">
                        <a:buNone/>
                      </a:pPr>
                      <a:r>
                        <a:rPr lang="en-US" sz="800" b="1" dirty="0">
                          <a:solidFill>
                            <a:srgbClr val="FFFFFF"/>
                          </a:solidFill>
                          <a:latin typeface="Calibri" pitchFamily="34" charset="0"/>
                          <a:ea typeface="Calibri" pitchFamily="34" charset="-122"/>
                          <a:cs typeface="Calibri" pitchFamily="34" charset="-120"/>
                        </a:rPr>
                        <a:t>DERNIERE_TENTATIVE</a:t>
                      </a:r>
                      <a:endParaRPr lang="en-US" sz="8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B1628"/>
                    </a:solidFill>
                  </a:tcPr>
                </a:tc>
              </a:tr>
              <a:tr h="246888">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185.220.101.45</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12</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16/04/2026 03:00</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16/04/2026 03:07</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246888">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91.108.4.220</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7</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14/04/2026 22:14</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14/04/2026 22:21</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r>
              <a:tr h="246888">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45.33.32.156</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5</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12/04/2026 04:55</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12/04/2026 05:02</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246888">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178.62.199.9</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4</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10/04/2026 11:30</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10/04/2026 11:38</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r>
            </a:tbl>
          </a:graphicData>
        </a:graphic>
      </p:graphicFrame>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name="Slide 28">
    <p:bg>
      <p:bgPr>
        <a:solidFill>
          <a:srgbClr val="F0F6FF"/>
        </a:solidFill>
        <a:effectLst/>
      </p:bgPr>
    </p:bg>
    <p:spTree>
      <p:nvGrpSpPr>
        <p:cNvPr id="1" name=""/>
        <p:cNvGrpSpPr/>
        <p:nvPr/>
      </p:nvGrpSpPr>
      <p:grpSpPr>
        <a:xfrm>
          <a:off x="0" y="0"/>
          <a:ext cx="0" cy="0"/>
          <a:chOff x="0" y="0"/>
          <a:chExt cx="0" cy="0"/>
        </a:xfrm>
      </p:grpSpPr>
      <p:sp>
        <p:nvSpPr>
          <p:cNvPr id="2" name="Shape 0"/>
          <p:cNvSpPr/>
          <p:nvPr/>
        </p:nvSpPr>
        <p:spPr>
          <a:xfrm>
            <a:off x="0" y="0"/>
            <a:ext cx="118872" cy="5143500"/>
          </a:xfrm>
          <a:prstGeom prst="rect">
            <a:avLst/>
          </a:prstGeom>
          <a:solidFill>
            <a:srgbClr val="EA580C"/>
          </a:solidFill>
          <a:ln w="12700">
            <a:solidFill>
              <a:srgbClr val="EA580C"/>
            </a:solidFill>
            <a:prstDash val="solid"/>
          </a:ln>
        </p:spPr>
      </p:sp>
      <p:sp>
        <p:nvSpPr>
          <p:cNvPr id="3" name="Shape 1"/>
          <p:cNvSpPr/>
          <p:nvPr/>
        </p:nvSpPr>
        <p:spPr>
          <a:xfrm>
            <a:off x="210312" y="91440"/>
            <a:ext cx="640080" cy="310896"/>
          </a:xfrm>
          <a:prstGeom prst="rect">
            <a:avLst/>
          </a:prstGeom>
          <a:solidFill>
            <a:srgbClr val="EA580C"/>
          </a:solidFill>
          <a:ln w="12700">
            <a:solidFill>
              <a:srgbClr val="EA580C"/>
            </a:solidFill>
            <a:prstDash val="solid"/>
          </a:ln>
        </p:spPr>
      </p:sp>
      <p:sp>
        <p:nvSpPr>
          <p:cNvPr id="4" name="Text 2"/>
          <p:cNvSpPr/>
          <p:nvPr/>
        </p:nvSpPr>
        <p:spPr>
          <a:xfrm>
            <a:off x="210312" y="91440"/>
            <a:ext cx="640080"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R21</a:t>
            </a:r>
            <a:endParaRPr lang="en-US" sz="1200" dirty="0"/>
          </a:p>
        </p:txBody>
      </p:sp>
      <p:sp>
        <p:nvSpPr>
          <p:cNvPr id="5" name="Text 3"/>
          <p:cNvSpPr/>
          <p:nvPr/>
        </p:nvSpPr>
        <p:spPr>
          <a:xfrm>
            <a:off x="7589520" y="118872"/>
            <a:ext cx="1417320" cy="228600"/>
          </a:xfrm>
          <a:prstGeom prst="rect">
            <a:avLst/>
          </a:prstGeom>
          <a:noFill/>
          <a:ln/>
        </p:spPr>
        <p:txBody>
          <a:bodyPr wrap="square" rtlCol="0" anchor="ctr"/>
          <a:lstStyle/>
          <a:p>
            <a:pPr marL="0" indent="0" algn="r">
              <a:buNone/>
            </a:pPr>
            <a:r>
              <a:rPr lang="en-US" sz="700" b="1" dirty="0">
                <a:solidFill>
                  <a:srgbClr val="EA580C"/>
                </a:solidFill>
                <a:latin typeface="Calibri" pitchFamily="34" charset="0"/>
                <a:ea typeface="Calibri" pitchFamily="34" charset="-122"/>
                <a:cs typeface="Calibri" pitchFamily="34" charset="-120"/>
              </a:rPr>
              <a:t>DÉTECTION DE FRAUDE</a:t>
            </a:r>
            <a:endParaRPr lang="en-US" sz="700" dirty="0"/>
          </a:p>
        </p:txBody>
      </p:sp>
      <p:sp>
        <p:nvSpPr>
          <p:cNvPr id="6" name="Text 4"/>
          <p:cNvSpPr/>
          <p:nvPr/>
        </p:nvSpPr>
        <p:spPr>
          <a:xfrm>
            <a:off x="932688" y="91440"/>
            <a:ext cx="6583680" cy="310896"/>
          </a:xfrm>
          <a:prstGeom prst="rect">
            <a:avLst/>
          </a:prstGeom>
          <a:noFill/>
          <a:ln/>
        </p:spPr>
        <p:txBody>
          <a:bodyPr wrap="square" rtlCol="0" anchor="ctr"/>
          <a:lstStyle/>
          <a:p>
            <a:pPr marL="0" indent="0">
              <a:buNone/>
            </a:pPr>
            <a:r>
              <a:rPr lang="en-US" sz="1350" b="1" dirty="0">
                <a:solidFill>
                  <a:srgbClr val="1E293B"/>
                </a:solidFill>
                <a:latin typeface="Calibri" pitchFamily="34" charset="0"/>
                <a:ea typeface="Calibri" pitchFamily="34" charset="-122"/>
                <a:cs typeface="Calibri" pitchFamily="34" charset="-120"/>
              </a:rPr>
              <a:t>Comptes Mules — Étape 1 : réception de micro-virements</a:t>
            </a:r>
            <a:endParaRPr lang="en-US" sz="1350" dirty="0"/>
          </a:p>
        </p:txBody>
      </p:sp>
      <p:sp>
        <p:nvSpPr>
          <p:cNvPr id="7" name="Text 5"/>
          <p:cNvSpPr/>
          <p:nvPr/>
        </p:nvSpPr>
        <p:spPr>
          <a:xfrm>
            <a:off x="210312" y="429768"/>
            <a:ext cx="8732520" cy="246888"/>
          </a:xfrm>
          <a:prstGeom prst="rect">
            <a:avLst/>
          </a:prstGeom>
          <a:noFill/>
          <a:ln/>
        </p:spPr>
        <p:txBody>
          <a:bodyPr wrap="square" rtlCol="0" anchor="ctr"/>
          <a:lstStyle/>
          <a:p>
            <a:pPr marL="0" indent="0">
              <a:buNone/>
            </a:pPr>
            <a:r>
              <a:rPr lang="en-US" sz="1000" i="1" dirty="0">
                <a:solidFill>
                  <a:srgbClr val="475569"/>
                </a:solidFill>
                <a:latin typeface="Calibri" pitchFamily="34" charset="0"/>
                <a:ea typeface="Calibri" pitchFamily="34" charset="-122"/>
                <a:cs typeface="Calibri" pitchFamily="34" charset="-120"/>
              </a:rPr>
              <a:t>Identifier les comptes recevant plus de 5 petits virements (&lt; 200) en une seule journée</a:t>
            </a:r>
            <a:endParaRPr lang="en-US" sz="1000" dirty="0"/>
          </a:p>
        </p:txBody>
      </p:sp>
      <p:sp>
        <p:nvSpPr>
          <p:cNvPr id="8" name="Shape 6"/>
          <p:cNvSpPr/>
          <p:nvPr/>
        </p:nvSpPr>
        <p:spPr>
          <a:xfrm>
            <a:off x="210312" y="704088"/>
            <a:ext cx="8732520" cy="2011680"/>
          </a:xfrm>
          <a:prstGeom prst="rect">
            <a:avLst/>
          </a:prstGeom>
          <a:solidFill>
            <a:srgbClr val="0F1E2E"/>
          </a:solidFill>
          <a:ln w="6350">
            <a:solidFill>
              <a:srgbClr val="1E3A5F"/>
            </a:solidFill>
            <a:prstDash val="solid"/>
          </a:ln>
        </p:spPr>
      </p:sp>
      <p:sp>
        <p:nvSpPr>
          <p:cNvPr id="9" name="Text 7"/>
          <p:cNvSpPr/>
          <p:nvPr/>
        </p:nvSpPr>
        <p:spPr>
          <a:xfrm>
            <a:off x="292608" y="731520"/>
            <a:ext cx="8549640" cy="1920240"/>
          </a:xfrm>
          <a:prstGeom prst="rect">
            <a:avLst/>
          </a:prstGeom>
          <a:noFill/>
          <a:ln/>
        </p:spPr>
        <p:txBody>
          <a:bodyPr wrap="square" lIns="38100" tIns="38100" rIns="38100" bIns="38100" rtlCol="0" anchor="t"/>
          <a:lstStyle/>
          <a:p>
            <a:pPr marL="0" indent="0">
              <a:buNone/>
            </a:pPr>
            <a:r>
              <a:rPr lang="en-US" sz="700" dirty="0">
                <a:solidFill>
                  <a:srgbClr val="CBD5E1"/>
                </a:solidFill>
                <a:latin typeface="Consolas" pitchFamily="34" charset="0"/>
                <a:ea typeface="Consolas" pitchFamily="34" charset="-122"/>
                <a:cs typeface="Consolas" pitchFamily="34" charset="-120"/>
              </a:rPr>
              <a:t>SELECT T.id_compte_dest AS compte_suspect, TRUNC(T.date_heure) AS jour,</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    COUNT(T.id_transaction) AS nb_virements_recus,</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    SUM(T.montant)          AS total_recu</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FROM Transaction T</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WHERE T.type_operation = 'VIREMENT' AND T.montant &lt; 200</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GROUP BY T.id_compte_dest, TRUNC(T.date_heure)</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HAVING COUNT(T.id_transaction) &gt; 5</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ORDER BY nb_virements_recus DESC;</a:t>
            </a:r>
            <a:endParaRPr lang="en-US" sz="700" dirty="0"/>
          </a:p>
        </p:txBody>
      </p:sp>
      <p:sp>
        <p:nvSpPr>
          <p:cNvPr id="10" name="Text 8"/>
          <p:cNvSpPr/>
          <p:nvPr/>
        </p:nvSpPr>
        <p:spPr>
          <a:xfrm>
            <a:off x="210312" y="2779776"/>
            <a:ext cx="3657600" cy="201168"/>
          </a:xfrm>
          <a:prstGeom prst="rect">
            <a:avLst/>
          </a:prstGeom>
          <a:noFill/>
          <a:ln/>
        </p:spPr>
        <p:txBody>
          <a:bodyPr wrap="square" rtlCol="0" anchor="ctr"/>
          <a:lstStyle/>
          <a:p>
            <a:pPr marL="0" indent="0">
              <a:buNone/>
            </a:pPr>
            <a:r>
              <a:rPr lang="en-US" sz="850" b="1" dirty="0">
                <a:solidFill>
                  <a:srgbClr val="EA580C"/>
                </a:solidFill>
                <a:latin typeface="Calibri" pitchFamily="34" charset="0"/>
                <a:ea typeface="Calibri" pitchFamily="34" charset="-122"/>
                <a:cs typeface="Calibri" pitchFamily="34" charset="-120"/>
              </a:rPr>
              <a:t>▶  </a:t>
            </a:r>
            <a:r>
              <a:rPr lang="en-US" sz="850" b="1" dirty="0" err="1" smtClean="0">
                <a:solidFill>
                  <a:srgbClr val="EA580C"/>
                </a:solidFill>
                <a:latin typeface="Calibri" pitchFamily="34" charset="0"/>
                <a:ea typeface="Calibri" pitchFamily="34" charset="-122"/>
                <a:cs typeface="Calibri" pitchFamily="34" charset="-120"/>
              </a:rPr>
              <a:t>Résultats</a:t>
            </a:r>
            <a:r>
              <a:rPr lang="en-US" sz="850" b="1" dirty="0" smtClean="0">
                <a:solidFill>
                  <a:srgbClr val="EA580C"/>
                </a:solidFill>
                <a:latin typeface="Calibri" pitchFamily="34" charset="0"/>
                <a:ea typeface="Calibri" pitchFamily="34" charset="-122"/>
                <a:cs typeface="Calibri" pitchFamily="34" charset="-120"/>
              </a:rPr>
              <a:t> </a:t>
            </a:r>
            <a:r>
              <a:rPr lang="en-US" sz="850" b="1" dirty="0">
                <a:solidFill>
                  <a:srgbClr val="EA580C"/>
                </a:solidFill>
                <a:latin typeface="Calibri" pitchFamily="34" charset="0"/>
                <a:ea typeface="Calibri" pitchFamily="34" charset="-122"/>
                <a:cs typeface="Calibri" pitchFamily="34" charset="-120"/>
              </a:rPr>
              <a:t>:</a:t>
            </a:r>
            <a:endParaRPr lang="en-US" sz="85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210312" y="2999232"/>
          <a:ext cx="8732520" cy="1234440"/>
        </p:xfrm>
        <a:graphic>
          <a:graphicData uri="http://schemas.openxmlformats.org/drawingml/2006/table">
            <a:tbl>
              <a:tblPr/>
              <a:tblGrid>
                <a:gridCol w="2183130"/>
                <a:gridCol w="2183130"/>
                <a:gridCol w="2183130"/>
                <a:gridCol w="2183130"/>
              </a:tblGrid>
              <a:tr h="246888">
                <a:tc>
                  <a:txBody>
                    <a:bodyPr/>
                    <a:lstStyle/>
                    <a:p>
                      <a:pPr marL="0" indent="0" algn="ctr">
                        <a:buNone/>
                      </a:pPr>
                      <a:r>
                        <a:rPr lang="en-US" sz="800" b="1" dirty="0">
                          <a:solidFill>
                            <a:srgbClr val="FFFFFF"/>
                          </a:solidFill>
                          <a:latin typeface="Calibri" pitchFamily="34" charset="0"/>
                          <a:ea typeface="Calibri" pitchFamily="34" charset="-122"/>
                          <a:cs typeface="Calibri" pitchFamily="34" charset="-120"/>
                        </a:rPr>
                        <a:t>COMPTE_SUSPECT</a:t>
                      </a:r>
                      <a:endParaRPr lang="en-US" sz="8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B1628"/>
                    </a:solidFill>
                  </a:tcPr>
                </a:tc>
                <a:tc>
                  <a:txBody>
                    <a:bodyPr/>
                    <a:lstStyle/>
                    <a:p>
                      <a:pPr marL="0" indent="0" algn="ctr">
                        <a:buNone/>
                      </a:pPr>
                      <a:r>
                        <a:rPr lang="en-US" sz="800" b="1" dirty="0">
                          <a:solidFill>
                            <a:srgbClr val="FFFFFF"/>
                          </a:solidFill>
                          <a:latin typeface="Calibri" pitchFamily="34" charset="0"/>
                          <a:ea typeface="Calibri" pitchFamily="34" charset="-122"/>
                          <a:cs typeface="Calibri" pitchFamily="34" charset="-120"/>
                        </a:rPr>
                        <a:t>JOUR</a:t>
                      </a:r>
                      <a:endParaRPr lang="en-US" sz="8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B1628"/>
                    </a:solidFill>
                  </a:tcPr>
                </a:tc>
                <a:tc>
                  <a:txBody>
                    <a:bodyPr/>
                    <a:lstStyle/>
                    <a:p>
                      <a:pPr marL="0" indent="0" algn="ctr">
                        <a:buNone/>
                      </a:pPr>
                      <a:r>
                        <a:rPr lang="en-US" sz="800" b="1" dirty="0">
                          <a:solidFill>
                            <a:srgbClr val="FFFFFF"/>
                          </a:solidFill>
                          <a:latin typeface="Calibri" pitchFamily="34" charset="0"/>
                          <a:ea typeface="Calibri" pitchFamily="34" charset="-122"/>
                          <a:cs typeface="Calibri" pitchFamily="34" charset="-120"/>
                        </a:rPr>
                        <a:t>NB_VIREMENTS_RECUS</a:t>
                      </a:r>
                      <a:endParaRPr lang="en-US" sz="8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B1628"/>
                    </a:solidFill>
                  </a:tcPr>
                </a:tc>
                <a:tc>
                  <a:txBody>
                    <a:bodyPr/>
                    <a:lstStyle/>
                    <a:p>
                      <a:pPr marL="0" indent="0" algn="ctr">
                        <a:buNone/>
                      </a:pPr>
                      <a:r>
                        <a:rPr lang="en-US" sz="800" b="1" dirty="0">
                          <a:solidFill>
                            <a:srgbClr val="FFFFFF"/>
                          </a:solidFill>
                          <a:latin typeface="Calibri" pitchFamily="34" charset="0"/>
                          <a:ea typeface="Calibri" pitchFamily="34" charset="-122"/>
                          <a:cs typeface="Calibri" pitchFamily="34" charset="-120"/>
                        </a:rPr>
                        <a:t>TOTAL_RECU</a:t>
                      </a:r>
                      <a:endParaRPr lang="en-US" sz="8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B1628"/>
                    </a:solidFill>
                  </a:tcPr>
                </a:tc>
              </a:tr>
              <a:tr h="246888">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2007</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15/04/2026</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22</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1980</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246888">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2013</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16/04/2026</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14</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1260</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r>
              <a:tr h="246888">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2019</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14/04/2026</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9</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810</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246888">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2022</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13/04/2026</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7</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630</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r>
            </a:tbl>
          </a:graphicData>
        </a:graphic>
      </p:graphicFrame>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name="Slide 29">
    <p:bg>
      <p:bgPr>
        <a:solidFill>
          <a:srgbClr val="F0F6FF"/>
        </a:solidFill>
        <a:effectLst/>
      </p:bgPr>
    </p:bg>
    <p:spTree>
      <p:nvGrpSpPr>
        <p:cNvPr id="1" name=""/>
        <p:cNvGrpSpPr/>
        <p:nvPr/>
      </p:nvGrpSpPr>
      <p:grpSpPr>
        <a:xfrm>
          <a:off x="0" y="0"/>
          <a:ext cx="0" cy="0"/>
          <a:chOff x="0" y="0"/>
          <a:chExt cx="0" cy="0"/>
        </a:xfrm>
      </p:grpSpPr>
      <p:sp>
        <p:nvSpPr>
          <p:cNvPr id="2" name="Shape 0"/>
          <p:cNvSpPr/>
          <p:nvPr/>
        </p:nvSpPr>
        <p:spPr>
          <a:xfrm>
            <a:off x="0" y="0"/>
            <a:ext cx="118872" cy="5143500"/>
          </a:xfrm>
          <a:prstGeom prst="rect">
            <a:avLst/>
          </a:prstGeom>
          <a:solidFill>
            <a:srgbClr val="EA580C"/>
          </a:solidFill>
          <a:ln w="12700">
            <a:solidFill>
              <a:srgbClr val="EA580C"/>
            </a:solidFill>
            <a:prstDash val="solid"/>
          </a:ln>
        </p:spPr>
      </p:sp>
      <p:sp>
        <p:nvSpPr>
          <p:cNvPr id="3" name="Shape 1"/>
          <p:cNvSpPr/>
          <p:nvPr/>
        </p:nvSpPr>
        <p:spPr>
          <a:xfrm>
            <a:off x="210312" y="91440"/>
            <a:ext cx="640080" cy="310896"/>
          </a:xfrm>
          <a:prstGeom prst="rect">
            <a:avLst/>
          </a:prstGeom>
          <a:solidFill>
            <a:srgbClr val="EA580C"/>
          </a:solidFill>
          <a:ln w="12700">
            <a:solidFill>
              <a:srgbClr val="EA580C"/>
            </a:solidFill>
            <a:prstDash val="solid"/>
          </a:ln>
        </p:spPr>
      </p:sp>
      <p:sp>
        <p:nvSpPr>
          <p:cNvPr id="4" name="Text 2"/>
          <p:cNvSpPr/>
          <p:nvPr/>
        </p:nvSpPr>
        <p:spPr>
          <a:xfrm>
            <a:off x="210312" y="91440"/>
            <a:ext cx="640080"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R22</a:t>
            </a:r>
            <a:endParaRPr lang="en-US" sz="1200" dirty="0"/>
          </a:p>
        </p:txBody>
      </p:sp>
      <p:sp>
        <p:nvSpPr>
          <p:cNvPr id="5" name="Text 3"/>
          <p:cNvSpPr/>
          <p:nvPr/>
        </p:nvSpPr>
        <p:spPr>
          <a:xfrm>
            <a:off x="7589520" y="118872"/>
            <a:ext cx="1417320" cy="228600"/>
          </a:xfrm>
          <a:prstGeom prst="rect">
            <a:avLst/>
          </a:prstGeom>
          <a:noFill/>
          <a:ln/>
        </p:spPr>
        <p:txBody>
          <a:bodyPr wrap="square" rtlCol="0" anchor="ctr"/>
          <a:lstStyle/>
          <a:p>
            <a:pPr marL="0" indent="0" algn="r">
              <a:buNone/>
            </a:pPr>
            <a:r>
              <a:rPr lang="en-US" sz="700" b="1" dirty="0">
                <a:solidFill>
                  <a:srgbClr val="EA580C"/>
                </a:solidFill>
                <a:latin typeface="Calibri" pitchFamily="34" charset="0"/>
                <a:ea typeface="Calibri" pitchFamily="34" charset="-122"/>
                <a:cs typeface="Calibri" pitchFamily="34" charset="-120"/>
              </a:rPr>
              <a:t>DÉTECTION DE FRAUDE</a:t>
            </a:r>
            <a:endParaRPr lang="en-US" sz="700" dirty="0"/>
          </a:p>
        </p:txBody>
      </p:sp>
      <p:sp>
        <p:nvSpPr>
          <p:cNvPr id="6" name="Text 4"/>
          <p:cNvSpPr/>
          <p:nvPr/>
        </p:nvSpPr>
        <p:spPr>
          <a:xfrm>
            <a:off x="932688" y="91440"/>
            <a:ext cx="6583680" cy="310896"/>
          </a:xfrm>
          <a:prstGeom prst="rect">
            <a:avLst/>
          </a:prstGeom>
          <a:noFill/>
          <a:ln/>
        </p:spPr>
        <p:txBody>
          <a:bodyPr wrap="square" rtlCol="0" anchor="ctr"/>
          <a:lstStyle/>
          <a:p>
            <a:pPr marL="0" indent="0">
              <a:buNone/>
            </a:pPr>
            <a:r>
              <a:rPr lang="en-US" sz="1350" b="1" dirty="0">
                <a:solidFill>
                  <a:srgbClr val="1E293B"/>
                </a:solidFill>
                <a:latin typeface="Calibri" pitchFamily="34" charset="0"/>
                <a:ea typeface="Calibri" pitchFamily="34" charset="-122"/>
                <a:cs typeface="Calibri" pitchFamily="34" charset="-120"/>
              </a:rPr>
              <a:t>Comptes Mules — Étape 2 : sortie massive vers Crypto</a:t>
            </a:r>
            <a:endParaRPr lang="en-US" sz="1350" dirty="0"/>
          </a:p>
        </p:txBody>
      </p:sp>
      <p:sp>
        <p:nvSpPr>
          <p:cNvPr id="7" name="Text 5"/>
          <p:cNvSpPr/>
          <p:nvPr/>
        </p:nvSpPr>
        <p:spPr>
          <a:xfrm>
            <a:off x="210312" y="429768"/>
            <a:ext cx="8732520" cy="246888"/>
          </a:xfrm>
          <a:prstGeom prst="rect">
            <a:avLst/>
          </a:prstGeom>
          <a:noFill/>
          <a:ln/>
        </p:spPr>
        <p:txBody>
          <a:bodyPr wrap="square" rtlCol="0" anchor="ctr"/>
          <a:lstStyle/>
          <a:p>
            <a:pPr marL="0" indent="0">
              <a:buNone/>
            </a:pPr>
            <a:r>
              <a:rPr lang="en-US" sz="1000" i="1" dirty="0">
                <a:solidFill>
                  <a:srgbClr val="475569"/>
                </a:solidFill>
                <a:latin typeface="Calibri" pitchFamily="34" charset="0"/>
                <a:ea typeface="Calibri" pitchFamily="34" charset="-122"/>
                <a:cs typeface="Calibri" pitchFamily="34" charset="-120"/>
              </a:rPr>
              <a:t>Parmi les comptes suspects (R21), détecter une sortie &gt; 90 % du solde vers Crypto en &lt; 24 h</a:t>
            </a:r>
            <a:endParaRPr lang="en-US" sz="1000" dirty="0"/>
          </a:p>
        </p:txBody>
      </p:sp>
      <p:sp>
        <p:nvSpPr>
          <p:cNvPr id="8" name="Shape 6"/>
          <p:cNvSpPr/>
          <p:nvPr/>
        </p:nvSpPr>
        <p:spPr>
          <a:xfrm>
            <a:off x="210312" y="704088"/>
            <a:ext cx="8732520" cy="2011680"/>
          </a:xfrm>
          <a:prstGeom prst="rect">
            <a:avLst/>
          </a:prstGeom>
          <a:solidFill>
            <a:srgbClr val="0F1E2E"/>
          </a:solidFill>
          <a:ln w="6350">
            <a:solidFill>
              <a:srgbClr val="1E3A5F"/>
            </a:solidFill>
            <a:prstDash val="solid"/>
          </a:ln>
        </p:spPr>
      </p:sp>
      <p:sp>
        <p:nvSpPr>
          <p:cNvPr id="9" name="Text 7"/>
          <p:cNvSpPr/>
          <p:nvPr/>
        </p:nvSpPr>
        <p:spPr>
          <a:xfrm>
            <a:off x="292608" y="731520"/>
            <a:ext cx="8549640" cy="1920240"/>
          </a:xfrm>
          <a:prstGeom prst="rect">
            <a:avLst/>
          </a:prstGeom>
          <a:noFill/>
          <a:ln/>
        </p:spPr>
        <p:txBody>
          <a:bodyPr wrap="square" lIns="38100" tIns="38100" rIns="38100" bIns="38100" rtlCol="0" anchor="t"/>
          <a:lstStyle/>
          <a:p>
            <a:pPr marL="0" indent="0">
              <a:buNone/>
            </a:pPr>
            <a:r>
              <a:rPr lang="en-US" sz="700" dirty="0">
                <a:solidFill>
                  <a:srgbClr val="CBD5E1"/>
                </a:solidFill>
                <a:latin typeface="Consolas" pitchFamily="34" charset="0"/>
                <a:ea typeface="Consolas" pitchFamily="34" charset="-122"/>
                <a:cs typeface="Consolas" pitchFamily="34" charset="-120"/>
              </a:rPr>
              <a:t>SELECT CO.id_compte, CO.solde, T.montant AS montant_sortant,</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    ROUND(T.montant*100.0/NULLIF(CO.solde+T.montant,0),1) AS pct_solde_vide,</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    CC.libelle AS categorie_dest,</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    TO_CHAR(T.date_heure,'DD/MM/YYYY HH24:MI') AS date_sortie</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FROM Transaction T</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JOIN Compte CO               ON CO.id_compte     = T.id_compte</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JOIN Commercant CM           ON CM.id_commercant = T.id_commercant</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JOIN Categories_Commerces CC ON CC.id_categorie  = CM.id_categorie</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WHERE UPPER(CC.libelle) LIKE '%CRYPTO%' AND T.montant &gt; CO.solde * 0.90</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  AND T.id_compte IN (</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      SELECT id_compte_dest FROM Transaction</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      WHERE type_operation='VIREMENT' AND montant&lt;200 AND date_heure&gt;=SYSDATE-1</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      GROUP BY id_compte_dest HAVING COUNT(*)&gt;5)</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ORDER BY pct_solde_vide DESC;</a:t>
            </a:r>
            <a:endParaRPr lang="en-US" sz="700" dirty="0"/>
          </a:p>
        </p:txBody>
      </p:sp>
      <p:sp>
        <p:nvSpPr>
          <p:cNvPr id="10" name="Text 8"/>
          <p:cNvSpPr/>
          <p:nvPr/>
        </p:nvSpPr>
        <p:spPr>
          <a:xfrm>
            <a:off x="210312" y="2779776"/>
            <a:ext cx="3657600" cy="201168"/>
          </a:xfrm>
          <a:prstGeom prst="rect">
            <a:avLst/>
          </a:prstGeom>
          <a:noFill/>
          <a:ln/>
        </p:spPr>
        <p:txBody>
          <a:bodyPr wrap="square" rtlCol="0" anchor="ctr"/>
          <a:lstStyle/>
          <a:p>
            <a:pPr marL="0" indent="0">
              <a:buNone/>
            </a:pPr>
            <a:r>
              <a:rPr lang="en-US" sz="850" b="1" dirty="0">
                <a:solidFill>
                  <a:srgbClr val="EA580C"/>
                </a:solidFill>
                <a:latin typeface="Calibri" pitchFamily="34" charset="0"/>
                <a:ea typeface="Calibri" pitchFamily="34" charset="-122"/>
                <a:cs typeface="Calibri" pitchFamily="34" charset="-120"/>
              </a:rPr>
              <a:t>▶  </a:t>
            </a:r>
            <a:r>
              <a:rPr lang="en-US" sz="850" b="1" dirty="0" err="1" smtClean="0">
                <a:solidFill>
                  <a:srgbClr val="EA580C"/>
                </a:solidFill>
                <a:latin typeface="Calibri" pitchFamily="34" charset="0"/>
                <a:ea typeface="Calibri" pitchFamily="34" charset="-122"/>
                <a:cs typeface="Calibri" pitchFamily="34" charset="-120"/>
              </a:rPr>
              <a:t>Résultats</a:t>
            </a:r>
            <a:r>
              <a:rPr lang="en-US" sz="850" b="1" dirty="0" smtClean="0">
                <a:solidFill>
                  <a:srgbClr val="EA580C"/>
                </a:solidFill>
                <a:latin typeface="Calibri" pitchFamily="34" charset="0"/>
                <a:ea typeface="Calibri" pitchFamily="34" charset="-122"/>
                <a:cs typeface="Calibri" pitchFamily="34" charset="-120"/>
              </a:rPr>
              <a:t> </a:t>
            </a:r>
            <a:r>
              <a:rPr lang="en-US" sz="850" b="1" dirty="0">
                <a:solidFill>
                  <a:srgbClr val="EA580C"/>
                </a:solidFill>
                <a:latin typeface="Calibri" pitchFamily="34" charset="0"/>
                <a:ea typeface="Calibri" pitchFamily="34" charset="-122"/>
                <a:cs typeface="Calibri" pitchFamily="34" charset="-120"/>
              </a:rPr>
              <a:t>:</a:t>
            </a:r>
            <a:endParaRPr lang="en-US" sz="850"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210312" y="2999232"/>
          <a:ext cx="8732520" cy="987552"/>
        </p:xfrm>
        <a:graphic>
          <a:graphicData uri="http://schemas.openxmlformats.org/drawingml/2006/table">
            <a:tbl>
              <a:tblPr/>
              <a:tblGrid>
                <a:gridCol w="1455420"/>
                <a:gridCol w="1455420"/>
                <a:gridCol w="1455420"/>
                <a:gridCol w="1455420"/>
                <a:gridCol w="1455420"/>
                <a:gridCol w="1455420"/>
              </a:tblGrid>
              <a:tr h="246888">
                <a:tc>
                  <a:txBody>
                    <a:bodyPr/>
                    <a:lstStyle/>
                    <a:p>
                      <a:pPr marL="0" indent="0" algn="ctr">
                        <a:buNone/>
                      </a:pPr>
                      <a:r>
                        <a:rPr lang="en-US" sz="800" b="1" dirty="0">
                          <a:solidFill>
                            <a:srgbClr val="FFFFFF"/>
                          </a:solidFill>
                          <a:latin typeface="Calibri" pitchFamily="34" charset="0"/>
                          <a:ea typeface="Calibri" pitchFamily="34" charset="-122"/>
                          <a:cs typeface="Calibri" pitchFamily="34" charset="-120"/>
                        </a:rPr>
                        <a:t>ID_COMPTE</a:t>
                      </a:r>
                      <a:endParaRPr lang="en-US" sz="8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B1628"/>
                    </a:solidFill>
                  </a:tcPr>
                </a:tc>
                <a:tc>
                  <a:txBody>
                    <a:bodyPr/>
                    <a:lstStyle/>
                    <a:p>
                      <a:pPr marL="0" indent="0" algn="ctr">
                        <a:buNone/>
                      </a:pPr>
                      <a:r>
                        <a:rPr lang="en-US" sz="800" b="1" dirty="0">
                          <a:solidFill>
                            <a:srgbClr val="FFFFFF"/>
                          </a:solidFill>
                          <a:latin typeface="Calibri" pitchFamily="34" charset="0"/>
                          <a:ea typeface="Calibri" pitchFamily="34" charset="-122"/>
                          <a:cs typeface="Calibri" pitchFamily="34" charset="-120"/>
                        </a:rPr>
                        <a:t>SOLDE</a:t>
                      </a:r>
                      <a:endParaRPr lang="en-US" sz="8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B1628"/>
                    </a:solidFill>
                  </a:tcPr>
                </a:tc>
                <a:tc>
                  <a:txBody>
                    <a:bodyPr/>
                    <a:lstStyle/>
                    <a:p>
                      <a:pPr marL="0" indent="0" algn="ctr">
                        <a:buNone/>
                      </a:pPr>
                      <a:r>
                        <a:rPr lang="en-US" sz="800" b="1" dirty="0">
                          <a:solidFill>
                            <a:srgbClr val="FFFFFF"/>
                          </a:solidFill>
                          <a:latin typeface="Calibri" pitchFamily="34" charset="0"/>
                          <a:ea typeface="Calibri" pitchFamily="34" charset="-122"/>
                          <a:cs typeface="Calibri" pitchFamily="34" charset="-120"/>
                        </a:rPr>
                        <a:t>MONTANT_SORTANT</a:t>
                      </a:r>
                      <a:endParaRPr lang="en-US" sz="8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B1628"/>
                    </a:solidFill>
                  </a:tcPr>
                </a:tc>
                <a:tc>
                  <a:txBody>
                    <a:bodyPr/>
                    <a:lstStyle/>
                    <a:p>
                      <a:pPr marL="0" indent="0" algn="ctr">
                        <a:buNone/>
                      </a:pPr>
                      <a:r>
                        <a:rPr lang="en-US" sz="800" b="1" dirty="0">
                          <a:solidFill>
                            <a:srgbClr val="FFFFFF"/>
                          </a:solidFill>
                          <a:latin typeface="Calibri" pitchFamily="34" charset="0"/>
                          <a:ea typeface="Calibri" pitchFamily="34" charset="-122"/>
                          <a:cs typeface="Calibri" pitchFamily="34" charset="-120"/>
                        </a:rPr>
                        <a:t>PCT_SOLDE_VIDE</a:t>
                      </a:r>
                      <a:endParaRPr lang="en-US" sz="8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B1628"/>
                    </a:solidFill>
                  </a:tcPr>
                </a:tc>
                <a:tc>
                  <a:txBody>
                    <a:bodyPr/>
                    <a:lstStyle/>
                    <a:p>
                      <a:pPr marL="0" indent="0" algn="ctr">
                        <a:buNone/>
                      </a:pPr>
                      <a:r>
                        <a:rPr lang="en-US" sz="800" b="1" dirty="0">
                          <a:solidFill>
                            <a:srgbClr val="FFFFFF"/>
                          </a:solidFill>
                          <a:latin typeface="Calibri" pitchFamily="34" charset="0"/>
                          <a:ea typeface="Calibri" pitchFamily="34" charset="-122"/>
                          <a:cs typeface="Calibri" pitchFamily="34" charset="-120"/>
                        </a:rPr>
                        <a:t>CATEGORIE_DEST</a:t>
                      </a:r>
                      <a:endParaRPr lang="en-US" sz="8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B1628"/>
                    </a:solidFill>
                  </a:tcPr>
                </a:tc>
                <a:tc>
                  <a:txBody>
                    <a:bodyPr/>
                    <a:lstStyle/>
                    <a:p>
                      <a:pPr marL="0" indent="0" algn="ctr">
                        <a:buNone/>
                      </a:pPr>
                      <a:r>
                        <a:rPr lang="en-US" sz="800" b="1" dirty="0">
                          <a:solidFill>
                            <a:srgbClr val="FFFFFF"/>
                          </a:solidFill>
                          <a:latin typeface="Calibri" pitchFamily="34" charset="0"/>
                          <a:ea typeface="Calibri" pitchFamily="34" charset="-122"/>
                          <a:cs typeface="Calibri" pitchFamily="34" charset="-120"/>
                        </a:rPr>
                        <a:t>DATE_SORTIE</a:t>
                      </a:r>
                      <a:endParaRPr lang="en-US" sz="8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B1628"/>
                    </a:solidFill>
                  </a:tcPr>
                </a:tc>
              </a:tr>
              <a:tr h="246888">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2007</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210</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1950</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90.3</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Crypto-monnaie</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15/04/2026 23:47</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246888">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2013</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145</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1100</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92.1</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Crypto-monnaie</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16/04/2026 22:30</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r>
              <a:tr h="246888">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2019</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95</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760</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88.9</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Crypto-monnaie</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14/04/2026 21:15</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bl>
          </a:graphicData>
        </a:graphic>
      </p:graphicFrame>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name="Slide 30">
    <p:bg>
      <p:bgPr>
        <a:solidFill>
          <a:srgbClr val="F0F6FF"/>
        </a:solidFill>
        <a:effectLst/>
      </p:bgPr>
    </p:bg>
    <p:spTree>
      <p:nvGrpSpPr>
        <p:cNvPr id="1" name=""/>
        <p:cNvGrpSpPr/>
        <p:nvPr/>
      </p:nvGrpSpPr>
      <p:grpSpPr>
        <a:xfrm>
          <a:off x="0" y="0"/>
          <a:ext cx="0" cy="0"/>
          <a:chOff x="0" y="0"/>
          <a:chExt cx="0" cy="0"/>
        </a:xfrm>
      </p:grpSpPr>
      <p:sp>
        <p:nvSpPr>
          <p:cNvPr id="2" name="Shape 0"/>
          <p:cNvSpPr/>
          <p:nvPr/>
        </p:nvSpPr>
        <p:spPr>
          <a:xfrm>
            <a:off x="0" y="0"/>
            <a:ext cx="118872" cy="5143500"/>
          </a:xfrm>
          <a:prstGeom prst="rect">
            <a:avLst/>
          </a:prstGeom>
          <a:solidFill>
            <a:srgbClr val="EA580C"/>
          </a:solidFill>
          <a:ln w="12700">
            <a:solidFill>
              <a:srgbClr val="EA580C"/>
            </a:solidFill>
            <a:prstDash val="solid"/>
          </a:ln>
        </p:spPr>
      </p:sp>
      <p:sp>
        <p:nvSpPr>
          <p:cNvPr id="3" name="Shape 1"/>
          <p:cNvSpPr/>
          <p:nvPr/>
        </p:nvSpPr>
        <p:spPr>
          <a:xfrm>
            <a:off x="210312" y="91440"/>
            <a:ext cx="640080" cy="310896"/>
          </a:xfrm>
          <a:prstGeom prst="rect">
            <a:avLst/>
          </a:prstGeom>
          <a:solidFill>
            <a:srgbClr val="EA580C"/>
          </a:solidFill>
          <a:ln w="12700">
            <a:solidFill>
              <a:srgbClr val="EA580C"/>
            </a:solidFill>
            <a:prstDash val="solid"/>
          </a:ln>
        </p:spPr>
      </p:sp>
      <p:sp>
        <p:nvSpPr>
          <p:cNvPr id="4" name="Text 2"/>
          <p:cNvSpPr/>
          <p:nvPr/>
        </p:nvSpPr>
        <p:spPr>
          <a:xfrm>
            <a:off x="210312" y="91440"/>
            <a:ext cx="640080"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R23</a:t>
            </a:r>
            <a:endParaRPr lang="en-US" sz="1200" dirty="0"/>
          </a:p>
        </p:txBody>
      </p:sp>
      <p:sp>
        <p:nvSpPr>
          <p:cNvPr id="5" name="Text 3"/>
          <p:cNvSpPr/>
          <p:nvPr/>
        </p:nvSpPr>
        <p:spPr>
          <a:xfrm>
            <a:off x="7589520" y="118872"/>
            <a:ext cx="1417320" cy="228600"/>
          </a:xfrm>
          <a:prstGeom prst="rect">
            <a:avLst/>
          </a:prstGeom>
          <a:noFill/>
          <a:ln/>
        </p:spPr>
        <p:txBody>
          <a:bodyPr wrap="square" rtlCol="0" anchor="ctr"/>
          <a:lstStyle/>
          <a:p>
            <a:pPr marL="0" indent="0" algn="r">
              <a:buNone/>
            </a:pPr>
            <a:r>
              <a:rPr lang="en-US" sz="700" b="1" dirty="0">
                <a:solidFill>
                  <a:srgbClr val="EA580C"/>
                </a:solidFill>
                <a:latin typeface="Calibri" pitchFamily="34" charset="0"/>
                <a:ea typeface="Calibri" pitchFamily="34" charset="-122"/>
                <a:cs typeface="Calibri" pitchFamily="34" charset="-120"/>
              </a:rPr>
              <a:t>DÉTECTION DE FRAUDE</a:t>
            </a:r>
            <a:endParaRPr lang="en-US" sz="700" dirty="0"/>
          </a:p>
        </p:txBody>
      </p:sp>
      <p:sp>
        <p:nvSpPr>
          <p:cNvPr id="6" name="Text 4"/>
          <p:cNvSpPr/>
          <p:nvPr/>
        </p:nvSpPr>
        <p:spPr>
          <a:xfrm>
            <a:off x="932688" y="91440"/>
            <a:ext cx="6583680" cy="310896"/>
          </a:xfrm>
          <a:prstGeom prst="rect">
            <a:avLst/>
          </a:prstGeom>
          <a:noFill/>
          <a:ln/>
        </p:spPr>
        <p:txBody>
          <a:bodyPr wrap="square" rtlCol="0" anchor="ctr"/>
          <a:lstStyle/>
          <a:p>
            <a:pPr marL="0" indent="0">
              <a:buNone/>
            </a:pPr>
            <a:r>
              <a:rPr lang="en-US" sz="1350" b="1" dirty="0">
                <a:solidFill>
                  <a:srgbClr val="1E293B"/>
                </a:solidFill>
                <a:latin typeface="Calibri" pitchFamily="34" charset="0"/>
                <a:ea typeface="Calibri" pitchFamily="34" charset="-122"/>
                <a:cs typeface="Calibri" pitchFamily="34" charset="-120"/>
              </a:rPr>
              <a:t>Card Testing — Arnaque au micro-paiement</a:t>
            </a:r>
            <a:endParaRPr lang="en-US" sz="1350" dirty="0"/>
          </a:p>
        </p:txBody>
      </p:sp>
      <p:sp>
        <p:nvSpPr>
          <p:cNvPr id="7" name="Text 5"/>
          <p:cNvSpPr/>
          <p:nvPr/>
        </p:nvSpPr>
        <p:spPr>
          <a:xfrm>
            <a:off x="210312" y="429768"/>
            <a:ext cx="8732520" cy="246888"/>
          </a:xfrm>
          <a:prstGeom prst="rect">
            <a:avLst/>
          </a:prstGeom>
          <a:noFill/>
          <a:ln/>
        </p:spPr>
        <p:txBody>
          <a:bodyPr wrap="square" rtlCol="0" anchor="ctr"/>
          <a:lstStyle/>
          <a:p>
            <a:pPr marL="0" indent="0">
              <a:buNone/>
            </a:pPr>
            <a:r>
              <a:rPr lang="en-US" sz="1000" i="1" dirty="0">
                <a:solidFill>
                  <a:srgbClr val="475569"/>
                </a:solidFill>
                <a:latin typeface="Calibri" pitchFamily="34" charset="0"/>
                <a:ea typeface="Calibri" pitchFamily="34" charset="-122"/>
                <a:cs typeface="Calibri" pitchFamily="34" charset="-120"/>
              </a:rPr>
              <a:t>Cartes effectuant 2 à 5 transactions &lt; 2 € en moins de 3 heures chez de nouveaux commerçants</a:t>
            </a:r>
            <a:endParaRPr lang="en-US" sz="1000" dirty="0"/>
          </a:p>
        </p:txBody>
      </p:sp>
      <p:sp>
        <p:nvSpPr>
          <p:cNvPr id="8" name="Shape 6"/>
          <p:cNvSpPr/>
          <p:nvPr/>
        </p:nvSpPr>
        <p:spPr>
          <a:xfrm>
            <a:off x="210312" y="704088"/>
            <a:ext cx="8732520" cy="2011680"/>
          </a:xfrm>
          <a:prstGeom prst="rect">
            <a:avLst/>
          </a:prstGeom>
          <a:solidFill>
            <a:srgbClr val="0F1E2E"/>
          </a:solidFill>
          <a:ln w="6350">
            <a:solidFill>
              <a:srgbClr val="1E3A5F"/>
            </a:solidFill>
            <a:prstDash val="solid"/>
          </a:ln>
        </p:spPr>
      </p:sp>
      <p:sp>
        <p:nvSpPr>
          <p:cNvPr id="9" name="Text 7"/>
          <p:cNvSpPr/>
          <p:nvPr/>
        </p:nvSpPr>
        <p:spPr>
          <a:xfrm>
            <a:off x="292608" y="731520"/>
            <a:ext cx="8549640" cy="1920240"/>
          </a:xfrm>
          <a:prstGeom prst="rect">
            <a:avLst/>
          </a:prstGeom>
          <a:noFill/>
          <a:ln/>
        </p:spPr>
        <p:txBody>
          <a:bodyPr wrap="square" lIns="38100" tIns="38100" rIns="38100" bIns="38100" rtlCol="0" anchor="t"/>
          <a:lstStyle/>
          <a:p>
            <a:pPr marL="0" indent="0">
              <a:buNone/>
            </a:pPr>
            <a:r>
              <a:rPr lang="en-US" sz="700" dirty="0">
                <a:solidFill>
                  <a:srgbClr val="CBD5E1"/>
                </a:solidFill>
                <a:latin typeface="Consolas" pitchFamily="34" charset="0"/>
                <a:ea typeface="Consolas" pitchFamily="34" charset="-122"/>
                <a:cs typeface="Consolas" pitchFamily="34" charset="-120"/>
              </a:rPr>
              <a:t>SELECT T.id_carte, COUNT(T.id_transaction) AS nb_micro_transactions,</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    SUM(T.montant) AS total_montant,</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    MIN(TO_CHAR(T.date_heure,'DD/MM/YYYY HH24:MI')) AS debut_fenetre,</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    MAX(TO_CHAR(T.date_heure,'DD/MM/YYYY HH24:MI')) AS fin_fenetre</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FROM Transaction T</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JOIN Commercant CO ON CO.id_commercant = T.id_commercant</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WHERE T.montant &lt; 2 AND T.id_carte IS NOT NULL</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  AND CO.date_enregistrement &gt;= SYSDATE - 30</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GROUP BY T.id_carte</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HAVING COUNT(T.id_transaction) BETWEEN 2 AND 5</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   AND (MAX(T.date_heure)-MIN(T.date_heure))*24 &lt; 3</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ORDER BY nb_micro_transactions DESC;</a:t>
            </a:r>
            <a:endParaRPr lang="en-US" sz="700" dirty="0"/>
          </a:p>
        </p:txBody>
      </p:sp>
      <p:sp>
        <p:nvSpPr>
          <p:cNvPr id="10" name="Text 8"/>
          <p:cNvSpPr/>
          <p:nvPr/>
        </p:nvSpPr>
        <p:spPr>
          <a:xfrm>
            <a:off x="210312" y="2779776"/>
            <a:ext cx="3657600" cy="201168"/>
          </a:xfrm>
          <a:prstGeom prst="rect">
            <a:avLst/>
          </a:prstGeom>
          <a:noFill/>
          <a:ln/>
        </p:spPr>
        <p:txBody>
          <a:bodyPr wrap="square" rtlCol="0" anchor="ctr"/>
          <a:lstStyle/>
          <a:p>
            <a:pPr marL="0" indent="0">
              <a:buNone/>
            </a:pPr>
            <a:r>
              <a:rPr lang="en-US" sz="850" b="1" dirty="0">
                <a:solidFill>
                  <a:srgbClr val="EA580C"/>
                </a:solidFill>
                <a:latin typeface="Calibri" pitchFamily="34" charset="0"/>
                <a:ea typeface="Calibri" pitchFamily="34" charset="-122"/>
                <a:cs typeface="Calibri" pitchFamily="34" charset="-120"/>
              </a:rPr>
              <a:t>▶  </a:t>
            </a:r>
            <a:r>
              <a:rPr lang="en-US" sz="850" b="1" dirty="0" err="1" smtClean="0">
                <a:solidFill>
                  <a:srgbClr val="EA580C"/>
                </a:solidFill>
                <a:latin typeface="Calibri" pitchFamily="34" charset="0"/>
                <a:ea typeface="Calibri" pitchFamily="34" charset="-122"/>
                <a:cs typeface="Calibri" pitchFamily="34" charset="-120"/>
              </a:rPr>
              <a:t>Résultats</a:t>
            </a:r>
            <a:r>
              <a:rPr lang="en-US" sz="850" b="1" dirty="0" smtClean="0">
                <a:solidFill>
                  <a:srgbClr val="EA580C"/>
                </a:solidFill>
                <a:latin typeface="Calibri" pitchFamily="34" charset="0"/>
                <a:ea typeface="Calibri" pitchFamily="34" charset="-122"/>
                <a:cs typeface="Calibri" pitchFamily="34" charset="-120"/>
              </a:rPr>
              <a:t> </a:t>
            </a:r>
            <a:r>
              <a:rPr lang="en-US" sz="850" b="1" dirty="0">
                <a:solidFill>
                  <a:srgbClr val="EA580C"/>
                </a:solidFill>
                <a:latin typeface="Calibri" pitchFamily="34" charset="0"/>
                <a:ea typeface="Calibri" pitchFamily="34" charset="-122"/>
                <a:cs typeface="Calibri" pitchFamily="34" charset="-120"/>
              </a:rPr>
              <a:t>:</a:t>
            </a:r>
            <a:endParaRPr lang="en-US" sz="850" dirty="0"/>
          </a:p>
        </p:txBody>
      </p:sp>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210312" y="2999232"/>
          <a:ext cx="8732520" cy="1234440"/>
        </p:xfrm>
        <a:graphic>
          <a:graphicData uri="http://schemas.openxmlformats.org/drawingml/2006/table">
            <a:tbl>
              <a:tblPr/>
              <a:tblGrid>
                <a:gridCol w="1746504"/>
                <a:gridCol w="1746504"/>
                <a:gridCol w="1746504"/>
                <a:gridCol w="1746504"/>
                <a:gridCol w="1746504"/>
              </a:tblGrid>
              <a:tr h="246888">
                <a:tc>
                  <a:txBody>
                    <a:bodyPr/>
                    <a:lstStyle/>
                    <a:p>
                      <a:pPr marL="0" indent="0" algn="ctr">
                        <a:buNone/>
                      </a:pPr>
                      <a:r>
                        <a:rPr lang="en-US" sz="800" b="1" dirty="0">
                          <a:solidFill>
                            <a:srgbClr val="FFFFFF"/>
                          </a:solidFill>
                          <a:latin typeface="Calibri" pitchFamily="34" charset="0"/>
                          <a:ea typeface="Calibri" pitchFamily="34" charset="-122"/>
                          <a:cs typeface="Calibri" pitchFamily="34" charset="-120"/>
                        </a:rPr>
                        <a:t>ID_CARTE</a:t>
                      </a:r>
                      <a:endParaRPr lang="en-US" sz="8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B1628"/>
                    </a:solidFill>
                  </a:tcPr>
                </a:tc>
                <a:tc>
                  <a:txBody>
                    <a:bodyPr/>
                    <a:lstStyle/>
                    <a:p>
                      <a:pPr marL="0" indent="0" algn="ctr">
                        <a:buNone/>
                      </a:pPr>
                      <a:r>
                        <a:rPr lang="en-US" sz="800" b="1" dirty="0">
                          <a:solidFill>
                            <a:srgbClr val="FFFFFF"/>
                          </a:solidFill>
                          <a:latin typeface="Calibri" pitchFamily="34" charset="0"/>
                          <a:ea typeface="Calibri" pitchFamily="34" charset="-122"/>
                          <a:cs typeface="Calibri" pitchFamily="34" charset="-120"/>
                        </a:rPr>
                        <a:t>NB_MICRO_TRANSACTIONS</a:t>
                      </a:r>
                      <a:endParaRPr lang="en-US" sz="8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B1628"/>
                    </a:solidFill>
                  </a:tcPr>
                </a:tc>
                <a:tc>
                  <a:txBody>
                    <a:bodyPr/>
                    <a:lstStyle/>
                    <a:p>
                      <a:pPr marL="0" indent="0" algn="ctr">
                        <a:buNone/>
                      </a:pPr>
                      <a:r>
                        <a:rPr lang="en-US" sz="800" b="1" dirty="0">
                          <a:solidFill>
                            <a:srgbClr val="FFFFFF"/>
                          </a:solidFill>
                          <a:latin typeface="Calibri" pitchFamily="34" charset="0"/>
                          <a:ea typeface="Calibri" pitchFamily="34" charset="-122"/>
                          <a:cs typeface="Calibri" pitchFamily="34" charset="-120"/>
                        </a:rPr>
                        <a:t>TOTAL_MONTANT</a:t>
                      </a:r>
                      <a:endParaRPr lang="en-US" sz="8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B1628"/>
                    </a:solidFill>
                  </a:tcPr>
                </a:tc>
                <a:tc>
                  <a:txBody>
                    <a:bodyPr/>
                    <a:lstStyle/>
                    <a:p>
                      <a:pPr marL="0" indent="0" algn="ctr">
                        <a:buNone/>
                      </a:pPr>
                      <a:r>
                        <a:rPr lang="en-US" sz="800" b="1" dirty="0">
                          <a:solidFill>
                            <a:srgbClr val="FFFFFF"/>
                          </a:solidFill>
                          <a:latin typeface="Calibri" pitchFamily="34" charset="0"/>
                          <a:ea typeface="Calibri" pitchFamily="34" charset="-122"/>
                          <a:cs typeface="Calibri" pitchFamily="34" charset="-120"/>
                        </a:rPr>
                        <a:t>DEBUT_FENETRE</a:t>
                      </a:r>
                      <a:endParaRPr lang="en-US" sz="8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B1628"/>
                    </a:solidFill>
                  </a:tcPr>
                </a:tc>
                <a:tc>
                  <a:txBody>
                    <a:bodyPr/>
                    <a:lstStyle/>
                    <a:p>
                      <a:pPr marL="0" indent="0" algn="ctr">
                        <a:buNone/>
                      </a:pPr>
                      <a:r>
                        <a:rPr lang="en-US" sz="800" b="1" dirty="0">
                          <a:solidFill>
                            <a:srgbClr val="FFFFFF"/>
                          </a:solidFill>
                          <a:latin typeface="Calibri" pitchFamily="34" charset="0"/>
                          <a:ea typeface="Calibri" pitchFamily="34" charset="-122"/>
                          <a:cs typeface="Calibri" pitchFamily="34" charset="-120"/>
                        </a:rPr>
                        <a:t>FIN_FENETRE</a:t>
                      </a:r>
                      <a:endParaRPr lang="en-US" sz="8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B1628"/>
                    </a:solidFill>
                  </a:tcPr>
                </a:tc>
              </a:tr>
              <a:tr h="246888">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301</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5</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4.75</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17/04/2026 14:02</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17/04/2026 16:45</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246888">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307</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4</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3.96</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16/04/2026 09:11</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16/04/2026 11:55</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r>
              <a:tr h="246888">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312</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3</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2.4</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15/04/2026 20:30</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15/04/2026 22:10</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246888">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319</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2</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1.98</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14/04/2026 03:05</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14/04/2026 05:50</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r>
            </a:tbl>
          </a:graphicData>
        </a:graphic>
      </p:graphicFrame>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name="Slide 31">
    <p:bg>
      <p:bgPr>
        <a:solidFill>
          <a:srgbClr val="F0F6FF"/>
        </a:solidFill>
        <a:effectLst/>
      </p:bgPr>
    </p:bg>
    <p:spTree>
      <p:nvGrpSpPr>
        <p:cNvPr id="1" name=""/>
        <p:cNvGrpSpPr/>
        <p:nvPr/>
      </p:nvGrpSpPr>
      <p:grpSpPr>
        <a:xfrm>
          <a:off x="0" y="0"/>
          <a:ext cx="0" cy="0"/>
          <a:chOff x="0" y="0"/>
          <a:chExt cx="0" cy="0"/>
        </a:xfrm>
      </p:grpSpPr>
      <p:sp>
        <p:nvSpPr>
          <p:cNvPr id="2" name="Shape 0"/>
          <p:cNvSpPr/>
          <p:nvPr/>
        </p:nvSpPr>
        <p:spPr>
          <a:xfrm>
            <a:off x="0" y="0"/>
            <a:ext cx="118872" cy="5143500"/>
          </a:xfrm>
          <a:prstGeom prst="rect">
            <a:avLst/>
          </a:prstGeom>
          <a:solidFill>
            <a:srgbClr val="EA580C"/>
          </a:solidFill>
          <a:ln w="12700">
            <a:solidFill>
              <a:srgbClr val="EA580C"/>
            </a:solidFill>
            <a:prstDash val="solid"/>
          </a:ln>
        </p:spPr>
      </p:sp>
      <p:sp>
        <p:nvSpPr>
          <p:cNvPr id="3" name="Shape 1"/>
          <p:cNvSpPr/>
          <p:nvPr/>
        </p:nvSpPr>
        <p:spPr>
          <a:xfrm>
            <a:off x="210312" y="91440"/>
            <a:ext cx="640080" cy="310896"/>
          </a:xfrm>
          <a:prstGeom prst="rect">
            <a:avLst/>
          </a:prstGeom>
          <a:solidFill>
            <a:srgbClr val="EA580C"/>
          </a:solidFill>
          <a:ln w="12700">
            <a:solidFill>
              <a:srgbClr val="EA580C"/>
            </a:solidFill>
            <a:prstDash val="solid"/>
          </a:ln>
        </p:spPr>
      </p:sp>
      <p:sp>
        <p:nvSpPr>
          <p:cNvPr id="4" name="Text 2"/>
          <p:cNvSpPr/>
          <p:nvPr/>
        </p:nvSpPr>
        <p:spPr>
          <a:xfrm>
            <a:off x="210312" y="91440"/>
            <a:ext cx="640080"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R24</a:t>
            </a:r>
            <a:endParaRPr lang="en-US" sz="1200" dirty="0"/>
          </a:p>
        </p:txBody>
      </p:sp>
      <p:sp>
        <p:nvSpPr>
          <p:cNvPr id="5" name="Text 3"/>
          <p:cNvSpPr/>
          <p:nvPr/>
        </p:nvSpPr>
        <p:spPr>
          <a:xfrm>
            <a:off x="7589520" y="118872"/>
            <a:ext cx="1417320" cy="228600"/>
          </a:xfrm>
          <a:prstGeom prst="rect">
            <a:avLst/>
          </a:prstGeom>
          <a:noFill/>
          <a:ln/>
        </p:spPr>
        <p:txBody>
          <a:bodyPr wrap="square" rtlCol="0" anchor="ctr"/>
          <a:lstStyle/>
          <a:p>
            <a:pPr marL="0" indent="0" algn="r">
              <a:buNone/>
            </a:pPr>
            <a:r>
              <a:rPr lang="en-US" sz="700" b="1" dirty="0">
                <a:solidFill>
                  <a:srgbClr val="EA580C"/>
                </a:solidFill>
                <a:latin typeface="Calibri" pitchFamily="34" charset="0"/>
                <a:ea typeface="Calibri" pitchFamily="34" charset="-122"/>
                <a:cs typeface="Calibri" pitchFamily="34" charset="-120"/>
              </a:rPr>
              <a:t>DÉTECTION DE FRAUDE</a:t>
            </a:r>
            <a:endParaRPr lang="en-US" sz="700" dirty="0"/>
          </a:p>
        </p:txBody>
      </p:sp>
      <p:sp>
        <p:nvSpPr>
          <p:cNvPr id="6" name="Text 4"/>
          <p:cNvSpPr/>
          <p:nvPr/>
        </p:nvSpPr>
        <p:spPr>
          <a:xfrm>
            <a:off x="932688" y="91440"/>
            <a:ext cx="6583680" cy="310896"/>
          </a:xfrm>
          <a:prstGeom prst="rect">
            <a:avLst/>
          </a:prstGeom>
          <a:noFill/>
          <a:ln/>
        </p:spPr>
        <p:txBody>
          <a:bodyPr wrap="square" rtlCol="0" anchor="ctr"/>
          <a:lstStyle/>
          <a:p>
            <a:pPr marL="0" indent="0">
              <a:buNone/>
            </a:pPr>
            <a:r>
              <a:rPr lang="en-US" sz="1350" b="1" dirty="0">
                <a:solidFill>
                  <a:srgbClr val="1E293B"/>
                </a:solidFill>
                <a:latin typeface="Calibri" pitchFamily="34" charset="0"/>
                <a:ea typeface="Calibri" pitchFamily="34" charset="-122"/>
                <a:cs typeface="Calibri" pitchFamily="34" charset="-120"/>
              </a:rPr>
              <a:t>Analyse de Contagion — Réseau de fraude</a:t>
            </a:r>
            <a:endParaRPr lang="en-US" sz="1350" dirty="0"/>
          </a:p>
        </p:txBody>
      </p:sp>
      <p:sp>
        <p:nvSpPr>
          <p:cNvPr id="7" name="Text 5"/>
          <p:cNvSpPr/>
          <p:nvPr/>
        </p:nvSpPr>
        <p:spPr>
          <a:xfrm>
            <a:off x="210312" y="429768"/>
            <a:ext cx="8732520" cy="246888"/>
          </a:xfrm>
          <a:prstGeom prst="rect">
            <a:avLst/>
          </a:prstGeom>
          <a:noFill/>
          <a:ln/>
        </p:spPr>
        <p:txBody>
          <a:bodyPr wrap="square" rtlCol="0" anchor="ctr"/>
          <a:lstStyle/>
          <a:p>
            <a:pPr marL="0" indent="0">
              <a:buNone/>
            </a:pPr>
            <a:r>
              <a:rPr lang="en-US" sz="1000" i="1" dirty="0">
                <a:solidFill>
                  <a:srgbClr val="475569"/>
                </a:solidFill>
                <a:latin typeface="Calibri" pitchFamily="34" charset="0"/>
                <a:ea typeface="Calibri" pitchFamily="34" charset="-122"/>
                <a:cs typeface="Calibri" pitchFamily="34" charset="-120"/>
              </a:rPr>
              <a:t>Tous les comptes ayant eu un échange avec le compte fraudeur identifié (id = 1001)</a:t>
            </a:r>
            <a:endParaRPr lang="en-US" sz="1000" dirty="0"/>
          </a:p>
        </p:txBody>
      </p:sp>
      <p:sp>
        <p:nvSpPr>
          <p:cNvPr id="8" name="Shape 6"/>
          <p:cNvSpPr/>
          <p:nvPr/>
        </p:nvSpPr>
        <p:spPr>
          <a:xfrm>
            <a:off x="210312" y="704088"/>
            <a:ext cx="8732520" cy="2011680"/>
          </a:xfrm>
          <a:prstGeom prst="rect">
            <a:avLst/>
          </a:prstGeom>
          <a:solidFill>
            <a:srgbClr val="0F1E2E"/>
          </a:solidFill>
          <a:ln w="6350">
            <a:solidFill>
              <a:srgbClr val="1E3A5F"/>
            </a:solidFill>
            <a:prstDash val="solid"/>
          </a:ln>
        </p:spPr>
      </p:sp>
      <p:sp>
        <p:nvSpPr>
          <p:cNvPr id="9" name="Text 7"/>
          <p:cNvSpPr/>
          <p:nvPr/>
        </p:nvSpPr>
        <p:spPr>
          <a:xfrm>
            <a:off x="292608" y="731520"/>
            <a:ext cx="8549640" cy="1920240"/>
          </a:xfrm>
          <a:prstGeom prst="rect">
            <a:avLst/>
          </a:prstGeom>
          <a:noFill/>
          <a:ln/>
        </p:spPr>
        <p:txBody>
          <a:bodyPr wrap="square" lIns="38100" tIns="38100" rIns="38100" bIns="38100" rtlCol="0" anchor="t"/>
          <a:lstStyle/>
          <a:p>
            <a:pPr marL="0" indent="0">
              <a:buNone/>
            </a:pPr>
            <a:r>
              <a:rPr lang="en-US" sz="700" dirty="0">
                <a:solidFill>
                  <a:srgbClr val="CBD5E1"/>
                </a:solidFill>
                <a:latin typeface="Consolas" pitchFamily="34" charset="0"/>
                <a:ea typeface="Consolas" pitchFamily="34" charset="-122"/>
                <a:cs typeface="Consolas" pitchFamily="34" charset="-120"/>
              </a:rPr>
              <a:t>SELECT DISTINCT</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    CASE WHEN T.id_compte = 1001 THEN T.id_compte_dest</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         WHEN T.id_compte_dest = 1001 THEN T.id_compte</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    END AS compte_contacte,</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    CASE WHEN T.id_compte = 1001 THEN 'A RECU DE LUI'</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         ELSE 'LUI A ENVOYE' END AS relation,</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    T.montant,</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    TO_CHAR(T.date_heure,'DD/MM/YYYY HH24:MI') AS date_transaction</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FROM Transaction T</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WHERE T.id_compte = 1001 OR T.id_compte_dest = 1001</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ORDER BY date_transaction;</a:t>
            </a:r>
            <a:endParaRPr lang="en-US" sz="700" dirty="0"/>
          </a:p>
        </p:txBody>
      </p:sp>
      <p:sp>
        <p:nvSpPr>
          <p:cNvPr id="10" name="Text 8"/>
          <p:cNvSpPr/>
          <p:nvPr/>
        </p:nvSpPr>
        <p:spPr>
          <a:xfrm>
            <a:off x="210312" y="2779776"/>
            <a:ext cx="3657600" cy="201168"/>
          </a:xfrm>
          <a:prstGeom prst="rect">
            <a:avLst/>
          </a:prstGeom>
          <a:noFill/>
          <a:ln/>
        </p:spPr>
        <p:txBody>
          <a:bodyPr wrap="square" rtlCol="0" anchor="ctr"/>
          <a:lstStyle/>
          <a:p>
            <a:pPr marL="0" indent="0">
              <a:buNone/>
            </a:pPr>
            <a:r>
              <a:rPr lang="en-US" sz="850" b="1" dirty="0">
                <a:solidFill>
                  <a:srgbClr val="EA580C"/>
                </a:solidFill>
                <a:latin typeface="Calibri" pitchFamily="34" charset="0"/>
                <a:ea typeface="Calibri" pitchFamily="34" charset="-122"/>
                <a:cs typeface="Calibri" pitchFamily="34" charset="-120"/>
              </a:rPr>
              <a:t>▶  </a:t>
            </a:r>
            <a:r>
              <a:rPr lang="en-US" sz="850" b="1" dirty="0" err="1">
                <a:solidFill>
                  <a:srgbClr val="EA580C"/>
                </a:solidFill>
                <a:latin typeface="Calibri" pitchFamily="34" charset="0"/>
                <a:ea typeface="Calibri" pitchFamily="34" charset="-122"/>
                <a:cs typeface="Calibri" pitchFamily="34" charset="-120"/>
              </a:rPr>
              <a:t>Résultats</a:t>
            </a:r>
            <a:r>
              <a:rPr lang="en-US" sz="850" b="1" dirty="0">
                <a:solidFill>
                  <a:srgbClr val="EA580C"/>
                </a:solidFill>
                <a:latin typeface="Calibri" pitchFamily="34" charset="0"/>
                <a:ea typeface="Calibri" pitchFamily="34" charset="-122"/>
                <a:cs typeface="Calibri" pitchFamily="34" charset="-120"/>
              </a:rPr>
              <a:t> </a:t>
            </a:r>
            <a:r>
              <a:rPr lang="en-US" sz="850" b="1" dirty="0" smtClean="0">
                <a:solidFill>
                  <a:srgbClr val="EA580C"/>
                </a:solidFill>
                <a:latin typeface="Calibri" pitchFamily="34" charset="0"/>
                <a:ea typeface="Calibri" pitchFamily="34" charset="-122"/>
                <a:cs typeface="Calibri" pitchFamily="34" charset="-120"/>
              </a:rPr>
              <a:t>:</a:t>
            </a:r>
            <a:endParaRPr lang="en-US" sz="850" dirty="0"/>
          </a:p>
        </p:txBody>
      </p:sp>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210312" y="2999232"/>
          <a:ext cx="8732520" cy="1481328"/>
        </p:xfrm>
        <a:graphic>
          <a:graphicData uri="http://schemas.openxmlformats.org/drawingml/2006/table">
            <a:tbl>
              <a:tblPr/>
              <a:tblGrid>
                <a:gridCol w="2183130"/>
                <a:gridCol w="2183130"/>
                <a:gridCol w="2183130"/>
                <a:gridCol w="2183130"/>
              </a:tblGrid>
              <a:tr h="246888">
                <a:tc>
                  <a:txBody>
                    <a:bodyPr/>
                    <a:lstStyle/>
                    <a:p>
                      <a:pPr marL="0" indent="0" algn="ctr">
                        <a:buNone/>
                      </a:pPr>
                      <a:r>
                        <a:rPr lang="en-US" sz="800" b="1" dirty="0">
                          <a:solidFill>
                            <a:srgbClr val="FFFFFF"/>
                          </a:solidFill>
                          <a:latin typeface="Calibri" pitchFamily="34" charset="0"/>
                          <a:ea typeface="Calibri" pitchFamily="34" charset="-122"/>
                          <a:cs typeface="Calibri" pitchFamily="34" charset="-120"/>
                        </a:rPr>
                        <a:t>COMPTE_CONTACTE</a:t>
                      </a:r>
                      <a:endParaRPr lang="en-US" sz="8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B1628"/>
                    </a:solidFill>
                  </a:tcPr>
                </a:tc>
                <a:tc>
                  <a:txBody>
                    <a:bodyPr/>
                    <a:lstStyle/>
                    <a:p>
                      <a:pPr marL="0" indent="0" algn="ctr">
                        <a:buNone/>
                      </a:pPr>
                      <a:r>
                        <a:rPr lang="en-US" sz="800" b="1" dirty="0">
                          <a:solidFill>
                            <a:srgbClr val="FFFFFF"/>
                          </a:solidFill>
                          <a:latin typeface="Calibri" pitchFamily="34" charset="0"/>
                          <a:ea typeface="Calibri" pitchFamily="34" charset="-122"/>
                          <a:cs typeface="Calibri" pitchFamily="34" charset="-120"/>
                        </a:rPr>
                        <a:t>RELATION</a:t>
                      </a:r>
                      <a:endParaRPr lang="en-US" sz="8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B1628"/>
                    </a:solidFill>
                  </a:tcPr>
                </a:tc>
                <a:tc>
                  <a:txBody>
                    <a:bodyPr/>
                    <a:lstStyle/>
                    <a:p>
                      <a:pPr marL="0" indent="0" algn="ctr">
                        <a:buNone/>
                      </a:pPr>
                      <a:r>
                        <a:rPr lang="en-US" sz="800" b="1" dirty="0">
                          <a:solidFill>
                            <a:srgbClr val="FFFFFF"/>
                          </a:solidFill>
                          <a:latin typeface="Calibri" pitchFamily="34" charset="0"/>
                          <a:ea typeface="Calibri" pitchFamily="34" charset="-122"/>
                          <a:cs typeface="Calibri" pitchFamily="34" charset="-120"/>
                        </a:rPr>
                        <a:t>MONTANT</a:t>
                      </a:r>
                      <a:endParaRPr lang="en-US" sz="8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B1628"/>
                    </a:solidFill>
                  </a:tcPr>
                </a:tc>
                <a:tc>
                  <a:txBody>
                    <a:bodyPr/>
                    <a:lstStyle/>
                    <a:p>
                      <a:pPr marL="0" indent="0" algn="ctr">
                        <a:buNone/>
                      </a:pPr>
                      <a:r>
                        <a:rPr lang="en-US" sz="800" b="1" dirty="0">
                          <a:solidFill>
                            <a:srgbClr val="FFFFFF"/>
                          </a:solidFill>
                          <a:latin typeface="Calibri" pitchFamily="34" charset="0"/>
                          <a:ea typeface="Calibri" pitchFamily="34" charset="-122"/>
                          <a:cs typeface="Calibri" pitchFamily="34" charset="-120"/>
                        </a:rPr>
                        <a:t>DATE_TRANSACTION</a:t>
                      </a:r>
                      <a:endParaRPr lang="en-US" sz="8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B1628"/>
                    </a:solidFill>
                  </a:tcPr>
                </a:tc>
              </a:tr>
              <a:tr h="246888">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2007</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A RECU DE LUI</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500</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10/04/2026 14:20</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246888">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2013</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A RECU DE LUI</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350</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11/04/2026 09:05</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r>
              <a:tr h="246888">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2019</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LUI A ENVOYE</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1200</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12/04/2026 22:47</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246888">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2022</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A RECU DE LUI</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180</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14/04/2026 16:30</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r>
              <a:tr h="246888">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2031</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LUI A ENVOYE</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750</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15/04/2026 03:11</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bl>
          </a:graphicData>
        </a:graphic>
      </p:graphicFrame>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name="Slide 32">
    <p:bg>
      <p:bgPr>
        <a:solidFill>
          <a:srgbClr val="F0F6FF"/>
        </a:solidFill>
        <a:effectLst/>
      </p:bgPr>
    </p:bg>
    <p:spTree>
      <p:nvGrpSpPr>
        <p:cNvPr id="1" name=""/>
        <p:cNvGrpSpPr/>
        <p:nvPr/>
      </p:nvGrpSpPr>
      <p:grpSpPr>
        <a:xfrm>
          <a:off x="0" y="0"/>
          <a:ext cx="0" cy="0"/>
          <a:chOff x="0" y="0"/>
          <a:chExt cx="0" cy="0"/>
        </a:xfrm>
      </p:grpSpPr>
      <p:sp>
        <p:nvSpPr>
          <p:cNvPr id="2" name="Shape 0"/>
          <p:cNvSpPr/>
          <p:nvPr/>
        </p:nvSpPr>
        <p:spPr>
          <a:xfrm>
            <a:off x="0" y="0"/>
            <a:ext cx="118872" cy="5143500"/>
          </a:xfrm>
          <a:prstGeom prst="rect">
            <a:avLst/>
          </a:prstGeom>
          <a:solidFill>
            <a:srgbClr val="EA580C"/>
          </a:solidFill>
          <a:ln w="12700">
            <a:solidFill>
              <a:srgbClr val="EA580C"/>
            </a:solidFill>
            <a:prstDash val="solid"/>
          </a:ln>
        </p:spPr>
      </p:sp>
      <p:sp>
        <p:nvSpPr>
          <p:cNvPr id="3" name="Shape 1"/>
          <p:cNvSpPr/>
          <p:nvPr/>
        </p:nvSpPr>
        <p:spPr>
          <a:xfrm>
            <a:off x="210312" y="91440"/>
            <a:ext cx="640080" cy="310896"/>
          </a:xfrm>
          <a:prstGeom prst="rect">
            <a:avLst/>
          </a:prstGeom>
          <a:solidFill>
            <a:srgbClr val="EA580C"/>
          </a:solidFill>
          <a:ln w="12700">
            <a:solidFill>
              <a:srgbClr val="EA580C"/>
            </a:solidFill>
            <a:prstDash val="solid"/>
          </a:ln>
        </p:spPr>
      </p:sp>
      <p:sp>
        <p:nvSpPr>
          <p:cNvPr id="4" name="Text 2"/>
          <p:cNvSpPr/>
          <p:nvPr/>
        </p:nvSpPr>
        <p:spPr>
          <a:xfrm>
            <a:off x="210312" y="91440"/>
            <a:ext cx="640080"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R25</a:t>
            </a:r>
            <a:endParaRPr lang="en-US" sz="1200" dirty="0"/>
          </a:p>
        </p:txBody>
      </p:sp>
      <p:sp>
        <p:nvSpPr>
          <p:cNvPr id="5" name="Text 3"/>
          <p:cNvSpPr/>
          <p:nvPr/>
        </p:nvSpPr>
        <p:spPr>
          <a:xfrm>
            <a:off x="7589520" y="118872"/>
            <a:ext cx="1417320" cy="228600"/>
          </a:xfrm>
          <a:prstGeom prst="rect">
            <a:avLst/>
          </a:prstGeom>
          <a:noFill/>
          <a:ln/>
        </p:spPr>
        <p:txBody>
          <a:bodyPr wrap="square" rtlCol="0" anchor="ctr"/>
          <a:lstStyle/>
          <a:p>
            <a:pPr marL="0" indent="0" algn="r">
              <a:buNone/>
            </a:pPr>
            <a:r>
              <a:rPr lang="en-US" sz="700" b="1" dirty="0">
                <a:solidFill>
                  <a:srgbClr val="EA580C"/>
                </a:solidFill>
                <a:latin typeface="Calibri" pitchFamily="34" charset="0"/>
                <a:ea typeface="Calibri" pitchFamily="34" charset="-122"/>
                <a:cs typeface="Calibri" pitchFamily="34" charset="-120"/>
              </a:rPr>
              <a:t>DÉTECTION DE FRAUDE</a:t>
            </a:r>
            <a:endParaRPr lang="en-US" sz="700" dirty="0"/>
          </a:p>
        </p:txBody>
      </p:sp>
      <p:sp>
        <p:nvSpPr>
          <p:cNvPr id="6" name="Text 4"/>
          <p:cNvSpPr/>
          <p:nvPr/>
        </p:nvSpPr>
        <p:spPr>
          <a:xfrm>
            <a:off x="932688" y="91440"/>
            <a:ext cx="6583680" cy="310896"/>
          </a:xfrm>
          <a:prstGeom prst="rect">
            <a:avLst/>
          </a:prstGeom>
          <a:noFill/>
          <a:ln/>
        </p:spPr>
        <p:txBody>
          <a:bodyPr wrap="square" rtlCol="0" anchor="ctr"/>
          <a:lstStyle/>
          <a:p>
            <a:pPr marL="0" indent="0">
              <a:buNone/>
            </a:pPr>
            <a:r>
              <a:rPr lang="en-US" sz="1350" b="1" dirty="0">
                <a:solidFill>
                  <a:srgbClr val="1E293B"/>
                </a:solidFill>
                <a:latin typeface="Calibri" pitchFamily="34" charset="0"/>
                <a:ea typeface="Calibri" pitchFamily="34" charset="-122"/>
                <a:cs typeface="Calibri" pitchFamily="34" charset="-120"/>
              </a:rPr>
              <a:t>Connexion depuis un pays inhabituel</a:t>
            </a:r>
            <a:endParaRPr lang="en-US" sz="1350" dirty="0"/>
          </a:p>
        </p:txBody>
      </p:sp>
      <p:sp>
        <p:nvSpPr>
          <p:cNvPr id="7" name="Text 5"/>
          <p:cNvSpPr/>
          <p:nvPr/>
        </p:nvSpPr>
        <p:spPr>
          <a:xfrm>
            <a:off x="210312" y="429768"/>
            <a:ext cx="8732520" cy="246888"/>
          </a:xfrm>
          <a:prstGeom prst="rect">
            <a:avLst/>
          </a:prstGeom>
          <a:noFill/>
          <a:ln/>
        </p:spPr>
        <p:txBody>
          <a:bodyPr wrap="square" rtlCol="0" anchor="ctr"/>
          <a:lstStyle/>
          <a:p>
            <a:pPr marL="0" indent="0">
              <a:buNone/>
            </a:pPr>
            <a:r>
              <a:rPr lang="en-US" sz="1000" i="1" dirty="0">
                <a:solidFill>
                  <a:srgbClr val="475569"/>
                </a:solidFill>
                <a:latin typeface="Calibri" pitchFamily="34" charset="0"/>
                <a:ea typeface="Calibri" pitchFamily="34" charset="-122"/>
                <a:cs typeface="Calibri" pitchFamily="34" charset="-120"/>
              </a:rPr>
              <a:t>Détecter les connexions depuis un pays jamais utilisé auparavant par le même utilisateur</a:t>
            </a:r>
            <a:endParaRPr lang="en-US" sz="1000" dirty="0"/>
          </a:p>
        </p:txBody>
      </p:sp>
      <p:sp>
        <p:nvSpPr>
          <p:cNvPr id="8" name="Shape 6"/>
          <p:cNvSpPr/>
          <p:nvPr/>
        </p:nvSpPr>
        <p:spPr>
          <a:xfrm>
            <a:off x="210312" y="704088"/>
            <a:ext cx="8732520" cy="2011680"/>
          </a:xfrm>
          <a:prstGeom prst="rect">
            <a:avLst/>
          </a:prstGeom>
          <a:solidFill>
            <a:srgbClr val="0F1E2E"/>
          </a:solidFill>
          <a:ln w="6350">
            <a:solidFill>
              <a:srgbClr val="1E3A5F"/>
            </a:solidFill>
            <a:prstDash val="solid"/>
          </a:ln>
        </p:spPr>
      </p:sp>
      <p:sp>
        <p:nvSpPr>
          <p:cNvPr id="9" name="Text 7"/>
          <p:cNvSpPr/>
          <p:nvPr/>
        </p:nvSpPr>
        <p:spPr>
          <a:xfrm>
            <a:off x="292608" y="731520"/>
            <a:ext cx="8549640" cy="1920240"/>
          </a:xfrm>
          <a:prstGeom prst="rect">
            <a:avLst/>
          </a:prstGeom>
          <a:noFill/>
          <a:ln/>
        </p:spPr>
        <p:txBody>
          <a:bodyPr wrap="square" lIns="38100" tIns="38100" rIns="38100" bIns="38100" rtlCol="0" anchor="t"/>
          <a:lstStyle/>
          <a:p>
            <a:pPr marL="0" indent="0">
              <a:buNone/>
            </a:pPr>
            <a:r>
              <a:rPr lang="en-US" sz="700" dirty="0">
                <a:solidFill>
                  <a:srgbClr val="CBD5E1"/>
                </a:solidFill>
                <a:latin typeface="Consolas" pitchFamily="34" charset="0"/>
                <a:ea typeface="Consolas" pitchFamily="34" charset="-122"/>
                <a:cs typeface="Consolas" pitchFamily="34" charset="-120"/>
              </a:rPr>
              <a:t>SELECT C.id_connexion, U.nom || ' ' || U.prenom AS utilisateur,</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    C.pays AS pays_connexion, C.adresse_ip,</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    TO_CHAR(C.date_heure,'DD/MM/YYYY HH24:MI') AS date_heure</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FROM Connexion C</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JOIN Utilisateur U ON U.id_utilisateur = C.id_utilisateur</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WHERE C.pays NOT IN (</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    SELECT DISTINCT C2.pays FROM Connexion C2</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    WHERE C2.id_utilisateur = C.id_utilisateur</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      AND C2.date_heure &lt; C.date_heure AND C2.pays IS NOT NULL</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ORDER BY C.date_heure DESC;</a:t>
            </a:r>
            <a:endParaRPr lang="en-US" sz="700" dirty="0"/>
          </a:p>
        </p:txBody>
      </p:sp>
      <p:sp>
        <p:nvSpPr>
          <p:cNvPr id="10" name="Text 8"/>
          <p:cNvSpPr/>
          <p:nvPr/>
        </p:nvSpPr>
        <p:spPr>
          <a:xfrm>
            <a:off x="210312" y="2779776"/>
            <a:ext cx="3657600" cy="201168"/>
          </a:xfrm>
          <a:prstGeom prst="rect">
            <a:avLst/>
          </a:prstGeom>
          <a:noFill/>
          <a:ln/>
        </p:spPr>
        <p:txBody>
          <a:bodyPr wrap="square" rtlCol="0" anchor="ctr"/>
          <a:lstStyle/>
          <a:p>
            <a:pPr marL="0" indent="0">
              <a:buNone/>
            </a:pPr>
            <a:r>
              <a:rPr lang="en-US" sz="850" b="1" dirty="0">
                <a:solidFill>
                  <a:srgbClr val="EA580C"/>
                </a:solidFill>
                <a:latin typeface="Calibri" pitchFamily="34" charset="0"/>
                <a:ea typeface="Calibri" pitchFamily="34" charset="-122"/>
                <a:cs typeface="Calibri" pitchFamily="34" charset="-120"/>
              </a:rPr>
              <a:t>▶  </a:t>
            </a:r>
            <a:r>
              <a:rPr lang="en-US" sz="850" b="1" dirty="0" err="1" smtClean="0">
                <a:solidFill>
                  <a:srgbClr val="EA580C"/>
                </a:solidFill>
                <a:latin typeface="Calibri" pitchFamily="34" charset="0"/>
                <a:ea typeface="Calibri" pitchFamily="34" charset="-122"/>
                <a:cs typeface="Calibri" pitchFamily="34" charset="-120"/>
              </a:rPr>
              <a:t>Résultats</a:t>
            </a:r>
            <a:r>
              <a:rPr lang="en-US" sz="850" b="1" dirty="0">
                <a:solidFill>
                  <a:srgbClr val="EA580C"/>
                </a:solidFill>
                <a:latin typeface="Calibri" pitchFamily="34" charset="0"/>
                <a:ea typeface="Calibri" pitchFamily="34" charset="-122"/>
                <a:cs typeface="Calibri" pitchFamily="34" charset="-120"/>
              </a:rPr>
              <a:t> </a:t>
            </a:r>
            <a:r>
              <a:rPr lang="en-US" sz="850" b="1" dirty="0" smtClean="0">
                <a:solidFill>
                  <a:srgbClr val="EA580C"/>
                </a:solidFill>
                <a:latin typeface="Calibri" pitchFamily="34" charset="0"/>
                <a:ea typeface="Calibri" pitchFamily="34" charset="-122"/>
                <a:cs typeface="Calibri" pitchFamily="34" charset="-120"/>
              </a:rPr>
              <a:t>:</a:t>
            </a:r>
            <a:endParaRPr lang="en-US" sz="850" dirty="0"/>
          </a:p>
        </p:txBody>
      </p:sp>
      <p:graphicFrame>
        <p:nvGraphicFramePr>
          <p:cNvPr id="33" name="Table 0"/>
          <p:cNvGraphicFramePr>
            <a:graphicFrameLocks noGrp="1"/>
          </p:cNvGraphicFramePr>
          <p:nvPr>
            <p:extLst>
              <p:ext uri="{D42A27DB-BD31-4B8C-83A1-F6EECF244321}">
                <p14:modId xmlns:p14="http://schemas.microsoft.com/office/powerpoint/2010/main" val="1579011935"/>
              </p:ext>
            </p:extLst>
          </p:nvPr>
        </p:nvGraphicFramePr>
        <p:xfrm>
          <a:off x="210312" y="2999232"/>
          <a:ext cx="8732520" cy="987552"/>
        </p:xfrm>
        <a:graphic>
          <a:graphicData uri="http://schemas.openxmlformats.org/drawingml/2006/table">
            <a:tbl>
              <a:tblPr/>
              <a:tblGrid>
                <a:gridCol w="1746504"/>
                <a:gridCol w="1746504"/>
                <a:gridCol w="1746504"/>
                <a:gridCol w="1746504"/>
                <a:gridCol w="1746504"/>
              </a:tblGrid>
              <a:tr h="246888">
                <a:tc>
                  <a:txBody>
                    <a:bodyPr/>
                    <a:lstStyle/>
                    <a:p>
                      <a:pPr marL="0" indent="0" algn="ctr">
                        <a:buNone/>
                      </a:pPr>
                      <a:r>
                        <a:rPr lang="en-US" sz="800" b="1" dirty="0">
                          <a:solidFill>
                            <a:srgbClr val="FFFFFF"/>
                          </a:solidFill>
                          <a:latin typeface="Calibri" pitchFamily="34" charset="0"/>
                          <a:ea typeface="Calibri" pitchFamily="34" charset="-122"/>
                          <a:cs typeface="Calibri" pitchFamily="34" charset="-120"/>
                        </a:rPr>
                        <a:t>ID_CONN</a:t>
                      </a:r>
                      <a:endParaRPr lang="en-US" sz="8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B1628"/>
                    </a:solidFill>
                  </a:tcPr>
                </a:tc>
                <a:tc>
                  <a:txBody>
                    <a:bodyPr/>
                    <a:lstStyle/>
                    <a:p>
                      <a:pPr marL="0" indent="0" algn="ctr">
                        <a:buNone/>
                      </a:pPr>
                      <a:r>
                        <a:rPr lang="en-US" sz="800" b="1" dirty="0">
                          <a:solidFill>
                            <a:srgbClr val="FFFFFF"/>
                          </a:solidFill>
                          <a:latin typeface="Calibri" pitchFamily="34" charset="0"/>
                          <a:ea typeface="Calibri" pitchFamily="34" charset="-122"/>
                          <a:cs typeface="Calibri" pitchFamily="34" charset="-120"/>
                        </a:rPr>
                        <a:t>UTILISATEUR</a:t>
                      </a:r>
                      <a:endParaRPr lang="en-US" sz="8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B1628"/>
                    </a:solidFill>
                  </a:tcPr>
                </a:tc>
                <a:tc>
                  <a:txBody>
                    <a:bodyPr/>
                    <a:lstStyle/>
                    <a:p>
                      <a:pPr marL="0" indent="0" algn="ctr">
                        <a:buNone/>
                      </a:pPr>
                      <a:r>
                        <a:rPr lang="en-US" sz="800" b="1" dirty="0">
                          <a:solidFill>
                            <a:srgbClr val="FFFFFF"/>
                          </a:solidFill>
                          <a:latin typeface="Calibri" pitchFamily="34" charset="0"/>
                          <a:ea typeface="Calibri" pitchFamily="34" charset="-122"/>
                          <a:cs typeface="Calibri" pitchFamily="34" charset="-120"/>
                        </a:rPr>
                        <a:t>PAYS_CONNEXION</a:t>
                      </a:r>
                      <a:endParaRPr lang="en-US" sz="8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B1628"/>
                    </a:solidFill>
                  </a:tcPr>
                </a:tc>
                <a:tc>
                  <a:txBody>
                    <a:bodyPr/>
                    <a:lstStyle/>
                    <a:p>
                      <a:pPr marL="0" indent="0" algn="ctr">
                        <a:buNone/>
                      </a:pPr>
                      <a:r>
                        <a:rPr lang="en-US" sz="800" b="1" dirty="0">
                          <a:solidFill>
                            <a:srgbClr val="FFFFFF"/>
                          </a:solidFill>
                          <a:latin typeface="Calibri" pitchFamily="34" charset="0"/>
                          <a:ea typeface="Calibri" pitchFamily="34" charset="-122"/>
                          <a:cs typeface="Calibri" pitchFamily="34" charset="-120"/>
                        </a:rPr>
                        <a:t>ADRESSE_IP</a:t>
                      </a:r>
                      <a:endParaRPr lang="en-US" sz="8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B1628"/>
                    </a:solidFill>
                  </a:tcPr>
                </a:tc>
                <a:tc>
                  <a:txBody>
                    <a:bodyPr/>
                    <a:lstStyle/>
                    <a:p>
                      <a:pPr marL="0" indent="0" algn="ctr">
                        <a:buNone/>
                      </a:pPr>
                      <a:r>
                        <a:rPr lang="en-US" sz="800" b="1" dirty="0">
                          <a:solidFill>
                            <a:srgbClr val="FFFFFF"/>
                          </a:solidFill>
                          <a:latin typeface="Calibri" pitchFamily="34" charset="0"/>
                          <a:ea typeface="Calibri" pitchFamily="34" charset="-122"/>
                          <a:cs typeface="Calibri" pitchFamily="34" charset="-120"/>
                        </a:rPr>
                        <a:t>DATE_HEURE</a:t>
                      </a:r>
                      <a:endParaRPr lang="en-US" sz="8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B1628"/>
                    </a:solidFill>
                  </a:tcPr>
                </a:tc>
              </a:tr>
              <a:tr h="246888">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1080</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Anas SAOUDI</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RU</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91.108.4.220</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18/04/2026 03:14</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246888">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1072</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Leila TRABELSI</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CN</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103.21.244.10</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16/04/2026 01:22</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r>
              <a:tr h="246888">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1065</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Karim MANSOURI</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BR</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177.92.3.45</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14/04/2026 20:08</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bl>
          </a:graphicData>
        </a:graphic>
      </p:graphicFrame>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name="Slide 33">
    <p:bg>
      <p:bgPr>
        <a:solidFill>
          <a:srgbClr val="F0F6FF"/>
        </a:solidFill>
        <a:effectLst/>
      </p:bgPr>
    </p:bg>
    <p:spTree>
      <p:nvGrpSpPr>
        <p:cNvPr id="1" name=""/>
        <p:cNvGrpSpPr/>
        <p:nvPr/>
      </p:nvGrpSpPr>
      <p:grpSpPr>
        <a:xfrm>
          <a:off x="0" y="0"/>
          <a:ext cx="0" cy="0"/>
          <a:chOff x="0" y="0"/>
          <a:chExt cx="0" cy="0"/>
        </a:xfrm>
      </p:grpSpPr>
      <p:sp>
        <p:nvSpPr>
          <p:cNvPr id="2" name="Shape 0"/>
          <p:cNvSpPr/>
          <p:nvPr/>
        </p:nvSpPr>
        <p:spPr>
          <a:xfrm>
            <a:off x="0" y="0"/>
            <a:ext cx="118872" cy="5143500"/>
          </a:xfrm>
          <a:prstGeom prst="rect">
            <a:avLst/>
          </a:prstGeom>
          <a:solidFill>
            <a:srgbClr val="EA580C"/>
          </a:solidFill>
          <a:ln w="12700">
            <a:solidFill>
              <a:srgbClr val="EA580C"/>
            </a:solidFill>
            <a:prstDash val="solid"/>
          </a:ln>
        </p:spPr>
      </p:sp>
      <p:sp>
        <p:nvSpPr>
          <p:cNvPr id="3" name="Shape 1"/>
          <p:cNvSpPr/>
          <p:nvPr/>
        </p:nvSpPr>
        <p:spPr>
          <a:xfrm>
            <a:off x="210312" y="91440"/>
            <a:ext cx="640080" cy="310896"/>
          </a:xfrm>
          <a:prstGeom prst="rect">
            <a:avLst/>
          </a:prstGeom>
          <a:solidFill>
            <a:srgbClr val="EA580C"/>
          </a:solidFill>
          <a:ln w="12700">
            <a:solidFill>
              <a:srgbClr val="EA580C"/>
            </a:solidFill>
            <a:prstDash val="solid"/>
          </a:ln>
        </p:spPr>
      </p:sp>
      <p:sp>
        <p:nvSpPr>
          <p:cNvPr id="4" name="Text 2"/>
          <p:cNvSpPr/>
          <p:nvPr/>
        </p:nvSpPr>
        <p:spPr>
          <a:xfrm>
            <a:off x="210312" y="91440"/>
            <a:ext cx="640080"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R26</a:t>
            </a:r>
            <a:endParaRPr lang="en-US" sz="1200" dirty="0"/>
          </a:p>
        </p:txBody>
      </p:sp>
      <p:sp>
        <p:nvSpPr>
          <p:cNvPr id="5" name="Text 3"/>
          <p:cNvSpPr/>
          <p:nvPr/>
        </p:nvSpPr>
        <p:spPr>
          <a:xfrm>
            <a:off x="7589520" y="118872"/>
            <a:ext cx="1417320" cy="228600"/>
          </a:xfrm>
          <a:prstGeom prst="rect">
            <a:avLst/>
          </a:prstGeom>
          <a:noFill/>
          <a:ln/>
        </p:spPr>
        <p:txBody>
          <a:bodyPr wrap="square" rtlCol="0" anchor="ctr"/>
          <a:lstStyle/>
          <a:p>
            <a:pPr marL="0" indent="0" algn="r">
              <a:buNone/>
            </a:pPr>
            <a:r>
              <a:rPr lang="en-US" sz="700" b="1" dirty="0">
                <a:solidFill>
                  <a:srgbClr val="EA580C"/>
                </a:solidFill>
                <a:latin typeface="Calibri" pitchFamily="34" charset="0"/>
                <a:ea typeface="Calibri" pitchFamily="34" charset="-122"/>
                <a:cs typeface="Calibri" pitchFamily="34" charset="-120"/>
              </a:rPr>
              <a:t>DÉTECTION DE FRAUDE</a:t>
            </a:r>
            <a:endParaRPr lang="en-US" sz="700" dirty="0"/>
          </a:p>
        </p:txBody>
      </p:sp>
      <p:sp>
        <p:nvSpPr>
          <p:cNvPr id="6" name="Text 4"/>
          <p:cNvSpPr/>
          <p:nvPr/>
        </p:nvSpPr>
        <p:spPr>
          <a:xfrm>
            <a:off x="932688" y="91440"/>
            <a:ext cx="6583680" cy="310896"/>
          </a:xfrm>
          <a:prstGeom prst="rect">
            <a:avLst/>
          </a:prstGeom>
          <a:noFill/>
          <a:ln/>
        </p:spPr>
        <p:txBody>
          <a:bodyPr wrap="square" rtlCol="0" anchor="ctr"/>
          <a:lstStyle/>
          <a:p>
            <a:pPr marL="0" indent="0">
              <a:buNone/>
            </a:pPr>
            <a:r>
              <a:rPr lang="en-US" sz="1350" b="1" dirty="0">
                <a:solidFill>
                  <a:srgbClr val="1E293B"/>
                </a:solidFill>
                <a:latin typeface="Calibri" pitchFamily="34" charset="0"/>
                <a:ea typeface="Calibri" pitchFamily="34" charset="-122"/>
                <a:cs typeface="Calibri" pitchFamily="34" charset="-120"/>
              </a:rPr>
              <a:t>Alertes critiques non traitées depuis plus de 7 jours</a:t>
            </a:r>
            <a:endParaRPr lang="en-US" sz="1350" dirty="0"/>
          </a:p>
        </p:txBody>
      </p:sp>
      <p:sp>
        <p:nvSpPr>
          <p:cNvPr id="7" name="Text 5"/>
          <p:cNvSpPr/>
          <p:nvPr/>
        </p:nvSpPr>
        <p:spPr>
          <a:xfrm>
            <a:off x="210312" y="429768"/>
            <a:ext cx="8732520" cy="246888"/>
          </a:xfrm>
          <a:prstGeom prst="rect">
            <a:avLst/>
          </a:prstGeom>
          <a:noFill/>
          <a:ln/>
        </p:spPr>
        <p:txBody>
          <a:bodyPr wrap="square" rtlCol="0" anchor="ctr"/>
          <a:lstStyle/>
          <a:p>
            <a:pPr marL="0" indent="0">
              <a:buNone/>
            </a:pPr>
            <a:r>
              <a:rPr lang="en-US" sz="1000" i="1" dirty="0">
                <a:solidFill>
                  <a:srgbClr val="475569"/>
                </a:solidFill>
                <a:latin typeface="Calibri" pitchFamily="34" charset="0"/>
                <a:ea typeface="Calibri" pitchFamily="34" charset="-122"/>
                <a:cs typeface="Calibri" pitchFamily="34" charset="-120"/>
              </a:rPr>
              <a:t>Alertes de niveau CRITIQUE ou HAUTE encore ouvertes après plus de 7 jours</a:t>
            </a:r>
            <a:endParaRPr lang="en-US" sz="1000" dirty="0"/>
          </a:p>
        </p:txBody>
      </p:sp>
      <p:sp>
        <p:nvSpPr>
          <p:cNvPr id="8" name="Shape 6"/>
          <p:cNvSpPr/>
          <p:nvPr/>
        </p:nvSpPr>
        <p:spPr>
          <a:xfrm>
            <a:off x="210312" y="704088"/>
            <a:ext cx="8732520" cy="2011680"/>
          </a:xfrm>
          <a:prstGeom prst="rect">
            <a:avLst/>
          </a:prstGeom>
          <a:solidFill>
            <a:srgbClr val="0F1E2E"/>
          </a:solidFill>
          <a:ln w="6350">
            <a:solidFill>
              <a:srgbClr val="1E3A5F"/>
            </a:solidFill>
            <a:prstDash val="solid"/>
          </a:ln>
        </p:spPr>
      </p:sp>
      <p:sp>
        <p:nvSpPr>
          <p:cNvPr id="9" name="Text 7"/>
          <p:cNvSpPr/>
          <p:nvPr/>
        </p:nvSpPr>
        <p:spPr>
          <a:xfrm>
            <a:off x="292608" y="731520"/>
            <a:ext cx="8549640" cy="1920240"/>
          </a:xfrm>
          <a:prstGeom prst="rect">
            <a:avLst/>
          </a:prstGeom>
          <a:noFill/>
          <a:ln/>
        </p:spPr>
        <p:txBody>
          <a:bodyPr wrap="square" lIns="38100" tIns="38100" rIns="38100" bIns="38100" rtlCol="0" anchor="t"/>
          <a:lstStyle/>
          <a:p>
            <a:pPr marL="0" indent="0">
              <a:buNone/>
            </a:pPr>
            <a:r>
              <a:rPr lang="en-US" sz="700" dirty="0">
                <a:solidFill>
                  <a:srgbClr val="CBD5E1"/>
                </a:solidFill>
                <a:latin typeface="Consolas" pitchFamily="34" charset="0"/>
                <a:ea typeface="Consolas" pitchFamily="34" charset="-122"/>
                <a:cs typeface="Consolas" pitchFamily="34" charset="-120"/>
              </a:rPr>
              <a:t>SELECT A.id_alerte, A.niveau_gravite, A.statut_traitement,</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    TO_CHAR(A.date_declenchement,'DD/MM/YYYY') AS date_declenchement,</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    TRUNC(SYSDATE - A.date_declenchement) AS jours_sans_traitement</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FROM Alerte A</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WHERE A.statut_traitement != 'RESOLUE'</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  AND A.niveau_gravite IN ('CRITIQUE','HAUTE')</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  AND (SYSDATE - A.date_declenchement) &gt; 7</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ORDER BY jours_sans_traitement DESC;</a:t>
            </a:r>
            <a:endParaRPr lang="en-US" sz="700" dirty="0"/>
          </a:p>
        </p:txBody>
      </p:sp>
      <p:sp>
        <p:nvSpPr>
          <p:cNvPr id="10" name="Text 8"/>
          <p:cNvSpPr/>
          <p:nvPr/>
        </p:nvSpPr>
        <p:spPr>
          <a:xfrm>
            <a:off x="210312" y="2779776"/>
            <a:ext cx="3657600" cy="201168"/>
          </a:xfrm>
          <a:prstGeom prst="rect">
            <a:avLst/>
          </a:prstGeom>
          <a:noFill/>
          <a:ln/>
        </p:spPr>
        <p:txBody>
          <a:bodyPr wrap="square" rtlCol="0" anchor="ctr"/>
          <a:lstStyle/>
          <a:p>
            <a:pPr marL="0" indent="0">
              <a:buNone/>
            </a:pPr>
            <a:r>
              <a:rPr lang="en-US" sz="850" b="1" dirty="0">
                <a:solidFill>
                  <a:srgbClr val="EA580C"/>
                </a:solidFill>
                <a:latin typeface="Calibri" pitchFamily="34" charset="0"/>
                <a:ea typeface="Calibri" pitchFamily="34" charset="-122"/>
                <a:cs typeface="Calibri" pitchFamily="34" charset="-120"/>
              </a:rPr>
              <a:t>▶  </a:t>
            </a:r>
            <a:r>
              <a:rPr lang="en-US" sz="850" b="1" dirty="0" err="1">
                <a:solidFill>
                  <a:srgbClr val="EA580C"/>
                </a:solidFill>
                <a:latin typeface="Calibri" pitchFamily="34" charset="0"/>
                <a:ea typeface="Calibri" pitchFamily="34" charset="-122"/>
                <a:cs typeface="Calibri" pitchFamily="34" charset="-120"/>
              </a:rPr>
              <a:t>Résultats</a:t>
            </a:r>
            <a:r>
              <a:rPr lang="en-US" sz="850" b="1" dirty="0">
                <a:solidFill>
                  <a:srgbClr val="EA580C"/>
                </a:solidFill>
                <a:latin typeface="Calibri" pitchFamily="34" charset="0"/>
                <a:ea typeface="Calibri" pitchFamily="34" charset="-122"/>
                <a:cs typeface="Calibri" pitchFamily="34" charset="-120"/>
              </a:rPr>
              <a:t> </a:t>
            </a:r>
            <a:r>
              <a:rPr lang="en-US" sz="850" b="1" dirty="0" smtClean="0">
                <a:solidFill>
                  <a:srgbClr val="EA580C"/>
                </a:solidFill>
                <a:latin typeface="Calibri" pitchFamily="34" charset="0"/>
                <a:ea typeface="Calibri" pitchFamily="34" charset="-122"/>
                <a:cs typeface="Calibri" pitchFamily="34" charset="-120"/>
              </a:rPr>
              <a:t>:</a:t>
            </a:r>
            <a:endParaRPr lang="en-US" sz="850" dirty="0"/>
          </a:p>
        </p:txBody>
      </p:sp>
      <p:graphicFrame>
        <p:nvGraphicFramePr>
          <p:cNvPr id="34" name="Table 0"/>
          <p:cNvGraphicFramePr>
            <a:graphicFrameLocks noGrp="1"/>
          </p:cNvGraphicFramePr>
          <p:nvPr>
            <p:extLst>
              <p:ext uri="{D42A27DB-BD31-4B8C-83A1-F6EECF244321}">
                <p14:modId xmlns:p14="http://schemas.microsoft.com/office/powerpoint/2010/main" val="1579011935"/>
              </p:ext>
            </p:extLst>
          </p:nvPr>
        </p:nvGraphicFramePr>
        <p:xfrm>
          <a:off x="210312" y="2999232"/>
          <a:ext cx="8732520" cy="1234440"/>
        </p:xfrm>
        <a:graphic>
          <a:graphicData uri="http://schemas.openxmlformats.org/drawingml/2006/table">
            <a:tbl>
              <a:tblPr/>
              <a:tblGrid>
                <a:gridCol w="1746504"/>
                <a:gridCol w="1746504"/>
                <a:gridCol w="1746504"/>
                <a:gridCol w="1746504"/>
                <a:gridCol w="1746504"/>
              </a:tblGrid>
              <a:tr h="246888">
                <a:tc>
                  <a:txBody>
                    <a:bodyPr/>
                    <a:lstStyle/>
                    <a:p>
                      <a:pPr marL="0" indent="0" algn="ctr">
                        <a:buNone/>
                      </a:pPr>
                      <a:r>
                        <a:rPr lang="en-US" sz="800" b="1" dirty="0">
                          <a:solidFill>
                            <a:srgbClr val="FFFFFF"/>
                          </a:solidFill>
                          <a:latin typeface="Calibri" pitchFamily="34" charset="0"/>
                          <a:ea typeface="Calibri" pitchFamily="34" charset="-122"/>
                          <a:cs typeface="Calibri" pitchFamily="34" charset="-120"/>
                        </a:rPr>
                        <a:t>ID_ALERTE</a:t>
                      </a:r>
                      <a:endParaRPr lang="en-US" sz="8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B1628"/>
                    </a:solidFill>
                  </a:tcPr>
                </a:tc>
                <a:tc>
                  <a:txBody>
                    <a:bodyPr/>
                    <a:lstStyle/>
                    <a:p>
                      <a:pPr marL="0" indent="0" algn="ctr">
                        <a:buNone/>
                      </a:pPr>
                      <a:r>
                        <a:rPr lang="en-US" sz="800" b="1" dirty="0">
                          <a:solidFill>
                            <a:srgbClr val="FFFFFF"/>
                          </a:solidFill>
                          <a:latin typeface="Calibri" pitchFamily="34" charset="0"/>
                          <a:ea typeface="Calibri" pitchFamily="34" charset="-122"/>
                          <a:cs typeface="Calibri" pitchFamily="34" charset="-120"/>
                        </a:rPr>
                        <a:t>NIVEAU_GRAVITE</a:t>
                      </a:r>
                      <a:endParaRPr lang="en-US" sz="8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B1628"/>
                    </a:solidFill>
                  </a:tcPr>
                </a:tc>
                <a:tc>
                  <a:txBody>
                    <a:bodyPr/>
                    <a:lstStyle/>
                    <a:p>
                      <a:pPr marL="0" indent="0" algn="ctr">
                        <a:buNone/>
                      </a:pPr>
                      <a:r>
                        <a:rPr lang="en-US" sz="800" b="1" dirty="0">
                          <a:solidFill>
                            <a:srgbClr val="FFFFFF"/>
                          </a:solidFill>
                          <a:latin typeface="Calibri" pitchFamily="34" charset="0"/>
                          <a:ea typeface="Calibri" pitchFamily="34" charset="-122"/>
                          <a:cs typeface="Calibri" pitchFamily="34" charset="-120"/>
                        </a:rPr>
                        <a:t>STATUT_TRAITEMENT</a:t>
                      </a:r>
                      <a:endParaRPr lang="en-US" sz="8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B1628"/>
                    </a:solidFill>
                  </a:tcPr>
                </a:tc>
                <a:tc>
                  <a:txBody>
                    <a:bodyPr/>
                    <a:lstStyle/>
                    <a:p>
                      <a:pPr marL="0" indent="0" algn="ctr">
                        <a:buNone/>
                      </a:pPr>
                      <a:r>
                        <a:rPr lang="en-US" sz="800" b="1" dirty="0">
                          <a:solidFill>
                            <a:srgbClr val="FFFFFF"/>
                          </a:solidFill>
                          <a:latin typeface="Calibri" pitchFamily="34" charset="0"/>
                          <a:ea typeface="Calibri" pitchFamily="34" charset="-122"/>
                          <a:cs typeface="Calibri" pitchFamily="34" charset="-120"/>
                        </a:rPr>
                        <a:t>DATE_DECLENCHEMENT</a:t>
                      </a:r>
                      <a:endParaRPr lang="en-US" sz="8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B1628"/>
                    </a:solidFill>
                  </a:tcPr>
                </a:tc>
                <a:tc>
                  <a:txBody>
                    <a:bodyPr/>
                    <a:lstStyle/>
                    <a:p>
                      <a:pPr marL="0" indent="0" algn="ctr">
                        <a:buNone/>
                      </a:pPr>
                      <a:r>
                        <a:rPr lang="en-US" sz="800" b="1" dirty="0">
                          <a:solidFill>
                            <a:srgbClr val="FFFFFF"/>
                          </a:solidFill>
                          <a:latin typeface="Calibri" pitchFamily="34" charset="0"/>
                          <a:ea typeface="Calibri" pitchFamily="34" charset="-122"/>
                          <a:cs typeface="Calibri" pitchFamily="34" charset="-120"/>
                        </a:rPr>
                        <a:t>JOURS_SANS_TRAITEMENT</a:t>
                      </a:r>
                      <a:endParaRPr lang="en-US" sz="8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B1628"/>
                    </a:solidFill>
                  </a:tcPr>
                </a:tc>
              </a:tr>
              <a:tr h="246888">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501</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CRITIQUE</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EN_COURS</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01/04/2026</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18</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246888">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502</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CRITIQUE</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EN_COURS</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05/04/2026</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14</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r>
              <a:tr h="246888">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507</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HAUTE</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EN_COURS</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08/04/2026</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11</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246888">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511</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HAUTE</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EN_COURS</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10/04/2026</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9</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r>
            </a:tbl>
          </a:graphicData>
        </a:graphic>
      </p:graphicFrame>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name="Slide 34">
    <p:bg>
      <p:bgPr>
        <a:solidFill>
          <a:srgbClr val="F0F6FF"/>
        </a:solidFill>
        <a:effectLst/>
      </p:bgPr>
    </p:bg>
    <p:spTree>
      <p:nvGrpSpPr>
        <p:cNvPr id="1" name=""/>
        <p:cNvGrpSpPr/>
        <p:nvPr/>
      </p:nvGrpSpPr>
      <p:grpSpPr>
        <a:xfrm>
          <a:off x="0" y="0"/>
          <a:ext cx="0" cy="0"/>
          <a:chOff x="0" y="0"/>
          <a:chExt cx="0" cy="0"/>
        </a:xfrm>
      </p:grpSpPr>
      <p:sp>
        <p:nvSpPr>
          <p:cNvPr id="2" name="Shape 0"/>
          <p:cNvSpPr/>
          <p:nvPr/>
        </p:nvSpPr>
        <p:spPr>
          <a:xfrm>
            <a:off x="0" y="0"/>
            <a:ext cx="118872" cy="5143500"/>
          </a:xfrm>
          <a:prstGeom prst="rect">
            <a:avLst/>
          </a:prstGeom>
          <a:solidFill>
            <a:srgbClr val="EA580C"/>
          </a:solidFill>
          <a:ln w="12700">
            <a:solidFill>
              <a:srgbClr val="EA580C"/>
            </a:solidFill>
            <a:prstDash val="solid"/>
          </a:ln>
        </p:spPr>
      </p:sp>
      <p:sp>
        <p:nvSpPr>
          <p:cNvPr id="3" name="Shape 1"/>
          <p:cNvSpPr/>
          <p:nvPr/>
        </p:nvSpPr>
        <p:spPr>
          <a:xfrm>
            <a:off x="210312" y="91440"/>
            <a:ext cx="640080" cy="310896"/>
          </a:xfrm>
          <a:prstGeom prst="rect">
            <a:avLst/>
          </a:prstGeom>
          <a:solidFill>
            <a:srgbClr val="EA580C"/>
          </a:solidFill>
          <a:ln w="12700">
            <a:solidFill>
              <a:srgbClr val="EA580C"/>
            </a:solidFill>
            <a:prstDash val="solid"/>
          </a:ln>
        </p:spPr>
      </p:sp>
      <p:sp>
        <p:nvSpPr>
          <p:cNvPr id="4" name="Text 2"/>
          <p:cNvSpPr/>
          <p:nvPr/>
        </p:nvSpPr>
        <p:spPr>
          <a:xfrm>
            <a:off x="210312" y="91440"/>
            <a:ext cx="640080"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R27</a:t>
            </a:r>
            <a:endParaRPr lang="en-US" sz="1200" dirty="0"/>
          </a:p>
        </p:txBody>
      </p:sp>
      <p:sp>
        <p:nvSpPr>
          <p:cNvPr id="5" name="Text 3"/>
          <p:cNvSpPr/>
          <p:nvPr/>
        </p:nvSpPr>
        <p:spPr>
          <a:xfrm>
            <a:off x="7589520" y="118872"/>
            <a:ext cx="1417320" cy="228600"/>
          </a:xfrm>
          <a:prstGeom prst="rect">
            <a:avLst/>
          </a:prstGeom>
          <a:noFill/>
          <a:ln/>
        </p:spPr>
        <p:txBody>
          <a:bodyPr wrap="square" rtlCol="0" anchor="ctr"/>
          <a:lstStyle/>
          <a:p>
            <a:pPr marL="0" indent="0" algn="r">
              <a:buNone/>
            </a:pPr>
            <a:r>
              <a:rPr lang="en-US" sz="700" b="1" dirty="0">
                <a:solidFill>
                  <a:srgbClr val="EA580C"/>
                </a:solidFill>
                <a:latin typeface="Calibri" pitchFamily="34" charset="0"/>
                <a:ea typeface="Calibri" pitchFamily="34" charset="-122"/>
                <a:cs typeface="Calibri" pitchFamily="34" charset="-120"/>
              </a:rPr>
              <a:t>DÉTECTION DE FRAUDE</a:t>
            </a:r>
            <a:endParaRPr lang="en-US" sz="700" dirty="0"/>
          </a:p>
        </p:txBody>
      </p:sp>
      <p:sp>
        <p:nvSpPr>
          <p:cNvPr id="6" name="Text 4"/>
          <p:cNvSpPr/>
          <p:nvPr/>
        </p:nvSpPr>
        <p:spPr>
          <a:xfrm>
            <a:off x="932688" y="91440"/>
            <a:ext cx="6583680" cy="310896"/>
          </a:xfrm>
          <a:prstGeom prst="rect">
            <a:avLst/>
          </a:prstGeom>
          <a:noFill/>
          <a:ln/>
        </p:spPr>
        <p:txBody>
          <a:bodyPr wrap="square" rtlCol="0" anchor="ctr"/>
          <a:lstStyle/>
          <a:p>
            <a:pPr marL="0" indent="0">
              <a:buNone/>
            </a:pPr>
            <a:r>
              <a:rPr lang="en-US" sz="1350" b="1" dirty="0">
                <a:solidFill>
                  <a:srgbClr val="1E293B"/>
                </a:solidFill>
                <a:latin typeface="Calibri" pitchFamily="34" charset="0"/>
                <a:ea typeface="Calibri" pitchFamily="34" charset="-122"/>
                <a:cs typeface="Calibri" pitchFamily="34" charset="-120"/>
              </a:rPr>
              <a:t>Transactions nocturnes suspectes</a:t>
            </a:r>
            <a:endParaRPr lang="en-US" sz="1350" dirty="0"/>
          </a:p>
        </p:txBody>
      </p:sp>
      <p:sp>
        <p:nvSpPr>
          <p:cNvPr id="7" name="Text 5"/>
          <p:cNvSpPr/>
          <p:nvPr/>
        </p:nvSpPr>
        <p:spPr>
          <a:xfrm>
            <a:off x="210312" y="429768"/>
            <a:ext cx="8732520" cy="246888"/>
          </a:xfrm>
          <a:prstGeom prst="rect">
            <a:avLst/>
          </a:prstGeom>
          <a:noFill/>
          <a:ln/>
        </p:spPr>
        <p:txBody>
          <a:bodyPr wrap="square" rtlCol="0" anchor="ctr"/>
          <a:lstStyle/>
          <a:p>
            <a:pPr marL="0" indent="0">
              <a:buNone/>
            </a:pPr>
            <a:r>
              <a:rPr lang="en-US" sz="1000" i="1" dirty="0">
                <a:solidFill>
                  <a:srgbClr val="475569"/>
                </a:solidFill>
                <a:latin typeface="Calibri" pitchFamily="34" charset="0"/>
                <a:ea typeface="Calibri" pitchFamily="34" charset="-122"/>
                <a:cs typeface="Calibri" pitchFamily="34" charset="-120"/>
              </a:rPr>
              <a:t>Transactions effectuées entre 0 h et 5 h du matin dont le montant dépasse 500</a:t>
            </a:r>
            <a:endParaRPr lang="en-US" sz="1000" dirty="0"/>
          </a:p>
        </p:txBody>
      </p:sp>
      <p:sp>
        <p:nvSpPr>
          <p:cNvPr id="8" name="Shape 6"/>
          <p:cNvSpPr/>
          <p:nvPr/>
        </p:nvSpPr>
        <p:spPr>
          <a:xfrm>
            <a:off x="210312" y="704088"/>
            <a:ext cx="8732520" cy="2011680"/>
          </a:xfrm>
          <a:prstGeom prst="rect">
            <a:avLst/>
          </a:prstGeom>
          <a:solidFill>
            <a:srgbClr val="0F1E2E"/>
          </a:solidFill>
          <a:ln w="6350">
            <a:solidFill>
              <a:srgbClr val="1E3A5F"/>
            </a:solidFill>
            <a:prstDash val="solid"/>
          </a:ln>
        </p:spPr>
      </p:sp>
      <p:sp>
        <p:nvSpPr>
          <p:cNvPr id="9" name="Text 7"/>
          <p:cNvSpPr/>
          <p:nvPr/>
        </p:nvSpPr>
        <p:spPr>
          <a:xfrm>
            <a:off x="292608" y="731520"/>
            <a:ext cx="8549640" cy="1920240"/>
          </a:xfrm>
          <a:prstGeom prst="rect">
            <a:avLst/>
          </a:prstGeom>
          <a:noFill/>
          <a:ln/>
        </p:spPr>
        <p:txBody>
          <a:bodyPr wrap="square" lIns="38100" tIns="38100" rIns="38100" bIns="38100" rtlCol="0" anchor="t"/>
          <a:lstStyle/>
          <a:p>
            <a:pPr marL="0" indent="0">
              <a:buNone/>
            </a:pPr>
            <a:r>
              <a:rPr lang="en-US" sz="700" dirty="0">
                <a:solidFill>
                  <a:srgbClr val="CBD5E1"/>
                </a:solidFill>
                <a:latin typeface="Consolas" pitchFamily="34" charset="0"/>
                <a:ea typeface="Consolas" pitchFamily="34" charset="-122"/>
                <a:cs typeface="Consolas" pitchFamily="34" charset="-120"/>
              </a:rPr>
              <a:t>SELECT T.id_transaction, U.nom || ' ' || U.prenom AS utilisateur,</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    T.montant, T.pays,</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    TO_CHAR(T.date_heure,'DD/MM/YYYY HH24:MI') AS date_heure,</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    TO_CHAR(T.date_heure,'HH24:MI') AS heure</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FROM Transaction T</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JOIN Est_Titulaire ET ON ET.id_compte     = T.id_compte</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JOIN Utilisateur   U  ON U.id_utilisateur = ET.id_utilisateur</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WHERE TO_NUMBER(TO_CHAR(T.date_heure,'HH24')) BETWEEN 0 AND 4</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  AND T.montant &gt; 500</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ORDER BY T.date_heure DESC;</a:t>
            </a:r>
            <a:endParaRPr lang="en-US" sz="700" dirty="0"/>
          </a:p>
        </p:txBody>
      </p:sp>
      <p:sp>
        <p:nvSpPr>
          <p:cNvPr id="10" name="Text 8"/>
          <p:cNvSpPr/>
          <p:nvPr/>
        </p:nvSpPr>
        <p:spPr>
          <a:xfrm>
            <a:off x="210312" y="2779776"/>
            <a:ext cx="3657600" cy="201168"/>
          </a:xfrm>
          <a:prstGeom prst="rect">
            <a:avLst/>
          </a:prstGeom>
          <a:noFill/>
          <a:ln/>
        </p:spPr>
        <p:txBody>
          <a:bodyPr wrap="square" rtlCol="0" anchor="ctr"/>
          <a:lstStyle/>
          <a:p>
            <a:pPr marL="0" indent="0">
              <a:buNone/>
            </a:pPr>
            <a:r>
              <a:rPr lang="en-US" sz="850" b="1" dirty="0">
                <a:solidFill>
                  <a:srgbClr val="EA580C"/>
                </a:solidFill>
                <a:latin typeface="Calibri" pitchFamily="34" charset="0"/>
                <a:ea typeface="Calibri" pitchFamily="34" charset="-122"/>
                <a:cs typeface="Calibri" pitchFamily="34" charset="-120"/>
              </a:rPr>
              <a:t>▶  </a:t>
            </a:r>
            <a:r>
              <a:rPr lang="en-US" sz="850" b="1" dirty="0" err="1">
                <a:solidFill>
                  <a:srgbClr val="EA580C"/>
                </a:solidFill>
                <a:latin typeface="Calibri" pitchFamily="34" charset="0"/>
                <a:ea typeface="Calibri" pitchFamily="34" charset="-122"/>
                <a:cs typeface="Calibri" pitchFamily="34" charset="-120"/>
              </a:rPr>
              <a:t>Résultats</a:t>
            </a:r>
            <a:r>
              <a:rPr lang="en-US" sz="850" b="1" dirty="0">
                <a:solidFill>
                  <a:srgbClr val="EA580C"/>
                </a:solidFill>
                <a:latin typeface="Calibri" pitchFamily="34" charset="0"/>
                <a:ea typeface="Calibri" pitchFamily="34" charset="-122"/>
                <a:cs typeface="Calibri" pitchFamily="34" charset="-120"/>
              </a:rPr>
              <a:t> </a:t>
            </a:r>
            <a:r>
              <a:rPr lang="en-US" sz="850" b="1" dirty="0" smtClean="0">
                <a:solidFill>
                  <a:srgbClr val="EA580C"/>
                </a:solidFill>
                <a:latin typeface="Calibri" pitchFamily="34" charset="0"/>
                <a:ea typeface="Calibri" pitchFamily="34" charset="-122"/>
                <a:cs typeface="Calibri" pitchFamily="34" charset="-120"/>
              </a:rPr>
              <a:t>:</a:t>
            </a:r>
            <a:endParaRPr lang="en-US" sz="850" dirty="0"/>
          </a:p>
        </p:txBody>
      </p:sp>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210312" y="2999232"/>
          <a:ext cx="8732520" cy="1234440"/>
        </p:xfrm>
        <a:graphic>
          <a:graphicData uri="http://schemas.openxmlformats.org/drawingml/2006/table">
            <a:tbl>
              <a:tblPr/>
              <a:tblGrid>
                <a:gridCol w="1455420"/>
                <a:gridCol w="1455420"/>
                <a:gridCol w="1455420"/>
                <a:gridCol w="1455420"/>
                <a:gridCol w="1455420"/>
                <a:gridCol w="1455420"/>
              </a:tblGrid>
              <a:tr h="246888">
                <a:tc>
                  <a:txBody>
                    <a:bodyPr/>
                    <a:lstStyle/>
                    <a:p>
                      <a:pPr marL="0" indent="0" algn="ctr">
                        <a:buNone/>
                      </a:pPr>
                      <a:r>
                        <a:rPr lang="en-US" sz="800" b="1" dirty="0">
                          <a:solidFill>
                            <a:srgbClr val="FFFFFF"/>
                          </a:solidFill>
                          <a:latin typeface="Calibri" pitchFamily="34" charset="0"/>
                          <a:ea typeface="Calibri" pitchFamily="34" charset="-122"/>
                          <a:cs typeface="Calibri" pitchFamily="34" charset="-120"/>
                        </a:rPr>
                        <a:t>ID_TRANS</a:t>
                      </a:r>
                      <a:endParaRPr lang="en-US" sz="8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B1628"/>
                    </a:solidFill>
                  </a:tcPr>
                </a:tc>
                <a:tc>
                  <a:txBody>
                    <a:bodyPr/>
                    <a:lstStyle/>
                    <a:p>
                      <a:pPr marL="0" indent="0" algn="ctr">
                        <a:buNone/>
                      </a:pPr>
                      <a:r>
                        <a:rPr lang="en-US" sz="800" b="1" dirty="0">
                          <a:solidFill>
                            <a:srgbClr val="FFFFFF"/>
                          </a:solidFill>
                          <a:latin typeface="Calibri" pitchFamily="34" charset="0"/>
                          <a:ea typeface="Calibri" pitchFamily="34" charset="-122"/>
                          <a:cs typeface="Calibri" pitchFamily="34" charset="-120"/>
                        </a:rPr>
                        <a:t>UTILISATEUR</a:t>
                      </a:r>
                      <a:endParaRPr lang="en-US" sz="8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B1628"/>
                    </a:solidFill>
                  </a:tcPr>
                </a:tc>
                <a:tc>
                  <a:txBody>
                    <a:bodyPr/>
                    <a:lstStyle/>
                    <a:p>
                      <a:pPr marL="0" indent="0" algn="ctr">
                        <a:buNone/>
                      </a:pPr>
                      <a:r>
                        <a:rPr lang="en-US" sz="800" b="1" dirty="0">
                          <a:solidFill>
                            <a:srgbClr val="FFFFFF"/>
                          </a:solidFill>
                          <a:latin typeface="Calibri" pitchFamily="34" charset="0"/>
                          <a:ea typeface="Calibri" pitchFamily="34" charset="-122"/>
                          <a:cs typeface="Calibri" pitchFamily="34" charset="-120"/>
                        </a:rPr>
                        <a:t>MONTANT</a:t>
                      </a:r>
                      <a:endParaRPr lang="en-US" sz="8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B1628"/>
                    </a:solidFill>
                  </a:tcPr>
                </a:tc>
                <a:tc>
                  <a:txBody>
                    <a:bodyPr/>
                    <a:lstStyle/>
                    <a:p>
                      <a:pPr marL="0" indent="0" algn="ctr">
                        <a:buNone/>
                      </a:pPr>
                      <a:r>
                        <a:rPr lang="en-US" sz="800" b="1" dirty="0">
                          <a:solidFill>
                            <a:srgbClr val="FFFFFF"/>
                          </a:solidFill>
                          <a:latin typeface="Calibri" pitchFamily="34" charset="0"/>
                          <a:ea typeface="Calibri" pitchFamily="34" charset="-122"/>
                          <a:cs typeface="Calibri" pitchFamily="34" charset="-120"/>
                        </a:rPr>
                        <a:t>PAYS</a:t>
                      </a:r>
                      <a:endParaRPr lang="en-US" sz="8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B1628"/>
                    </a:solidFill>
                  </a:tcPr>
                </a:tc>
                <a:tc>
                  <a:txBody>
                    <a:bodyPr/>
                    <a:lstStyle/>
                    <a:p>
                      <a:pPr marL="0" indent="0" algn="ctr">
                        <a:buNone/>
                      </a:pPr>
                      <a:r>
                        <a:rPr lang="en-US" sz="800" b="1" dirty="0">
                          <a:solidFill>
                            <a:srgbClr val="FFFFFF"/>
                          </a:solidFill>
                          <a:latin typeface="Calibri" pitchFamily="34" charset="0"/>
                          <a:ea typeface="Calibri" pitchFamily="34" charset="-122"/>
                          <a:cs typeface="Calibri" pitchFamily="34" charset="-120"/>
                        </a:rPr>
                        <a:t>DATE_HEURE</a:t>
                      </a:r>
                      <a:endParaRPr lang="en-US" sz="8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B1628"/>
                    </a:solidFill>
                  </a:tcPr>
                </a:tc>
                <a:tc>
                  <a:txBody>
                    <a:bodyPr/>
                    <a:lstStyle/>
                    <a:p>
                      <a:pPr marL="0" indent="0" algn="ctr">
                        <a:buNone/>
                      </a:pPr>
                      <a:r>
                        <a:rPr lang="en-US" sz="800" b="1" dirty="0">
                          <a:solidFill>
                            <a:srgbClr val="FFFFFF"/>
                          </a:solidFill>
                          <a:latin typeface="Calibri" pitchFamily="34" charset="0"/>
                          <a:ea typeface="Calibri" pitchFamily="34" charset="-122"/>
                          <a:cs typeface="Calibri" pitchFamily="34" charset="-120"/>
                        </a:rPr>
                        <a:t>HEURE</a:t>
                      </a:r>
                      <a:endParaRPr lang="en-US" sz="8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B1628"/>
                    </a:solidFill>
                  </a:tcPr>
                </a:tc>
              </a:tr>
              <a:tr h="246888">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6004</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Leila TRABELSI</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2850</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MT</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16/04/2026 02:13</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02:13</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246888">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6009</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Mohamed BATTI</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1400</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TN</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17/04/2026 03:40</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03:40</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r>
              <a:tr h="246888">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6015</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Nour CHAABANE</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1100</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TN</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18/04/2026 23:55</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23:55</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246888">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5980</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Karim MANSOURI</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720</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AE</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12/04/2026 01:22</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01:22</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r>
            </a:tbl>
          </a:graphicData>
        </a:graphic>
      </p:graphicFrame>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name="Slide 35">
    <p:bg>
      <p:bgPr>
        <a:solidFill>
          <a:srgbClr val="F0F6FF"/>
        </a:solidFill>
        <a:effectLst/>
      </p:bgPr>
    </p:bg>
    <p:spTree>
      <p:nvGrpSpPr>
        <p:cNvPr id="1" name=""/>
        <p:cNvGrpSpPr/>
        <p:nvPr/>
      </p:nvGrpSpPr>
      <p:grpSpPr>
        <a:xfrm>
          <a:off x="0" y="0"/>
          <a:ext cx="0" cy="0"/>
          <a:chOff x="0" y="0"/>
          <a:chExt cx="0" cy="0"/>
        </a:xfrm>
      </p:grpSpPr>
      <p:sp>
        <p:nvSpPr>
          <p:cNvPr id="2" name="Shape 0"/>
          <p:cNvSpPr/>
          <p:nvPr/>
        </p:nvSpPr>
        <p:spPr>
          <a:xfrm>
            <a:off x="0" y="0"/>
            <a:ext cx="118872" cy="5143500"/>
          </a:xfrm>
          <a:prstGeom prst="rect">
            <a:avLst/>
          </a:prstGeom>
          <a:solidFill>
            <a:srgbClr val="EA580C"/>
          </a:solidFill>
          <a:ln w="12700">
            <a:solidFill>
              <a:srgbClr val="EA580C"/>
            </a:solidFill>
            <a:prstDash val="solid"/>
          </a:ln>
        </p:spPr>
      </p:sp>
      <p:sp>
        <p:nvSpPr>
          <p:cNvPr id="3" name="Shape 1"/>
          <p:cNvSpPr/>
          <p:nvPr/>
        </p:nvSpPr>
        <p:spPr>
          <a:xfrm>
            <a:off x="210312" y="91440"/>
            <a:ext cx="640080" cy="310896"/>
          </a:xfrm>
          <a:prstGeom prst="rect">
            <a:avLst/>
          </a:prstGeom>
          <a:solidFill>
            <a:srgbClr val="EA580C"/>
          </a:solidFill>
          <a:ln w="12700">
            <a:solidFill>
              <a:srgbClr val="EA580C"/>
            </a:solidFill>
            <a:prstDash val="solid"/>
          </a:ln>
        </p:spPr>
      </p:sp>
      <p:sp>
        <p:nvSpPr>
          <p:cNvPr id="4" name="Text 2"/>
          <p:cNvSpPr/>
          <p:nvPr/>
        </p:nvSpPr>
        <p:spPr>
          <a:xfrm>
            <a:off x="210312" y="91440"/>
            <a:ext cx="640080"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R28</a:t>
            </a:r>
            <a:endParaRPr lang="en-US" sz="1200" dirty="0"/>
          </a:p>
        </p:txBody>
      </p:sp>
      <p:sp>
        <p:nvSpPr>
          <p:cNvPr id="5" name="Text 3"/>
          <p:cNvSpPr/>
          <p:nvPr/>
        </p:nvSpPr>
        <p:spPr>
          <a:xfrm>
            <a:off x="7589520" y="118872"/>
            <a:ext cx="1417320" cy="228600"/>
          </a:xfrm>
          <a:prstGeom prst="rect">
            <a:avLst/>
          </a:prstGeom>
          <a:noFill/>
          <a:ln/>
        </p:spPr>
        <p:txBody>
          <a:bodyPr wrap="square" rtlCol="0" anchor="ctr"/>
          <a:lstStyle/>
          <a:p>
            <a:pPr marL="0" indent="0" algn="r">
              <a:buNone/>
            </a:pPr>
            <a:r>
              <a:rPr lang="en-US" sz="700" b="1" dirty="0">
                <a:solidFill>
                  <a:srgbClr val="EA580C"/>
                </a:solidFill>
                <a:latin typeface="Calibri" pitchFamily="34" charset="0"/>
                <a:ea typeface="Calibri" pitchFamily="34" charset="-122"/>
                <a:cs typeface="Calibri" pitchFamily="34" charset="-120"/>
              </a:rPr>
              <a:t>DÉTECTION DE FRAUDE</a:t>
            </a:r>
            <a:endParaRPr lang="en-US" sz="700" dirty="0"/>
          </a:p>
        </p:txBody>
      </p:sp>
      <p:sp>
        <p:nvSpPr>
          <p:cNvPr id="6" name="Text 4"/>
          <p:cNvSpPr/>
          <p:nvPr/>
        </p:nvSpPr>
        <p:spPr>
          <a:xfrm>
            <a:off x="932688" y="91440"/>
            <a:ext cx="6583680" cy="310896"/>
          </a:xfrm>
          <a:prstGeom prst="rect">
            <a:avLst/>
          </a:prstGeom>
          <a:noFill/>
          <a:ln/>
        </p:spPr>
        <p:txBody>
          <a:bodyPr wrap="square" rtlCol="0" anchor="ctr"/>
          <a:lstStyle/>
          <a:p>
            <a:pPr marL="0" indent="0">
              <a:buNone/>
            </a:pPr>
            <a:r>
              <a:rPr lang="en-US" sz="1350" b="1" dirty="0">
                <a:solidFill>
                  <a:srgbClr val="1E293B"/>
                </a:solidFill>
                <a:latin typeface="Calibri" pitchFamily="34" charset="0"/>
                <a:ea typeface="Calibri" pitchFamily="34" charset="-122"/>
                <a:cs typeface="Calibri" pitchFamily="34" charset="-120"/>
              </a:rPr>
              <a:t>Cartes utilisées après leur date d'expiration</a:t>
            </a:r>
            <a:endParaRPr lang="en-US" sz="1350" dirty="0"/>
          </a:p>
        </p:txBody>
      </p:sp>
      <p:sp>
        <p:nvSpPr>
          <p:cNvPr id="7" name="Text 5"/>
          <p:cNvSpPr/>
          <p:nvPr/>
        </p:nvSpPr>
        <p:spPr>
          <a:xfrm>
            <a:off x="210312" y="429768"/>
            <a:ext cx="8732520" cy="246888"/>
          </a:xfrm>
          <a:prstGeom prst="rect">
            <a:avLst/>
          </a:prstGeom>
          <a:noFill/>
          <a:ln/>
        </p:spPr>
        <p:txBody>
          <a:bodyPr wrap="square" rtlCol="0" anchor="ctr"/>
          <a:lstStyle/>
          <a:p>
            <a:pPr marL="0" indent="0">
              <a:buNone/>
            </a:pPr>
            <a:r>
              <a:rPr lang="en-US" sz="1000" i="1" dirty="0">
                <a:solidFill>
                  <a:srgbClr val="475569"/>
                </a:solidFill>
                <a:latin typeface="Calibri" pitchFamily="34" charset="0"/>
                <a:ea typeface="Calibri" pitchFamily="34" charset="-122"/>
                <a:cs typeface="Calibri" pitchFamily="34" charset="-120"/>
              </a:rPr>
              <a:t>Détecter les transactions passées avec une carte dont la date d'expiration est dépassée</a:t>
            </a:r>
            <a:endParaRPr lang="en-US" sz="1000" dirty="0"/>
          </a:p>
        </p:txBody>
      </p:sp>
      <p:sp>
        <p:nvSpPr>
          <p:cNvPr id="8" name="Shape 6"/>
          <p:cNvSpPr/>
          <p:nvPr/>
        </p:nvSpPr>
        <p:spPr>
          <a:xfrm>
            <a:off x="210312" y="704088"/>
            <a:ext cx="8732520" cy="2011680"/>
          </a:xfrm>
          <a:prstGeom prst="rect">
            <a:avLst/>
          </a:prstGeom>
          <a:solidFill>
            <a:srgbClr val="0F1E2E"/>
          </a:solidFill>
          <a:ln w="6350">
            <a:solidFill>
              <a:srgbClr val="1E3A5F"/>
            </a:solidFill>
            <a:prstDash val="solid"/>
          </a:ln>
        </p:spPr>
      </p:sp>
      <p:sp>
        <p:nvSpPr>
          <p:cNvPr id="9" name="Text 7"/>
          <p:cNvSpPr/>
          <p:nvPr/>
        </p:nvSpPr>
        <p:spPr>
          <a:xfrm>
            <a:off x="292608" y="731520"/>
            <a:ext cx="8549640" cy="1920240"/>
          </a:xfrm>
          <a:prstGeom prst="rect">
            <a:avLst/>
          </a:prstGeom>
          <a:noFill/>
          <a:ln/>
        </p:spPr>
        <p:txBody>
          <a:bodyPr wrap="square" lIns="38100" tIns="38100" rIns="38100" bIns="38100" rtlCol="0" anchor="t"/>
          <a:lstStyle/>
          <a:p>
            <a:pPr marL="0" indent="0">
              <a:buNone/>
            </a:pPr>
            <a:r>
              <a:rPr lang="en-US" sz="700" dirty="0">
                <a:solidFill>
                  <a:srgbClr val="CBD5E1"/>
                </a:solidFill>
                <a:latin typeface="Consolas" pitchFamily="34" charset="0"/>
                <a:ea typeface="Consolas" pitchFamily="34" charset="-122"/>
                <a:cs typeface="Consolas" pitchFamily="34" charset="-120"/>
              </a:rPr>
              <a:t>SELECT T.id_transaction, CB.id_carte, CB.numero_masque,</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    TO_CHAR(CB.date_expiration,'MM/YYYY') AS expiration_carte,</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    T.montant,</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    TO_CHAR(T.date_heure,'DD/MM/YYYY HH24:MI') AS date_transaction</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FROM Transaction T</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JOIN Carte_Bancaire CB ON CB.id_carte = T.id_carte</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WHERE T.id_carte IS NOT NULL</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  AND CB.date_expiration &lt; TRUNC(T.date_heure,'MM')</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ORDER BY T.date_heure DESC;</a:t>
            </a:r>
            <a:endParaRPr lang="en-US" sz="700" dirty="0"/>
          </a:p>
        </p:txBody>
      </p:sp>
      <p:sp>
        <p:nvSpPr>
          <p:cNvPr id="10" name="Text 8"/>
          <p:cNvSpPr/>
          <p:nvPr/>
        </p:nvSpPr>
        <p:spPr>
          <a:xfrm>
            <a:off x="210312" y="2779776"/>
            <a:ext cx="3657600" cy="201168"/>
          </a:xfrm>
          <a:prstGeom prst="rect">
            <a:avLst/>
          </a:prstGeom>
          <a:noFill/>
          <a:ln/>
        </p:spPr>
        <p:txBody>
          <a:bodyPr wrap="square" rtlCol="0" anchor="ctr"/>
          <a:lstStyle/>
          <a:p>
            <a:pPr marL="0" indent="0">
              <a:buNone/>
            </a:pPr>
            <a:r>
              <a:rPr lang="en-US" sz="850" b="1" dirty="0">
                <a:solidFill>
                  <a:srgbClr val="EA580C"/>
                </a:solidFill>
                <a:latin typeface="Calibri" pitchFamily="34" charset="0"/>
                <a:ea typeface="Calibri" pitchFamily="34" charset="-122"/>
                <a:cs typeface="Calibri" pitchFamily="34" charset="-120"/>
              </a:rPr>
              <a:t>▶  </a:t>
            </a:r>
            <a:r>
              <a:rPr lang="en-US" sz="850" b="1" dirty="0" err="1">
                <a:solidFill>
                  <a:srgbClr val="EA580C"/>
                </a:solidFill>
                <a:latin typeface="Calibri" pitchFamily="34" charset="0"/>
                <a:ea typeface="Calibri" pitchFamily="34" charset="-122"/>
                <a:cs typeface="Calibri" pitchFamily="34" charset="-120"/>
              </a:rPr>
              <a:t>Résultats</a:t>
            </a:r>
            <a:r>
              <a:rPr lang="en-US" sz="850" b="1" dirty="0">
                <a:solidFill>
                  <a:srgbClr val="EA580C"/>
                </a:solidFill>
                <a:latin typeface="Calibri" pitchFamily="34" charset="0"/>
                <a:ea typeface="Calibri" pitchFamily="34" charset="-122"/>
                <a:cs typeface="Calibri" pitchFamily="34" charset="-120"/>
              </a:rPr>
              <a:t> </a:t>
            </a:r>
            <a:r>
              <a:rPr lang="en-US" sz="850" b="1" dirty="0" smtClean="0">
                <a:solidFill>
                  <a:srgbClr val="EA580C"/>
                </a:solidFill>
                <a:latin typeface="Calibri" pitchFamily="34" charset="0"/>
                <a:ea typeface="Calibri" pitchFamily="34" charset="-122"/>
                <a:cs typeface="Calibri" pitchFamily="34" charset="-120"/>
              </a:rPr>
              <a:t>:</a:t>
            </a:r>
            <a:endParaRPr lang="en-US" sz="850" dirty="0"/>
          </a:p>
        </p:txBody>
      </p:sp>
      <p:graphicFrame>
        <p:nvGraphicFramePr>
          <p:cNvPr id="36" name="Table 0"/>
          <p:cNvGraphicFramePr>
            <a:graphicFrameLocks noGrp="1"/>
          </p:cNvGraphicFramePr>
          <p:nvPr>
            <p:extLst>
              <p:ext uri="{D42A27DB-BD31-4B8C-83A1-F6EECF244321}">
                <p14:modId xmlns:p14="http://schemas.microsoft.com/office/powerpoint/2010/main" val="1579011935"/>
              </p:ext>
            </p:extLst>
          </p:nvPr>
        </p:nvGraphicFramePr>
        <p:xfrm>
          <a:off x="210312" y="2999232"/>
          <a:ext cx="8732520" cy="987552"/>
        </p:xfrm>
        <a:graphic>
          <a:graphicData uri="http://schemas.openxmlformats.org/drawingml/2006/table">
            <a:tbl>
              <a:tblPr/>
              <a:tblGrid>
                <a:gridCol w="1455420"/>
                <a:gridCol w="1455420"/>
                <a:gridCol w="1455420"/>
                <a:gridCol w="1455420"/>
                <a:gridCol w="1455420"/>
                <a:gridCol w="1455420"/>
              </a:tblGrid>
              <a:tr h="246888">
                <a:tc>
                  <a:txBody>
                    <a:bodyPr/>
                    <a:lstStyle/>
                    <a:p>
                      <a:pPr marL="0" indent="0" algn="ctr">
                        <a:buNone/>
                      </a:pPr>
                      <a:r>
                        <a:rPr lang="en-US" sz="800" b="1" dirty="0">
                          <a:solidFill>
                            <a:srgbClr val="FFFFFF"/>
                          </a:solidFill>
                          <a:latin typeface="Calibri" pitchFamily="34" charset="0"/>
                          <a:ea typeface="Calibri" pitchFamily="34" charset="-122"/>
                          <a:cs typeface="Calibri" pitchFamily="34" charset="-120"/>
                        </a:rPr>
                        <a:t>ID_TRANS</a:t>
                      </a:r>
                      <a:endParaRPr lang="en-US" sz="8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B1628"/>
                    </a:solidFill>
                  </a:tcPr>
                </a:tc>
                <a:tc>
                  <a:txBody>
                    <a:bodyPr/>
                    <a:lstStyle/>
                    <a:p>
                      <a:pPr marL="0" indent="0" algn="ctr">
                        <a:buNone/>
                      </a:pPr>
                      <a:r>
                        <a:rPr lang="en-US" sz="800" b="1" dirty="0">
                          <a:solidFill>
                            <a:srgbClr val="FFFFFF"/>
                          </a:solidFill>
                          <a:latin typeface="Calibri" pitchFamily="34" charset="0"/>
                          <a:ea typeface="Calibri" pitchFamily="34" charset="-122"/>
                          <a:cs typeface="Calibri" pitchFamily="34" charset="-120"/>
                        </a:rPr>
                        <a:t>ID_CARTE</a:t>
                      </a:r>
                      <a:endParaRPr lang="en-US" sz="8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B1628"/>
                    </a:solidFill>
                  </a:tcPr>
                </a:tc>
                <a:tc>
                  <a:txBody>
                    <a:bodyPr/>
                    <a:lstStyle/>
                    <a:p>
                      <a:pPr marL="0" indent="0" algn="ctr">
                        <a:buNone/>
                      </a:pPr>
                      <a:r>
                        <a:rPr lang="en-US" sz="800" b="1" dirty="0">
                          <a:solidFill>
                            <a:srgbClr val="FFFFFF"/>
                          </a:solidFill>
                          <a:latin typeface="Calibri" pitchFamily="34" charset="0"/>
                          <a:ea typeface="Calibri" pitchFamily="34" charset="-122"/>
                          <a:cs typeface="Calibri" pitchFamily="34" charset="-120"/>
                        </a:rPr>
                        <a:t>NUMERO_MASQUE</a:t>
                      </a:r>
                      <a:endParaRPr lang="en-US" sz="8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B1628"/>
                    </a:solidFill>
                  </a:tcPr>
                </a:tc>
                <a:tc>
                  <a:txBody>
                    <a:bodyPr/>
                    <a:lstStyle/>
                    <a:p>
                      <a:pPr marL="0" indent="0" algn="ctr">
                        <a:buNone/>
                      </a:pPr>
                      <a:r>
                        <a:rPr lang="en-US" sz="800" b="1" dirty="0">
                          <a:solidFill>
                            <a:srgbClr val="FFFFFF"/>
                          </a:solidFill>
                          <a:latin typeface="Calibri" pitchFamily="34" charset="0"/>
                          <a:ea typeface="Calibri" pitchFamily="34" charset="-122"/>
                          <a:cs typeface="Calibri" pitchFamily="34" charset="-120"/>
                        </a:rPr>
                        <a:t>EXPIRATION_CARTE</a:t>
                      </a:r>
                      <a:endParaRPr lang="en-US" sz="8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B1628"/>
                    </a:solidFill>
                  </a:tcPr>
                </a:tc>
                <a:tc>
                  <a:txBody>
                    <a:bodyPr/>
                    <a:lstStyle/>
                    <a:p>
                      <a:pPr marL="0" indent="0" algn="ctr">
                        <a:buNone/>
                      </a:pPr>
                      <a:r>
                        <a:rPr lang="en-US" sz="800" b="1" dirty="0">
                          <a:solidFill>
                            <a:srgbClr val="FFFFFF"/>
                          </a:solidFill>
                          <a:latin typeface="Calibri" pitchFamily="34" charset="0"/>
                          <a:ea typeface="Calibri" pitchFamily="34" charset="-122"/>
                          <a:cs typeface="Calibri" pitchFamily="34" charset="-120"/>
                        </a:rPr>
                        <a:t>MONTANT</a:t>
                      </a:r>
                      <a:endParaRPr lang="en-US" sz="8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B1628"/>
                    </a:solidFill>
                  </a:tcPr>
                </a:tc>
                <a:tc>
                  <a:txBody>
                    <a:bodyPr/>
                    <a:lstStyle/>
                    <a:p>
                      <a:pPr marL="0" indent="0" algn="ctr">
                        <a:buNone/>
                      </a:pPr>
                      <a:r>
                        <a:rPr lang="en-US" sz="800" b="1" dirty="0">
                          <a:solidFill>
                            <a:srgbClr val="FFFFFF"/>
                          </a:solidFill>
                          <a:latin typeface="Calibri" pitchFamily="34" charset="0"/>
                          <a:ea typeface="Calibri" pitchFamily="34" charset="-122"/>
                          <a:cs typeface="Calibri" pitchFamily="34" charset="-120"/>
                        </a:rPr>
                        <a:t>DATE_TRANSACTION</a:t>
                      </a:r>
                      <a:endParaRPr lang="en-US" sz="8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B1628"/>
                    </a:solidFill>
                  </a:tcPr>
                </a:tc>
              </a:tr>
              <a:tr h="246888">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6088</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301</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****-****-****-4412</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06/2022</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340</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14/04/2026 11:30</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246888">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6042</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302</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****-****-****-8891</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11/2023</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89</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10/04/2026 19:48</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r>
              <a:tr h="246888">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5998</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303</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****-****-****-2207</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03/2024</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200</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05/04/2026 08:12</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bl>
          </a:graphicData>
        </a:graphic>
      </p:graphicFrame>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name="Slide 36">
    <p:bg>
      <p:bgPr>
        <a:solidFill>
          <a:srgbClr val="F0F6FF"/>
        </a:solidFill>
        <a:effectLst/>
      </p:bgPr>
    </p:bg>
    <p:spTree>
      <p:nvGrpSpPr>
        <p:cNvPr id="1" name=""/>
        <p:cNvGrpSpPr/>
        <p:nvPr/>
      </p:nvGrpSpPr>
      <p:grpSpPr>
        <a:xfrm>
          <a:off x="0" y="0"/>
          <a:ext cx="0" cy="0"/>
          <a:chOff x="0" y="0"/>
          <a:chExt cx="0" cy="0"/>
        </a:xfrm>
      </p:grpSpPr>
      <p:sp>
        <p:nvSpPr>
          <p:cNvPr id="2" name="Shape 0"/>
          <p:cNvSpPr/>
          <p:nvPr/>
        </p:nvSpPr>
        <p:spPr>
          <a:xfrm>
            <a:off x="0" y="0"/>
            <a:ext cx="118872" cy="5143500"/>
          </a:xfrm>
          <a:prstGeom prst="rect">
            <a:avLst/>
          </a:prstGeom>
          <a:solidFill>
            <a:srgbClr val="EA580C"/>
          </a:solidFill>
          <a:ln w="12700">
            <a:solidFill>
              <a:srgbClr val="EA580C"/>
            </a:solidFill>
            <a:prstDash val="solid"/>
          </a:ln>
        </p:spPr>
      </p:sp>
      <p:sp>
        <p:nvSpPr>
          <p:cNvPr id="3" name="Shape 1"/>
          <p:cNvSpPr/>
          <p:nvPr/>
        </p:nvSpPr>
        <p:spPr>
          <a:xfrm>
            <a:off x="210312" y="91440"/>
            <a:ext cx="640080" cy="310896"/>
          </a:xfrm>
          <a:prstGeom prst="rect">
            <a:avLst/>
          </a:prstGeom>
          <a:solidFill>
            <a:srgbClr val="EA580C"/>
          </a:solidFill>
          <a:ln w="12700">
            <a:solidFill>
              <a:srgbClr val="EA580C"/>
            </a:solidFill>
            <a:prstDash val="solid"/>
          </a:ln>
        </p:spPr>
      </p:sp>
      <p:sp>
        <p:nvSpPr>
          <p:cNvPr id="4" name="Text 2"/>
          <p:cNvSpPr/>
          <p:nvPr/>
        </p:nvSpPr>
        <p:spPr>
          <a:xfrm>
            <a:off x="210312" y="91440"/>
            <a:ext cx="640080"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R29</a:t>
            </a:r>
            <a:endParaRPr lang="en-US" sz="1200" dirty="0"/>
          </a:p>
        </p:txBody>
      </p:sp>
      <p:sp>
        <p:nvSpPr>
          <p:cNvPr id="5" name="Text 3"/>
          <p:cNvSpPr/>
          <p:nvPr/>
        </p:nvSpPr>
        <p:spPr>
          <a:xfrm>
            <a:off x="7589520" y="118872"/>
            <a:ext cx="1417320" cy="228600"/>
          </a:xfrm>
          <a:prstGeom prst="rect">
            <a:avLst/>
          </a:prstGeom>
          <a:noFill/>
          <a:ln/>
        </p:spPr>
        <p:txBody>
          <a:bodyPr wrap="square" rtlCol="0" anchor="ctr"/>
          <a:lstStyle/>
          <a:p>
            <a:pPr marL="0" indent="0" algn="r">
              <a:buNone/>
            </a:pPr>
            <a:r>
              <a:rPr lang="en-US" sz="700" b="1" dirty="0">
                <a:solidFill>
                  <a:srgbClr val="EA580C"/>
                </a:solidFill>
                <a:latin typeface="Calibri" pitchFamily="34" charset="0"/>
                <a:ea typeface="Calibri" pitchFamily="34" charset="-122"/>
                <a:cs typeface="Calibri" pitchFamily="34" charset="-120"/>
              </a:rPr>
              <a:t>DÉTECTION DE FRAUDE</a:t>
            </a:r>
            <a:endParaRPr lang="en-US" sz="700" dirty="0"/>
          </a:p>
        </p:txBody>
      </p:sp>
      <p:sp>
        <p:nvSpPr>
          <p:cNvPr id="6" name="Text 4"/>
          <p:cNvSpPr/>
          <p:nvPr/>
        </p:nvSpPr>
        <p:spPr>
          <a:xfrm>
            <a:off x="932688" y="91440"/>
            <a:ext cx="6583680" cy="310896"/>
          </a:xfrm>
          <a:prstGeom prst="rect">
            <a:avLst/>
          </a:prstGeom>
          <a:noFill/>
          <a:ln/>
        </p:spPr>
        <p:txBody>
          <a:bodyPr wrap="square" rtlCol="0" anchor="ctr"/>
          <a:lstStyle/>
          <a:p>
            <a:pPr marL="0" indent="0">
              <a:buNone/>
            </a:pPr>
            <a:r>
              <a:rPr lang="en-US" sz="1350" b="1" dirty="0">
                <a:solidFill>
                  <a:srgbClr val="1E293B"/>
                </a:solidFill>
                <a:latin typeface="Calibri" pitchFamily="34" charset="0"/>
                <a:ea typeface="Calibri" pitchFamily="34" charset="-122"/>
                <a:cs typeface="Calibri" pitchFamily="34" charset="-120"/>
              </a:rPr>
              <a:t>Utilisateurs à risque cumulé</a:t>
            </a:r>
            <a:endParaRPr lang="en-US" sz="1350" dirty="0"/>
          </a:p>
        </p:txBody>
      </p:sp>
      <p:sp>
        <p:nvSpPr>
          <p:cNvPr id="7" name="Text 5"/>
          <p:cNvSpPr/>
          <p:nvPr/>
        </p:nvSpPr>
        <p:spPr>
          <a:xfrm>
            <a:off x="210312" y="429768"/>
            <a:ext cx="8732520" cy="246888"/>
          </a:xfrm>
          <a:prstGeom prst="rect">
            <a:avLst/>
          </a:prstGeom>
          <a:noFill/>
          <a:ln/>
        </p:spPr>
        <p:txBody>
          <a:bodyPr wrap="square" rtlCol="0" anchor="ctr"/>
          <a:lstStyle/>
          <a:p>
            <a:pPr marL="0" indent="0">
              <a:buNone/>
            </a:pPr>
            <a:r>
              <a:rPr lang="en-US" sz="1000" i="1" dirty="0">
                <a:solidFill>
                  <a:srgbClr val="475569"/>
                </a:solidFill>
                <a:latin typeface="Calibri" pitchFamily="34" charset="0"/>
                <a:ea typeface="Calibri" pitchFamily="34" charset="-122"/>
                <a:cs typeface="Calibri" pitchFamily="34" charset="-120"/>
              </a:rPr>
              <a:t>Utilisateurs cumulant à la fois des connexions suspectes et des transactions suspectes</a:t>
            </a:r>
            <a:endParaRPr lang="en-US" sz="1000" dirty="0"/>
          </a:p>
        </p:txBody>
      </p:sp>
      <p:sp>
        <p:nvSpPr>
          <p:cNvPr id="8" name="Shape 6"/>
          <p:cNvSpPr/>
          <p:nvPr/>
        </p:nvSpPr>
        <p:spPr>
          <a:xfrm>
            <a:off x="210312" y="704088"/>
            <a:ext cx="8732520" cy="2011680"/>
          </a:xfrm>
          <a:prstGeom prst="rect">
            <a:avLst/>
          </a:prstGeom>
          <a:solidFill>
            <a:srgbClr val="0F1E2E"/>
          </a:solidFill>
          <a:ln w="6350">
            <a:solidFill>
              <a:srgbClr val="1E3A5F"/>
            </a:solidFill>
            <a:prstDash val="solid"/>
          </a:ln>
        </p:spPr>
      </p:sp>
      <p:sp>
        <p:nvSpPr>
          <p:cNvPr id="9" name="Text 7"/>
          <p:cNvSpPr/>
          <p:nvPr/>
        </p:nvSpPr>
        <p:spPr>
          <a:xfrm>
            <a:off x="292608" y="731520"/>
            <a:ext cx="8549640" cy="1920240"/>
          </a:xfrm>
          <a:prstGeom prst="rect">
            <a:avLst/>
          </a:prstGeom>
          <a:noFill/>
          <a:ln/>
        </p:spPr>
        <p:txBody>
          <a:bodyPr wrap="square" lIns="38100" tIns="38100" rIns="38100" bIns="38100" rtlCol="0" anchor="t"/>
          <a:lstStyle/>
          <a:p>
            <a:pPr marL="0" indent="0">
              <a:buNone/>
            </a:pPr>
            <a:r>
              <a:rPr lang="en-US" sz="700" dirty="0">
                <a:solidFill>
                  <a:srgbClr val="CBD5E1"/>
                </a:solidFill>
                <a:latin typeface="Consolas" pitchFamily="34" charset="0"/>
                <a:ea typeface="Consolas" pitchFamily="34" charset="-122"/>
                <a:cs typeface="Consolas" pitchFamily="34" charset="-120"/>
              </a:rPr>
              <a:t>SELECT U.id_utilisateur, U.nom || ' ' || U.prenom AS utilisateur, U.email,</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    COUNT(DISTINCT CS.id_connex_suspecte)  AS nb_connexions_suspectes,</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    COUNT(DISTINCT TS.id_transac_suspecte) AS nb_transactions_suspectes</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FROM Utilisateur U</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JOIN Connexion            C  ON C.id_utilisateur   = U.id_utilisateur</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JOIN Connexion_Suspecte   CS ON CS.id_connexion    = C.id_connexion</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JOIN Est_Titulaire        ET ON ET.id_utilisateur  = U.id_utilisateur</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JOIN Transaction          T  ON T.id_compte        = ET.id_compte</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JOIN Transaction_Suspecte TS ON TS.id_transaction  = T.id_transaction</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GROUP BY U.id_utilisateur, U.nom, U.prenom, U.email</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HAVING COUNT(DISTINCT CS.id_connex_suspecte) &gt; 0</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   AND COUNT(DISTINCT TS.id_transac_suspecte) &gt; 0</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ORDER BY nb_transactions_suspectes DESC;</a:t>
            </a:r>
            <a:endParaRPr lang="en-US" sz="700" dirty="0"/>
          </a:p>
        </p:txBody>
      </p:sp>
      <p:sp>
        <p:nvSpPr>
          <p:cNvPr id="10" name="Text 8"/>
          <p:cNvSpPr/>
          <p:nvPr/>
        </p:nvSpPr>
        <p:spPr>
          <a:xfrm>
            <a:off x="210312" y="2779776"/>
            <a:ext cx="3657600" cy="201168"/>
          </a:xfrm>
          <a:prstGeom prst="rect">
            <a:avLst/>
          </a:prstGeom>
          <a:noFill/>
          <a:ln/>
        </p:spPr>
        <p:txBody>
          <a:bodyPr wrap="square" rtlCol="0" anchor="ctr"/>
          <a:lstStyle/>
          <a:p>
            <a:pPr marL="0" indent="0">
              <a:buNone/>
            </a:pPr>
            <a:r>
              <a:rPr lang="en-US" sz="850" b="1" dirty="0">
                <a:solidFill>
                  <a:srgbClr val="EA580C"/>
                </a:solidFill>
                <a:latin typeface="Calibri" pitchFamily="34" charset="0"/>
                <a:ea typeface="Calibri" pitchFamily="34" charset="-122"/>
                <a:cs typeface="Calibri" pitchFamily="34" charset="-120"/>
              </a:rPr>
              <a:t>▶  </a:t>
            </a:r>
            <a:r>
              <a:rPr lang="en-US" sz="850" b="1" dirty="0" err="1">
                <a:solidFill>
                  <a:srgbClr val="EA580C"/>
                </a:solidFill>
                <a:latin typeface="Calibri" pitchFamily="34" charset="0"/>
                <a:ea typeface="Calibri" pitchFamily="34" charset="-122"/>
                <a:cs typeface="Calibri" pitchFamily="34" charset="-120"/>
              </a:rPr>
              <a:t>Résultats</a:t>
            </a:r>
            <a:r>
              <a:rPr lang="en-US" sz="850" b="1" dirty="0">
                <a:solidFill>
                  <a:srgbClr val="EA580C"/>
                </a:solidFill>
                <a:latin typeface="Calibri" pitchFamily="34" charset="0"/>
                <a:ea typeface="Calibri" pitchFamily="34" charset="-122"/>
                <a:cs typeface="Calibri" pitchFamily="34" charset="-120"/>
              </a:rPr>
              <a:t> </a:t>
            </a:r>
            <a:r>
              <a:rPr lang="en-US" sz="850" b="1" dirty="0" smtClean="0">
                <a:solidFill>
                  <a:srgbClr val="EA580C"/>
                </a:solidFill>
                <a:latin typeface="Calibri" pitchFamily="34" charset="0"/>
                <a:ea typeface="Calibri" pitchFamily="34" charset="-122"/>
                <a:cs typeface="Calibri" pitchFamily="34" charset="-120"/>
              </a:rPr>
              <a:t>:</a:t>
            </a:r>
            <a:endParaRPr lang="en-US" sz="850" dirty="0"/>
          </a:p>
        </p:txBody>
      </p:sp>
      <p:graphicFrame>
        <p:nvGraphicFramePr>
          <p:cNvPr id="37" name="Table 0"/>
          <p:cNvGraphicFramePr>
            <a:graphicFrameLocks noGrp="1"/>
          </p:cNvGraphicFramePr>
          <p:nvPr>
            <p:extLst>
              <p:ext uri="{D42A27DB-BD31-4B8C-83A1-F6EECF244321}">
                <p14:modId xmlns:p14="http://schemas.microsoft.com/office/powerpoint/2010/main" val="1579011935"/>
              </p:ext>
            </p:extLst>
          </p:nvPr>
        </p:nvGraphicFramePr>
        <p:xfrm>
          <a:off x="210312" y="2999232"/>
          <a:ext cx="8732520" cy="1234440"/>
        </p:xfrm>
        <a:graphic>
          <a:graphicData uri="http://schemas.openxmlformats.org/drawingml/2006/table">
            <a:tbl>
              <a:tblPr/>
              <a:tblGrid>
                <a:gridCol w="1746504"/>
                <a:gridCol w="1746504"/>
                <a:gridCol w="1746504"/>
                <a:gridCol w="1746504"/>
                <a:gridCol w="1746504"/>
              </a:tblGrid>
              <a:tr h="246888">
                <a:tc>
                  <a:txBody>
                    <a:bodyPr/>
                    <a:lstStyle/>
                    <a:p>
                      <a:pPr marL="0" indent="0" algn="ctr">
                        <a:buNone/>
                      </a:pPr>
                      <a:r>
                        <a:rPr lang="en-US" sz="800" b="1" dirty="0">
                          <a:solidFill>
                            <a:srgbClr val="FFFFFF"/>
                          </a:solidFill>
                          <a:latin typeface="Calibri" pitchFamily="34" charset="0"/>
                          <a:ea typeface="Calibri" pitchFamily="34" charset="-122"/>
                          <a:cs typeface="Calibri" pitchFamily="34" charset="-120"/>
                        </a:rPr>
                        <a:t>ID_UTIL</a:t>
                      </a:r>
                      <a:endParaRPr lang="en-US" sz="8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B1628"/>
                    </a:solidFill>
                  </a:tcPr>
                </a:tc>
                <a:tc>
                  <a:txBody>
                    <a:bodyPr/>
                    <a:lstStyle/>
                    <a:p>
                      <a:pPr marL="0" indent="0" algn="ctr">
                        <a:buNone/>
                      </a:pPr>
                      <a:r>
                        <a:rPr lang="en-US" sz="800" b="1" dirty="0">
                          <a:solidFill>
                            <a:srgbClr val="FFFFFF"/>
                          </a:solidFill>
                          <a:latin typeface="Calibri" pitchFamily="34" charset="0"/>
                          <a:ea typeface="Calibri" pitchFamily="34" charset="-122"/>
                          <a:cs typeface="Calibri" pitchFamily="34" charset="-120"/>
                        </a:rPr>
                        <a:t>UTILISATEUR</a:t>
                      </a:r>
                      <a:endParaRPr lang="en-US" sz="8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B1628"/>
                    </a:solidFill>
                  </a:tcPr>
                </a:tc>
                <a:tc>
                  <a:txBody>
                    <a:bodyPr/>
                    <a:lstStyle/>
                    <a:p>
                      <a:pPr marL="0" indent="0" algn="ctr">
                        <a:buNone/>
                      </a:pPr>
                      <a:r>
                        <a:rPr lang="en-US" sz="800" b="1" dirty="0">
                          <a:solidFill>
                            <a:srgbClr val="FFFFFF"/>
                          </a:solidFill>
                          <a:latin typeface="Calibri" pitchFamily="34" charset="0"/>
                          <a:ea typeface="Calibri" pitchFamily="34" charset="-122"/>
                          <a:cs typeface="Calibri" pitchFamily="34" charset="-120"/>
                        </a:rPr>
                        <a:t>EMAIL</a:t>
                      </a:r>
                      <a:endParaRPr lang="en-US" sz="8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B1628"/>
                    </a:solidFill>
                  </a:tcPr>
                </a:tc>
                <a:tc>
                  <a:txBody>
                    <a:bodyPr/>
                    <a:lstStyle/>
                    <a:p>
                      <a:pPr marL="0" indent="0" algn="ctr">
                        <a:buNone/>
                      </a:pPr>
                      <a:r>
                        <a:rPr lang="en-US" sz="800" b="1" dirty="0">
                          <a:solidFill>
                            <a:srgbClr val="FFFFFF"/>
                          </a:solidFill>
                          <a:latin typeface="Calibri" pitchFamily="34" charset="0"/>
                          <a:ea typeface="Calibri" pitchFamily="34" charset="-122"/>
                          <a:cs typeface="Calibri" pitchFamily="34" charset="-120"/>
                        </a:rPr>
                        <a:t>NB_CONN_SUSP</a:t>
                      </a:r>
                      <a:endParaRPr lang="en-US" sz="8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B1628"/>
                    </a:solidFill>
                  </a:tcPr>
                </a:tc>
                <a:tc>
                  <a:txBody>
                    <a:bodyPr/>
                    <a:lstStyle/>
                    <a:p>
                      <a:pPr marL="0" indent="0" algn="ctr">
                        <a:buNone/>
                      </a:pPr>
                      <a:r>
                        <a:rPr lang="en-US" sz="800" b="1" dirty="0">
                          <a:solidFill>
                            <a:srgbClr val="FFFFFF"/>
                          </a:solidFill>
                          <a:latin typeface="Calibri" pitchFamily="34" charset="0"/>
                          <a:ea typeface="Calibri" pitchFamily="34" charset="-122"/>
                          <a:cs typeface="Calibri" pitchFamily="34" charset="-120"/>
                        </a:rPr>
                        <a:t>NB_TRANS_SUSP</a:t>
                      </a:r>
                      <a:endParaRPr lang="en-US" sz="8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B1628"/>
                    </a:solidFill>
                  </a:tcPr>
                </a:tc>
              </a:tr>
              <a:tr h="246888">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12</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Karim MANSOURI</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k.mansouri@mail.com</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4</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9</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246888">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7</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Rim BEN ALI</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rim.benali@mail.com</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3</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5</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r>
              <a:tr h="246888">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19</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Fares HAMDI</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f.hamdi@mail.com</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2</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3</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246888">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3</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Leila TRABELSI</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l.trabelsi@mail.com</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1</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2</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r>
            </a:tbl>
          </a:graphicData>
        </a:graphic>
      </p:graphicFrame>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name="Slide 37">
    <p:bg>
      <p:bgPr>
        <a:solidFill>
          <a:srgbClr val="F0F6FF"/>
        </a:solidFill>
        <a:effectLst/>
      </p:bgPr>
    </p:bg>
    <p:spTree>
      <p:nvGrpSpPr>
        <p:cNvPr id="1" name=""/>
        <p:cNvGrpSpPr/>
        <p:nvPr/>
      </p:nvGrpSpPr>
      <p:grpSpPr>
        <a:xfrm>
          <a:off x="0" y="0"/>
          <a:ext cx="0" cy="0"/>
          <a:chOff x="0" y="0"/>
          <a:chExt cx="0" cy="0"/>
        </a:xfrm>
      </p:grpSpPr>
      <p:sp>
        <p:nvSpPr>
          <p:cNvPr id="2" name="Shape 0"/>
          <p:cNvSpPr/>
          <p:nvPr/>
        </p:nvSpPr>
        <p:spPr>
          <a:xfrm>
            <a:off x="0" y="0"/>
            <a:ext cx="118872" cy="5143500"/>
          </a:xfrm>
          <a:prstGeom prst="rect">
            <a:avLst/>
          </a:prstGeom>
          <a:solidFill>
            <a:srgbClr val="EA580C"/>
          </a:solidFill>
          <a:ln w="12700">
            <a:solidFill>
              <a:srgbClr val="EA580C"/>
            </a:solidFill>
            <a:prstDash val="solid"/>
          </a:ln>
        </p:spPr>
      </p:sp>
      <p:sp>
        <p:nvSpPr>
          <p:cNvPr id="3" name="Shape 1"/>
          <p:cNvSpPr/>
          <p:nvPr/>
        </p:nvSpPr>
        <p:spPr>
          <a:xfrm>
            <a:off x="210312" y="91440"/>
            <a:ext cx="640080" cy="310896"/>
          </a:xfrm>
          <a:prstGeom prst="rect">
            <a:avLst/>
          </a:prstGeom>
          <a:solidFill>
            <a:srgbClr val="EA580C"/>
          </a:solidFill>
          <a:ln w="12700">
            <a:solidFill>
              <a:srgbClr val="EA580C"/>
            </a:solidFill>
            <a:prstDash val="solid"/>
          </a:ln>
        </p:spPr>
      </p:sp>
      <p:sp>
        <p:nvSpPr>
          <p:cNvPr id="4" name="Text 2"/>
          <p:cNvSpPr/>
          <p:nvPr/>
        </p:nvSpPr>
        <p:spPr>
          <a:xfrm>
            <a:off x="210312" y="91440"/>
            <a:ext cx="640080"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R30</a:t>
            </a:r>
            <a:endParaRPr lang="en-US" sz="1200" dirty="0"/>
          </a:p>
        </p:txBody>
      </p:sp>
      <p:sp>
        <p:nvSpPr>
          <p:cNvPr id="5" name="Text 3"/>
          <p:cNvSpPr/>
          <p:nvPr/>
        </p:nvSpPr>
        <p:spPr>
          <a:xfrm>
            <a:off x="7589520" y="118872"/>
            <a:ext cx="1417320" cy="228600"/>
          </a:xfrm>
          <a:prstGeom prst="rect">
            <a:avLst/>
          </a:prstGeom>
          <a:noFill/>
          <a:ln/>
        </p:spPr>
        <p:txBody>
          <a:bodyPr wrap="square" rtlCol="0" anchor="ctr"/>
          <a:lstStyle/>
          <a:p>
            <a:pPr marL="0" indent="0" algn="r">
              <a:buNone/>
            </a:pPr>
            <a:r>
              <a:rPr lang="en-US" sz="700" b="1" dirty="0">
                <a:solidFill>
                  <a:srgbClr val="EA580C"/>
                </a:solidFill>
                <a:latin typeface="Calibri" pitchFamily="34" charset="0"/>
                <a:ea typeface="Calibri" pitchFamily="34" charset="-122"/>
                <a:cs typeface="Calibri" pitchFamily="34" charset="-120"/>
              </a:rPr>
              <a:t>DÉTECTION DE FRAUDE</a:t>
            </a:r>
            <a:endParaRPr lang="en-US" sz="700" dirty="0"/>
          </a:p>
        </p:txBody>
      </p:sp>
      <p:sp>
        <p:nvSpPr>
          <p:cNvPr id="6" name="Text 4"/>
          <p:cNvSpPr/>
          <p:nvPr/>
        </p:nvSpPr>
        <p:spPr>
          <a:xfrm>
            <a:off x="932688" y="91440"/>
            <a:ext cx="6583680" cy="310896"/>
          </a:xfrm>
          <a:prstGeom prst="rect">
            <a:avLst/>
          </a:prstGeom>
          <a:noFill/>
          <a:ln/>
        </p:spPr>
        <p:txBody>
          <a:bodyPr wrap="square" rtlCol="0" anchor="ctr"/>
          <a:lstStyle/>
          <a:p>
            <a:pPr marL="0" indent="0">
              <a:buNone/>
            </a:pPr>
            <a:r>
              <a:rPr lang="en-US" sz="1350" b="1" dirty="0">
                <a:solidFill>
                  <a:srgbClr val="1E293B"/>
                </a:solidFill>
                <a:latin typeface="Calibri" pitchFamily="34" charset="0"/>
                <a:ea typeface="Calibri" pitchFamily="34" charset="-122"/>
                <a:cs typeface="Calibri" pitchFamily="34" charset="-120"/>
              </a:rPr>
              <a:t>Tableau de bord global — Score de risque par utilisateur</a:t>
            </a:r>
            <a:endParaRPr lang="en-US" sz="1350" dirty="0"/>
          </a:p>
        </p:txBody>
      </p:sp>
      <p:sp>
        <p:nvSpPr>
          <p:cNvPr id="7" name="Text 5"/>
          <p:cNvSpPr/>
          <p:nvPr/>
        </p:nvSpPr>
        <p:spPr>
          <a:xfrm>
            <a:off x="210312" y="429768"/>
            <a:ext cx="8732520" cy="246888"/>
          </a:xfrm>
          <a:prstGeom prst="rect">
            <a:avLst/>
          </a:prstGeom>
          <a:noFill/>
          <a:ln/>
        </p:spPr>
        <p:txBody>
          <a:bodyPr wrap="square" rtlCol="0" anchor="ctr"/>
          <a:lstStyle/>
          <a:p>
            <a:pPr marL="0" indent="0">
              <a:buNone/>
            </a:pPr>
            <a:r>
              <a:rPr lang="en-US" sz="1000" i="1" dirty="0">
                <a:solidFill>
                  <a:srgbClr val="475569"/>
                </a:solidFill>
                <a:latin typeface="Calibri" pitchFamily="34" charset="0"/>
                <a:ea typeface="Calibri" pitchFamily="34" charset="-122"/>
                <a:cs typeface="Calibri" pitchFamily="34" charset="-120"/>
              </a:rPr>
              <a:t>Score de risque cumulé (alertes + transactions suspectes + connexions suspectes) — Top 20</a:t>
            </a:r>
            <a:endParaRPr lang="en-US" sz="1000" dirty="0"/>
          </a:p>
        </p:txBody>
      </p:sp>
      <p:sp>
        <p:nvSpPr>
          <p:cNvPr id="8" name="Shape 6"/>
          <p:cNvSpPr/>
          <p:nvPr/>
        </p:nvSpPr>
        <p:spPr>
          <a:xfrm>
            <a:off x="210312" y="704088"/>
            <a:ext cx="8732520" cy="2011680"/>
          </a:xfrm>
          <a:prstGeom prst="rect">
            <a:avLst/>
          </a:prstGeom>
          <a:solidFill>
            <a:srgbClr val="0F1E2E"/>
          </a:solidFill>
          <a:ln w="6350">
            <a:solidFill>
              <a:srgbClr val="1E3A5F"/>
            </a:solidFill>
            <a:prstDash val="solid"/>
          </a:ln>
        </p:spPr>
      </p:sp>
      <p:sp>
        <p:nvSpPr>
          <p:cNvPr id="9" name="Text 7"/>
          <p:cNvSpPr/>
          <p:nvPr/>
        </p:nvSpPr>
        <p:spPr>
          <a:xfrm>
            <a:off x="292608" y="731520"/>
            <a:ext cx="8549640" cy="1920240"/>
          </a:xfrm>
          <a:prstGeom prst="rect">
            <a:avLst/>
          </a:prstGeom>
          <a:noFill/>
          <a:ln/>
        </p:spPr>
        <p:txBody>
          <a:bodyPr wrap="square" lIns="38100" tIns="38100" rIns="38100" bIns="38100" rtlCol="0" anchor="t"/>
          <a:lstStyle/>
          <a:p>
            <a:pPr marL="0" indent="0">
              <a:buNone/>
            </a:pPr>
            <a:r>
              <a:rPr lang="en-US" sz="700" dirty="0">
                <a:solidFill>
                  <a:srgbClr val="CBD5E1"/>
                </a:solidFill>
                <a:latin typeface="Consolas" pitchFamily="34" charset="0"/>
                <a:ea typeface="Consolas" pitchFamily="34" charset="-122"/>
                <a:cs typeface="Consolas" pitchFamily="34" charset="-120"/>
              </a:rPr>
              <a:t>SELECT U.id_utilisateur, U.nom || ' ' || U.prenom AS utilisateur,</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    COUNT(DISTINCT AL.id_alerte)                       AS nb_alertes,</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    COUNT(DISTINCT TS.id_transac_suspecte)             AS nb_trans_suspectes,</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    COUNT(DISTINCT CS.id_connex_suspecte)              AS nb_connex_suspectes,</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    COUNT(DISTINCT AL.id_alerte) + COUNT(DISTINCT TS.id_transac_suspecte)</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    + COUNT(DISTINCT CS.id_connex_suspecte)            AS score_risque_global</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FROM Utilisateur U</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LEFT JOIN Est_Titulaire        ET ON ET.id_utilisateur  = U.id_utilisateur</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LEFT JOIN Transaction          T  ON T.id_compte         = ET.id_compte</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LEFT JOIN Transaction_Suspecte TS ON TS.id_transaction  = T.id_transaction</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LEFT JOIN Alerte               AL ON AL.id_transaction   = T.id_transaction</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LEFT JOIN Connexion            C  ON C.id_utilisateur    = U.id_utilisateur</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LEFT JOIN Connexion_Suspecte   CS ON CS.id_connexion     = C.id_connexion</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GROUP BY U.id_utilisateur, U.nom, U.prenom</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HAVING COUNT(DISTINCT AL.id_alerte)+COUNT(DISTINCT TS.id_transac_suspecte)</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      +COUNT(DISTINCT CS.id_connex_suspecte) &gt; 0</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ORDER BY score_risque_global DESC FETCH FIRST 20 ROWS ONLY;</a:t>
            </a:r>
            <a:endParaRPr lang="en-US" sz="700" dirty="0"/>
          </a:p>
        </p:txBody>
      </p:sp>
      <p:sp>
        <p:nvSpPr>
          <p:cNvPr id="10" name="Text 8"/>
          <p:cNvSpPr/>
          <p:nvPr/>
        </p:nvSpPr>
        <p:spPr>
          <a:xfrm>
            <a:off x="210312" y="2779776"/>
            <a:ext cx="3657600" cy="201168"/>
          </a:xfrm>
          <a:prstGeom prst="rect">
            <a:avLst/>
          </a:prstGeom>
          <a:noFill/>
          <a:ln/>
        </p:spPr>
        <p:txBody>
          <a:bodyPr wrap="square" rtlCol="0" anchor="ctr"/>
          <a:lstStyle/>
          <a:p>
            <a:pPr marL="0" indent="0">
              <a:buNone/>
            </a:pPr>
            <a:r>
              <a:rPr lang="en-US" sz="850" b="1" dirty="0">
                <a:solidFill>
                  <a:srgbClr val="EA580C"/>
                </a:solidFill>
                <a:latin typeface="Calibri" pitchFamily="34" charset="0"/>
                <a:ea typeface="Calibri" pitchFamily="34" charset="-122"/>
                <a:cs typeface="Calibri" pitchFamily="34" charset="-120"/>
              </a:rPr>
              <a:t>▶  </a:t>
            </a:r>
            <a:r>
              <a:rPr lang="en-US" sz="850" b="1" dirty="0" err="1">
                <a:solidFill>
                  <a:srgbClr val="EA580C"/>
                </a:solidFill>
                <a:latin typeface="Calibri" pitchFamily="34" charset="0"/>
                <a:ea typeface="Calibri" pitchFamily="34" charset="-122"/>
                <a:cs typeface="Calibri" pitchFamily="34" charset="-120"/>
              </a:rPr>
              <a:t>Résultats</a:t>
            </a:r>
            <a:r>
              <a:rPr lang="en-US" sz="850" b="1">
                <a:solidFill>
                  <a:srgbClr val="EA580C"/>
                </a:solidFill>
                <a:latin typeface="Calibri" pitchFamily="34" charset="0"/>
                <a:ea typeface="Calibri" pitchFamily="34" charset="-122"/>
                <a:cs typeface="Calibri" pitchFamily="34" charset="-120"/>
              </a:rPr>
              <a:t> </a:t>
            </a:r>
            <a:r>
              <a:rPr lang="en-US" sz="850" b="1" smtClean="0">
                <a:solidFill>
                  <a:srgbClr val="EA580C"/>
                </a:solidFill>
                <a:latin typeface="Calibri" pitchFamily="34" charset="0"/>
                <a:ea typeface="Calibri" pitchFamily="34" charset="-122"/>
                <a:cs typeface="Calibri" pitchFamily="34" charset="-120"/>
              </a:rPr>
              <a:t>:</a:t>
            </a:r>
            <a:endParaRPr lang="en-US" sz="850" dirty="0"/>
          </a:p>
        </p:txBody>
      </p:sp>
      <p:graphicFrame>
        <p:nvGraphicFramePr>
          <p:cNvPr id="38" name="Table 0"/>
          <p:cNvGraphicFramePr>
            <a:graphicFrameLocks noGrp="1"/>
          </p:cNvGraphicFramePr>
          <p:nvPr>
            <p:extLst>
              <p:ext uri="{D42A27DB-BD31-4B8C-83A1-F6EECF244321}">
                <p14:modId xmlns:p14="http://schemas.microsoft.com/office/powerpoint/2010/main" val="1579011935"/>
              </p:ext>
            </p:extLst>
          </p:nvPr>
        </p:nvGraphicFramePr>
        <p:xfrm>
          <a:off x="210312" y="2999232"/>
          <a:ext cx="8732520" cy="1481328"/>
        </p:xfrm>
        <a:graphic>
          <a:graphicData uri="http://schemas.openxmlformats.org/drawingml/2006/table">
            <a:tbl>
              <a:tblPr/>
              <a:tblGrid>
                <a:gridCol w="1455420"/>
                <a:gridCol w="1455420"/>
                <a:gridCol w="1455420"/>
                <a:gridCol w="1455420"/>
                <a:gridCol w="1455420"/>
                <a:gridCol w="1455420"/>
              </a:tblGrid>
              <a:tr h="246888">
                <a:tc>
                  <a:txBody>
                    <a:bodyPr/>
                    <a:lstStyle/>
                    <a:p>
                      <a:pPr marL="0" indent="0" algn="ctr">
                        <a:buNone/>
                      </a:pPr>
                      <a:r>
                        <a:rPr lang="en-US" sz="800" b="1" dirty="0">
                          <a:solidFill>
                            <a:srgbClr val="FFFFFF"/>
                          </a:solidFill>
                          <a:latin typeface="Calibri" pitchFamily="34" charset="0"/>
                          <a:ea typeface="Calibri" pitchFamily="34" charset="-122"/>
                          <a:cs typeface="Calibri" pitchFamily="34" charset="-120"/>
                        </a:rPr>
                        <a:t>ID_UTIL</a:t>
                      </a:r>
                      <a:endParaRPr lang="en-US" sz="8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B1628"/>
                    </a:solidFill>
                  </a:tcPr>
                </a:tc>
                <a:tc>
                  <a:txBody>
                    <a:bodyPr/>
                    <a:lstStyle/>
                    <a:p>
                      <a:pPr marL="0" indent="0" algn="ctr">
                        <a:buNone/>
                      </a:pPr>
                      <a:r>
                        <a:rPr lang="en-US" sz="800" b="1" dirty="0">
                          <a:solidFill>
                            <a:srgbClr val="FFFFFF"/>
                          </a:solidFill>
                          <a:latin typeface="Calibri" pitchFamily="34" charset="0"/>
                          <a:ea typeface="Calibri" pitchFamily="34" charset="-122"/>
                          <a:cs typeface="Calibri" pitchFamily="34" charset="-120"/>
                        </a:rPr>
                        <a:t>UTILISATEUR</a:t>
                      </a:r>
                      <a:endParaRPr lang="en-US" sz="8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B1628"/>
                    </a:solidFill>
                  </a:tcPr>
                </a:tc>
                <a:tc>
                  <a:txBody>
                    <a:bodyPr/>
                    <a:lstStyle/>
                    <a:p>
                      <a:pPr marL="0" indent="0" algn="ctr">
                        <a:buNone/>
                      </a:pPr>
                      <a:r>
                        <a:rPr lang="en-US" sz="800" b="1" dirty="0">
                          <a:solidFill>
                            <a:srgbClr val="FFFFFF"/>
                          </a:solidFill>
                          <a:latin typeface="Calibri" pitchFamily="34" charset="0"/>
                          <a:ea typeface="Calibri" pitchFamily="34" charset="-122"/>
                          <a:cs typeface="Calibri" pitchFamily="34" charset="-120"/>
                        </a:rPr>
                        <a:t>NB_ALERTES</a:t>
                      </a:r>
                      <a:endParaRPr lang="en-US" sz="8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B1628"/>
                    </a:solidFill>
                  </a:tcPr>
                </a:tc>
                <a:tc>
                  <a:txBody>
                    <a:bodyPr/>
                    <a:lstStyle/>
                    <a:p>
                      <a:pPr marL="0" indent="0" algn="ctr">
                        <a:buNone/>
                      </a:pPr>
                      <a:r>
                        <a:rPr lang="en-US" sz="800" b="1" dirty="0">
                          <a:solidFill>
                            <a:srgbClr val="FFFFFF"/>
                          </a:solidFill>
                          <a:latin typeface="Calibri" pitchFamily="34" charset="0"/>
                          <a:ea typeface="Calibri" pitchFamily="34" charset="-122"/>
                          <a:cs typeface="Calibri" pitchFamily="34" charset="-120"/>
                        </a:rPr>
                        <a:t>NB_TRANS_SUSP</a:t>
                      </a:r>
                      <a:endParaRPr lang="en-US" sz="8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B1628"/>
                    </a:solidFill>
                  </a:tcPr>
                </a:tc>
                <a:tc>
                  <a:txBody>
                    <a:bodyPr/>
                    <a:lstStyle/>
                    <a:p>
                      <a:pPr marL="0" indent="0" algn="ctr">
                        <a:buNone/>
                      </a:pPr>
                      <a:r>
                        <a:rPr lang="en-US" sz="800" b="1" dirty="0">
                          <a:solidFill>
                            <a:srgbClr val="FFFFFF"/>
                          </a:solidFill>
                          <a:latin typeface="Calibri" pitchFamily="34" charset="0"/>
                          <a:ea typeface="Calibri" pitchFamily="34" charset="-122"/>
                          <a:cs typeface="Calibri" pitchFamily="34" charset="-120"/>
                        </a:rPr>
                        <a:t>NB_CONN_SUSP</a:t>
                      </a:r>
                      <a:endParaRPr lang="en-US" sz="8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B1628"/>
                    </a:solidFill>
                  </a:tcPr>
                </a:tc>
                <a:tc>
                  <a:txBody>
                    <a:bodyPr/>
                    <a:lstStyle/>
                    <a:p>
                      <a:pPr marL="0" indent="0" algn="ctr">
                        <a:buNone/>
                      </a:pPr>
                      <a:r>
                        <a:rPr lang="en-US" sz="800" b="1" dirty="0">
                          <a:solidFill>
                            <a:srgbClr val="FFFFFF"/>
                          </a:solidFill>
                          <a:latin typeface="Calibri" pitchFamily="34" charset="0"/>
                          <a:ea typeface="Calibri" pitchFamily="34" charset="-122"/>
                          <a:cs typeface="Calibri" pitchFamily="34" charset="-120"/>
                        </a:rPr>
                        <a:t>SCORE_RISQUE</a:t>
                      </a:r>
                      <a:endParaRPr lang="en-US" sz="8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B1628"/>
                    </a:solidFill>
                  </a:tcPr>
                </a:tc>
              </a:tr>
              <a:tr h="246888">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12</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Karim MANSOURI</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5</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9</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4</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18</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246888">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7</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Rim BEN ALI</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4</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5</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3</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12</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r>
              <a:tr h="246888">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19</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Fares HAMDI</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2</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3</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2</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7</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246888">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3</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Leila TRABELSI</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2</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2</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1</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5</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r>
              <a:tr h="246888">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2</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Mohamed BATTI</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1</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2</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1</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4</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bl>
          </a:graphicData>
        </a:graphic>
      </p:graphicFrame>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name="Slide 39">
    <p:bg>
      <p:bgPr>
        <a:solidFill>
          <a:srgbClr val="F0F6FF"/>
        </a:solidFill>
        <a:effectLst/>
      </p:bgPr>
    </p:bg>
    <p:spTree>
      <p:nvGrpSpPr>
        <p:cNvPr id="1" name=""/>
        <p:cNvGrpSpPr/>
        <p:nvPr/>
      </p:nvGrpSpPr>
      <p:grpSpPr>
        <a:xfrm>
          <a:off x="0" y="0"/>
          <a:ext cx="0" cy="0"/>
          <a:chOff x="0" y="0"/>
          <a:chExt cx="0" cy="0"/>
        </a:xfrm>
      </p:grpSpPr>
      <p:sp>
        <p:nvSpPr>
          <p:cNvPr id="2" name="Shape 0"/>
          <p:cNvSpPr/>
          <p:nvPr/>
        </p:nvSpPr>
        <p:spPr>
          <a:xfrm>
            <a:off x="0" y="0"/>
            <a:ext cx="118872" cy="5143500"/>
          </a:xfrm>
          <a:prstGeom prst="rect">
            <a:avLst/>
          </a:prstGeom>
          <a:solidFill>
            <a:srgbClr val="0891B2"/>
          </a:solidFill>
          <a:ln w="12700">
            <a:solidFill>
              <a:srgbClr val="0891B2"/>
            </a:solidFill>
            <a:prstDash val="solid"/>
          </a:ln>
        </p:spPr>
      </p:sp>
      <p:sp>
        <p:nvSpPr>
          <p:cNvPr id="3" name="Shape 1"/>
          <p:cNvSpPr/>
          <p:nvPr/>
        </p:nvSpPr>
        <p:spPr>
          <a:xfrm>
            <a:off x="210312" y="91440"/>
            <a:ext cx="640080" cy="310896"/>
          </a:xfrm>
          <a:prstGeom prst="rect">
            <a:avLst/>
          </a:prstGeom>
          <a:solidFill>
            <a:srgbClr val="0891B2"/>
          </a:solidFill>
          <a:ln w="12700">
            <a:solidFill>
              <a:srgbClr val="0891B2"/>
            </a:solidFill>
            <a:prstDash val="solid"/>
          </a:ln>
        </p:spPr>
      </p:sp>
      <p:sp>
        <p:nvSpPr>
          <p:cNvPr id="4" name="Text 2"/>
          <p:cNvSpPr/>
          <p:nvPr/>
        </p:nvSpPr>
        <p:spPr>
          <a:xfrm>
            <a:off x="210312" y="91440"/>
            <a:ext cx="640080"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R31</a:t>
            </a:r>
          </a:p>
        </p:txBody>
      </p:sp>
      <p:sp>
        <p:nvSpPr>
          <p:cNvPr id="5" name="Text 3"/>
          <p:cNvSpPr/>
          <p:nvPr/>
        </p:nvSpPr>
        <p:spPr>
          <a:xfrm>
            <a:off x="932688" y="91440"/>
            <a:ext cx="6583680" cy="310896"/>
          </a:xfrm>
          <a:prstGeom prst="rect">
            <a:avLst/>
          </a:prstGeom>
          <a:noFill/>
          <a:ln/>
        </p:spPr>
        <p:txBody>
          <a:bodyPr wrap="square" rtlCol="0" anchor="ctr"/>
          <a:lstStyle/>
          <a:p>
            <a:pPr marL="0" indent="0">
              <a:buNone/>
            </a:pPr>
            <a:r>
              <a:rPr lang="en-US" sz="1350" b="1" dirty="0">
                <a:solidFill>
                  <a:srgbClr val="1E293B"/>
                </a:solidFill>
                <a:latin typeface="Calibri" pitchFamily="34" charset="0"/>
                <a:ea typeface="Calibri" pitchFamily="34" charset="-122"/>
                <a:cs typeface="Calibri" pitchFamily="34" charset="-120"/>
              </a:rPr>
              <a:t>CTE (WITH) — Evolution mensuelle du volume de fraude</a:t>
            </a:r>
          </a:p>
        </p:txBody>
      </p:sp>
      <p:sp>
        <p:nvSpPr>
          <p:cNvPr id="6" name="Text 4"/>
          <p:cNvSpPr/>
          <p:nvPr/>
        </p:nvSpPr>
        <p:spPr>
          <a:xfrm>
            <a:off x="210312" y="429768"/>
            <a:ext cx="8732520" cy="246888"/>
          </a:xfrm>
          <a:prstGeom prst="rect">
            <a:avLst/>
          </a:prstGeom>
          <a:noFill/>
          <a:ln/>
        </p:spPr>
        <p:txBody>
          <a:bodyPr wrap="square" rtlCol="0" anchor="ctr"/>
          <a:lstStyle/>
          <a:p>
            <a:pPr marL="0" indent="0">
              <a:buNone/>
            </a:pPr>
            <a:r>
              <a:rPr lang="en-US" sz="1000" i="1" dirty="0">
                <a:solidFill>
                  <a:srgbClr val="475569"/>
                </a:solidFill>
                <a:latin typeface="Calibri" pitchFamily="34" charset="0"/>
                <a:ea typeface="Calibri" pitchFamily="34" charset="-122"/>
                <a:cs typeface="Calibri" pitchFamily="34" charset="-120"/>
              </a:rPr>
              <a:t>Calculer mois par mois le nombre et le montant total des transactions suspectes, avec variation par rapport au mois précédent</a:t>
            </a:r>
          </a:p>
        </p:txBody>
      </p:sp>
      <p:sp>
        <p:nvSpPr>
          <p:cNvPr id="7" name="Shape 5"/>
          <p:cNvSpPr/>
          <p:nvPr/>
        </p:nvSpPr>
        <p:spPr>
          <a:xfrm>
            <a:off x="210312" y="704088"/>
            <a:ext cx="8732520" cy="2296287"/>
          </a:xfrm>
          <a:prstGeom prst="rect">
            <a:avLst/>
          </a:prstGeom>
          <a:solidFill>
            <a:srgbClr val="0F1E2E"/>
          </a:solidFill>
          <a:ln w="6350">
            <a:solidFill>
              <a:srgbClr val="1E3A5F"/>
            </a:solidFill>
            <a:prstDash val="solid"/>
          </a:ln>
        </p:spPr>
      </p:sp>
      <p:sp>
        <p:nvSpPr>
          <p:cNvPr id="8" name="Text 6"/>
          <p:cNvSpPr/>
          <p:nvPr/>
        </p:nvSpPr>
        <p:spPr>
          <a:xfrm>
            <a:off x="292608" y="731520"/>
            <a:ext cx="8549640" cy="3395000"/>
          </a:xfrm>
          <a:prstGeom prst="rect">
            <a:avLst/>
          </a:prstGeom>
          <a:noFill/>
          <a:ln/>
        </p:spPr>
        <p:txBody>
          <a:bodyPr wrap="square" lIns="38100" tIns="38100" rIns="38100" bIns="38100" rtlCol="0" anchor="t"/>
          <a:lstStyle/>
          <a:p>
            <a:pPr marL="0" indent="0">
              <a:buNone/>
            </a:pPr>
            <a:r>
              <a:rPr lang="en-US" sz="700" dirty="0">
                <a:solidFill>
                  <a:srgbClr val="CBD5E1"/>
                </a:solidFill>
                <a:latin typeface="Consolas" pitchFamily="34" charset="0"/>
                <a:ea typeface="Consolas" pitchFamily="34" charset="-122"/>
                <a:cs typeface="Consolas" pitchFamily="34" charset="-120"/>
              </a:rPr>
              <a:t>WITH fraudes_mensuelles AS (</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    SELECT</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        TO_CHAR(T.date_heure, 'YYYY-MM')           AS mois,</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        COUNT(TS.id_transac_suspecte)               AS nb_fraudes,</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        ROUND(SUM(T.montant), 2)                    AS montant_total_fraude,</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        ROUND(AVG(T.montant), 2)                    AS montant_moyen_fraude</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    FROM Transaction T</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    JOIN Transaction_Suspecte TS ON TS.id_transaction = T.id_transaction</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    GROUP BY TO_CHAR(T.date_heure, 'YYYY-MM')</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fraudes_avec_variation AS (</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    SELECT</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        mois,</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        nb_fraudes,</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        montant_total_fraude,</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        montant_moyen_fraude,</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        LAG(nb_fraudes)         OVER (ORDER BY mois) AS nb_fraudes_mois_prec,</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        LAG(montant_total_fraude) OVER (ORDER BY mois) AS montant_mois_prec</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    FROM fraudes_mensuelles</a:t>
            </a:r>
            <a:endParaRPr lang="en-US" sz="700" dirty="0"/>
          </a:p>
          <a:p>
            <a:pPr marL="0" indent="0">
              <a:buNone/>
            </a:pPr>
            <a:r>
              <a:rPr lang="en-US" sz="700" dirty="0" smtClean="0">
                <a:solidFill>
                  <a:srgbClr val="CBD5E1"/>
                </a:solidFill>
                <a:latin typeface="Consolas" pitchFamily="34" charset="0"/>
                <a:ea typeface="Consolas" pitchFamily="34" charset="-122"/>
                <a:cs typeface="Consolas" pitchFamily="34" charset="-120"/>
              </a:rPr>
              <a:t>)</a:t>
            </a:r>
            <a:endParaRPr lang="en-US" sz="700" dirty="0"/>
          </a:p>
        </p:txBody>
      </p:sp>
      <p:sp>
        <p:nvSpPr>
          <p:cNvPr id="9" name="Text 7"/>
          <p:cNvSpPr/>
          <p:nvPr/>
        </p:nvSpPr>
        <p:spPr>
          <a:xfrm>
            <a:off x="192024" y="3095138"/>
            <a:ext cx="3657600" cy="201168"/>
          </a:xfrm>
          <a:prstGeom prst="rect">
            <a:avLst/>
          </a:prstGeom>
          <a:noFill/>
          <a:ln/>
        </p:spPr>
        <p:txBody>
          <a:bodyPr wrap="square" rtlCol="0" anchor="ctr"/>
          <a:lstStyle/>
          <a:p>
            <a:pPr marL="0" indent="0">
              <a:buNone/>
            </a:pPr>
            <a:r>
              <a:rPr lang="en-US" sz="850" b="1" dirty="0">
                <a:solidFill>
                  <a:srgbClr val="0891B2"/>
                </a:solidFill>
                <a:latin typeface="Calibri" pitchFamily="34" charset="0"/>
                <a:ea typeface="Calibri" pitchFamily="34" charset="-122"/>
                <a:cs typeface="Calibri" pitchFamily="34" charset="-120"/>
              </a:rPr>
              <a:t>►  </a:t>
            </a:r>
            <a:r>
              <a:rPr lang="en-US" sz="850" b="1" dirty="0" err="1">
                <a:solidFill>
                  <a:srgbClr val="0891B2"/>
                </a:solidFill>
                <a:latin typeface="Calibri" pitchFamily="34" charset="0"/>
                <a:ea typeface="Calibri" pitchFamily="34" charset="-122"/>
                <a:cs typeface="Calibri" pitchFamily="34" charset="-120"/>
              </a:rPr>
              <a:t>Résultats :</a:t>
            </a:r>
          </a:p>
        </p:txBody>
      </p:sp>
      <p:graphicFrame>
        <p:nvGraphicFramePr>
          <p:cNvPr id="10" name="Table 0"/>
          <p:cNvGraphicFramePr>
            <a:graphicFrameLocks noGrp="1"/>
          </p:cNvGraphicFramePr>
          <p:nvPr>
            <p:extLst>
              <p:ext uri="{D42A27DB-BD31-4B8C-83A1-F6EECF244321}">
                <p14:modId xmlns:p14="http://schemas.microsoft.com/office/powerpoint/2010/main" val="1744579261"/>
              </p:ext>
            </p:extLst>
          </p:nvPr>
        </p:nvGraphicFramePr>
        <p:xfrm>
          <a:off x="210312" y="3391069"/>
          <a:ext cx="8732520" cy="1234440"/>
        </p:xfrm>
        <a:graphic>
          <a:graphicData uri="http://schemas.openxmlformats.org/drawingml/2006/table">
            <a:tbl>
              <a:tblPr/>
              <a:tblGrid>
                <a:gridCol w="1455420"/>
                <a:gridCol w="1455420"/>
                <a:gridCol w="1455420"/>
                <a:gridCol w="1455420"/>
                <a:gridCol w="1455420"/>
                <a:gridCol w="1455420"/>
              </a:tblGrid>
              <a:tr h="246888">
                <a:tc>
                  <a:txBody>
                    <a:bodyPr/>
                    <a:lstStyle/>
                    <a:p>
                      <a:pPr marL="0" indent="0" algn="ctr">
                        <a:buNone/>
                      </a:pPr>
                      <a:r>
                        <a:rPr lang="en-US" sz="800" b="1" dirty="0">
                          <a:solidFill>
                            <a:srgbClr val="FFFFFF"/>
                          </a:solidFill>
                          <a:latin typeface="Calibri" pitchFamily="34" charset="0"/>
                          <a:ea typeface="Calibri" pitchFamily="34" charset="-122"/>
                          <a:cs typeface="Calibri" pitchFamily="34" charset="-120"/>
                        </a:rPr>
                        <a:t>MOIS</a:t>
                      </a:r>
                      <a:endParaRPr lang="en-US" sz="8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B1628"/>
                    </a:solidFill>
                  </a:tcPr>
                </a:tc>
                <a:tc>
                  <a:txBody>
                    <a:bodyPr/>
                    <a:lstStyle/>
                    <a:p>
                      <a:pPr marL="0" indent="0" algn="ctr">
                        <a:buNone/>
                      </a:pPr>
                      <a:r>
                        <a:rPr lang="en-US" sz="800" b="1" dirty="0">
                          <a:solidFill>
                            <a:srgbClr val="FFFFFF"/>
                          </a:solidFill>
                          <a:latin typeface="Calibri" pitchFamily="34" charset="0"/>
                          <a:ea typeface="Calibri" pitchFamily="34" charset="-122"/>
                          <a:cs typeface="Calibri" pitchFamily="34" charset="-120"/>
                        </a:rPr>
                        <a:t>NB_FRAUDES</a:t>
                      </a:r>
                      <a:endParaRPr lang="en-US" sz="8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B1628"/>
                    </a:solidFill>
                  </a:tcPr>
                </a:tc>
                <a:tc>
                  <a:txBody>
                    <a:bodyPr/>
                    <a:lstStyle/>
                    <a:p>
                      <a:pPr marL="0" indent="0" algn="ctr">
                        <a:buNone/>
                      </a:pPr>
                      <a:r>
                        <a:rPr lang="en-US" sz="800" b="1" dirty="0">
                          <a:solidFill>
                            <a:srgbClr val="FFFFFF"/>
                          </a:solidFill>
                          <a:latin typeface="Calibri" pitchFamily="34" charset="0"/>
                          <a:ea typeface="Calibri" pitchFamily="34" charset="-122"/>
                          <a:cs typeface="Calibri" pitchFamily="34" charset="-120"/>
                        </a:rPr>
                        <a:t>MONTANT_TOTAL</a:t>
                      </a:r>
                      <a:endParaRPr lang="en-US" sz="8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B1628"/>
                    </a:solidFill>
                  </a:tcPr>
                </a:tc>
                <a:tc>
                  <a:txBody>
                    <a:bodyPr/>
                    <a:lstStyle/>
                    <a:p>
                      <a:pPr marL="0" indent="0" algn="ctr">
                        <a:buNone/>
                      </a:pPr>
                      <a:r>
                        <a:rPr lang="en-US" sz="800" b="1" dirty="0">
                          <a:solidFill>
                            <a:srgbClr val="FFFFFF"/>
                          </a:solidFill>
                          <a:latin typeface="Calibri" pitchFamily="34" charset="0"/>
                          <a:ea typeface="Calibri" pitchFamily="34" charset="-122"/>
                          <a:cs typeface="Calibri" pitchFamily="34" charset="-120"/>
                        </a:rPr>
                        <a:t>MONTANT_MOY</a:t>
                      </a:r>
                      <a:endParaRPr lang="en-US" sz="8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B1628"/>
                    </a:solidFill>
                  </a:tcPr>
                </a:tc>
                <a:tc>
                  <a:txBody>
                    <a:bodyPr/>
                    <a:lstStyle/>
                    <a:p>
                      <a:pPr marL="0" indent="0" algn="ctr">
                        <a:buNone/>
                      </a:pPr>
                      <a:r>
                        <a:rPr lang="en-US" sz="800" b="1" dirty="0">
                          <a:solidFill>
                            <a:srgbClr val="FFFFFF"/>
                          </a:solidFill>
                          <a:latin typeface="Calibri" pitchFamily="34" charset="0"/>
                          <a:ea typeface="Calibri" pitchFamily="34" charset="-122"/>
                          <a:cs typeface="Calibri" pitchFamily="34" charset="-120"/>
                        </a:rPr>
                        <a:t>VAR_NB_%</a:t>
                      </a:r>
                      <a:endParaRPr lang="en-US" sz="8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B1628"/>
                    </a:solidFill>
                  </a:tcPr>
                </a:tc>
                <a:tc>
                  <a:txBody>
                    <a:bodyPr/>
                    <a:lstStyle/>
                    <a:p>
                      <a:pPr marL="0" indent="0" algn="ctr">
                        <a:buNone/>
                      </a:pPr>
                      <a:r>
                        <a:rPr lang="en-US" sz="800" b="1" dirty="0">
                          <a:solidFill>
                            <a:srgbClr val="FFFFFF"/>
                          </a:solidFill>
                          <a:latin typeface="Calibri" pitchFamily="34" charset="0"/>
                          <a:ea typeface="Calibri" pitchFamily="34" charset="-122"/>
                          <a:cs typeface="Calibri" pitchFamily="34" charset="-120"/>
                        </a:rPr>
                        <a:t>VAR_MONTANT_%</a:t>
                      </a:r>
                      <a:endParaRPr lang="en-US" sz="8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B1628"/>
                    </a:solidFill>
                  </a:tcPr>
                </a:tc>
              </a:tr>
              <a:tr h="246888">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2026-01</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18</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14200</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788.89</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246888">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2026-02</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22</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19700</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895.45</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+22.2</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+38.7</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r>
              <a:tr h="246888">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2026-03</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31</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28400</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916.13</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+40.9</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+44.2</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246888">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2026-04</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47</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41800</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889.36</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+51.6</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+47.2</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r>
            </a:tbl>
          </a:graphicData>
        </a:graphic>
      </p:graphicFrame>
      <p:sp>
        <p:nvSpPr>
          <p:cNvPr id="11" name="TextBox 10"/>
          <p:cNvSpPr txBox="1"/>
          <p:nvPr/>
        </p:nvSpPr>
        <p:spPr>
          <a:xfrm>
            <a:off x="4807498" y="733798"/>
            <a:ext cx="3929975" cy="1384995"/>
          </a:xfrm>
          <a:prstGeom prst="rect">
            <a:avLst/>
          </a:prstGeom>
          <a:noFill/>
        </p:spPr>
        <p:txBody>
          <a:bodyPr wrap="square" rtlCol="0">
            <a:spAutoFit/>
          </a:bodyPr>
          <a:lstStyle/>
          <a:p>
            <a:r>
              <a:rPr lang="en-US" sz="700" dirty="0">
                <a:solidFill>
                  <a:srgbClr val="CBD5E1"/>
                </a:solidFill>
                <a:latin typeface="Consolas" pitchFamily="34" charset="0"/>
                <a:ea typeface="Consolas" pitchFamily="34" charset="-122"/>
                <a:cs typeface="Consolas" pitchFamily="34" charset="-120"/>
              </a:rPr>
              <a:t>SELECT</a:t>
            </a:r>
            <a:endParaRPr lang="en-US" sz="700" dirty="0"/>
          </a:p>
          <a:p>
            <a:r>
              <a:rPr lang="en-US" sz="700" dirty="0">
                <a:solidFill>
                  <a:srgbClr val="CBD5E1"/>
                </a:solidFill>
                <a:latin typeface="Consolas" pitchFamily="34" charset="0"/>
                <a:ea typeface="Consolas" pitchFamily="34" charset="-122"/>
                <a:cs typeface="Consolas" pitchFamily="34" charset="-120"/>
              </a:rPr>
              <a:t>    </a:t>
            </a:r>
            <a:r>
              <a:rPr lang="en-US" sz="700" dirty="0" err="1">
                <a:solidFill>
                  <a:srgbClr val="CBD5E1"/>
                </a:solidFill>
                <a:latin typeface="Consolas" pitchFamily="34" charset="0"/>
                <a:ea typeface="Consolas" pitchFamily="34" charset="-122"/>
                <a:cs typeface="Consolas" pitchFamily="34" charset="-120"/>
              </a:rPr>
              <a:t>mois</a:t>
            </a:r>
            <a:r>
              <a:rPr lang="en-US" sz="700" dirty="0">
                <a:solidFill>
                  <a:srgbClr val="CBD5E1"/>
                </a:solidFill>
                <a:latin typeface="Consolas" pitchFamily="34" charset="0"/>
                <a:ea typeface="Consolas" pitchFamily="34" charset="-122"/>
                <a:cs typeface="Consolas" pitchFamily="34" charset="-120"/>
              </a:rPr>
              <a:t>,</a:t>
            </a:r>
            <a:endParaRPr lang="en-US" sz="700" dirty="0"/>
          </a:p>
          <a:p>
            <a:r>
              <a:rPr lang="en-US" sz="700" dirty="0">
                <a:solidFill>
                  <a:srgbClr val="CBD5E1"/>
                </a:solidFill>
                <a:latin typeface="Consolas" pitchFamily="34" charset="0"/>
                <a:ea typeface="Consolas" pitchFamily="34" charset="-122"/>
                <a:cs typeface="Consolas" pitchFamily="34" charset="-120"/>
              </a:rPr>
              <a:t>    </a:t>
            </a:r>
            <a:r>
              <a:rPr lang="en-US" sz="700" dirty="0" err="1">
                <a:solidFill>
                  <a:srgbClr val="CBD5E1"/>
                </a:solidFill>
                <a:latin typeface="Consolas" pitchFamily="34" charset="0"/>
                <a:ea typeface="Consolas" pitchFamily="34" charset="-122"/>
                <a:cs typeface="Consolas" pitchFamily="34" charset="-120"/>
              </a:rPr>
              <a:t>nb_fraudes</a:t>
            </a:r>
            <a:r>
              <a:rPr lang="en-US" sz="700" dirty="0">
                <a:solidFill>
                  <a:srgbClr val="CBD5E1"/>
                </a:solidFill>
                <a:latin typeface="Consolas" pitchFamily="34" charset="0"/>
                <a:ea typeface="Consolas" pitchFamily="34" charset="-122"/>
                <a:cs typeface="Consolas" pitchFamily="34" charset="-120"/>
              </a:rPr>
              <a:t>,</a:t>
            </a:r>
            <a:endParaRPr lang="en-US" sz="700" dirty="0"/>
          </a:p>
          <a:p>
            <a:r>
              <a:rPr lang="en-US" sz="700" dirty="0">
                <a:solidFill>
                  <a:srgbClr val="CBD5E1"/>
                </a:solidFill>
                <a:latin typeface="Consolas" pitchFamily="34" charset="0"/>
                <a:ea typeface="Consolas" pitchFamily="34" charset="-122"/>
                <a:cs typeface="Consolas" pitchFamily="34" charset="-120"/>
              </a:rPr>
              <a:t>    </a:t>
            </a:r>
            <a:r>
              <a:rPr lang="en-US" sz="700" dirty="0" err="1">
                <a:solidFill>
                  <a:srgbClr val="CBD5E1"/>
                </a:solidFill>
                <a:latin typeface="Consolas" pitchFamily="34" charset="0"/>
                <a:ea typeface="Consolas" pitchFamily="34" charset="-122"/>
                <a:cs typeface="Consolas" pitchFamily="34" charset="-120"/>
              </a:rPr>
              <a:t>montant_total_fraude</a:t>
            </a:r>
            <a:r>
              <a:rPr lang="en-US" sz="700" dirty="0">
                <a:solidFill>
                  <a:srgbClr val="CBD5E1"/>
                </a:solidFill>
                <a:latin typeface="Consolas" pitchFamily="34" charset="0"/>
                <a:ea typeface="Consolas" pitchFamily="34" charset="-122"/>
                <a:cs typeface="Consolas" pitchFamily="34" charset="-120"/>
              </a:rPr>
              <a:t>,</a:t>
            </a:r>
            <a:endParaRPr lang="en-US" sz="700" dirty="0"/>
          </a:p>
          <a:p>
            <a:r>
              <a:rPr lang="en-US" sz="700" dirty="0">
                <a:solidFill>
                  <a:srgbClr val="CBD5E1"/>
                </a:solidFill>
                <a:latin typeface="Consolas" pitchFamily="34" charset="0"/>
                <a:ea typeface="Consolas" pitchFamily="34" charset="-122"/>
                <a:cs typeface="Consolas" pitchFamily="34" charset="-120"/>
              </a:rPr>
              <a:t>    </a:t>
            </a:r>
            <a:r>
              <a:rPr lang="en-US" sz="700" dirty="0" err="1">
                <a:solidFill>
                  <a:srgbClr val="CBD5E1"/>
                </a:solidFill>
                <a:latin typeface="Consolas" pitchFamily="34" charset="0"/>
                <a:ea typeface="Consolas" pitchFamily="34" charset="-122"/>
                <a:cs typeface="Consolas" pitchFamily="34" charset="-120"/>
              </a:rPr>
              <a:t>montant_moyen_fraude</a:t>
            </a:r>
            <a:r>
              <a:rPr lang="en-US" sz="700" dirty="0">
                <a:solidFill>
                  <a:srgbClr val="CBD5E1"/>
                </a:solidFill>
                <a:latin typeface="Consolas" pitchFamily="34" charset="0"/>
                <a:ea typeface="Consolas" pitchFamily="34" charset="-122"/>
                <a:cs typeface="Consolas" pitchFamily="34" charset="-120"/>
              </a:rPr>
              <a:t>,</a:t>
            </a:r>
            <a:endParaRPr lang="en-US" sz="700" dirty="0"/>
          </a:p>
          <a:p>
            <a:r>
              <a:rPr lang="en-US" sz="700" dirty="0">
                <a:solidFill>
                  <a:srgbClr val="CBD5E1"/>
                </a:solidFill>
                <a:latin typeface="Consolas" pitchFamily="34" charset="0"/>
                <a:ea typeface="Consolas" pitchFamily="34" charset="-122"/>
                <a:cs typeface="Consolas" pitchFamily="34" charset="-120"/>
              </a:rPr>
              <a:t>    ROUND((</a:t>
            </a:r>
            <a:r>
              <a:rPr lang="en-US" sz="700" dirty="0" err="1">
                <a:solidFill>
                  <a:srgbClr val="CBD5E1"/>
                </a:solidFill>
                <a:latin typeface="Consolas" pitchFamily="34" charset="0"/>
                <a:ea typeface="Consolas" pitchFamily="34" charset="-122"/>
                <a:cs typeface="Consolas" pitchFamily="34" charset="-120"/>
              </a:rPr>
              <a:t>nb_fraudes</a:t>
            </a:r>
            <a:r>
              <a:rPr lang="en-US" sz="700" dirty="0">
                <a:solidFill>
                  <a:srgbClr val="CBD5E1"/>
                </a:solidFill>
                <a:latin typeface="Consolas" pitchFamily="34" charset="0"/>
                <a:ea typeface="Consolas" pitchFamily="34" charset="-122"/>
                <a:cs typeface="Consolas" pitchFamily="34" charset="-120"/>
              </a:rPr>
              <a:t> - </a:t>
            </a:r>
            <a:r>
              <a:rPr lang="en-US" sz="700" dirty="0" err="1">
                <a:solidFill>
                  <a:srgbClr val="CBD5E1"/>
                </a:solidFill>
                <a:latin typeface="Consolas" pitchFamily="34" charset="0"/>
                <a:ea typeface="Consolas" pitchFamily="34" charset="-122"/>
                <a:cs typeface="Consolas" pitchFamily="34" charset="-120"/>
              </a:rPr>
              <a:t>nb_fraudes_mois_prec</a:t>
            </a:r>
            <a:r>
              <a:rPr lang="en-US" sz="700" dirty="0">
                <a:solidFill>
                  <a:srgbClr val="CBD5E1"/>
                </a:solidFill>
                <a:latin typeface="Consolas" pitchFamily="34" charset="0"/>
                <a:ea typeface="Consolas" pitchFamily="34" charset="-122"/>
                <a:cs typeface="Consolas" pitchFamily="34" charset="-120"/>
              </a:rPr>
              <a:t>) * 100.0</a:t>
            </a:r>
            <a:endParaRPr lang="en-US" sz="700" dirty="0"/>
          </a:p>
          <a:p>
            <a:r>
              <a:rPr lang="en-US" sz="700" dirty="0">
                <a:solidFill>
                  <a:srgbClr val="CBD5E1"/>
                </a:solidFill>
                <a:latin typeface="Consolas" pitchFamily="34" charset="0"/>
                <a:ea typeface="Consolas" pitchFamily="34" charset="-122"/>
                <a:cs typeface="Consolas" pitchFamily="34" charset="-120"/>
              </a:rPr>
              <a:t>          / NULLIF(</a:t>
            </a:r>
            <a:r>
              <a:rPr lang="en-US" sz="700" dirty="0" err="1">
                <a:solidFill>
                  <a:srgbClr val="CBD5E1"/>
                </a:solidFill>
                <a:latin typeface="Consolas" pitchFamily="34" charset="0"/>
                <a:ea typeface="Consolas" pitchFamily="34" charset="-122"/>
                <a:cs typeface="Consolas" pitchFamily="34" charset="-120"/>
              </a:rPr>
              <a:t>nb_fraudes_mois_prec</a:t>
            </a:r>
            <a:r>
              <a:rPr lang="en-US" sz="700" dirty="0">
                <a:solidFill>
                  <a:srgbClr val="CBD5E1"/>
                </a:solidFill>
                <a:latin typeface="Consolas" pitchFamily="34" charset="0"/>
                <a:ea typeface="Consolas" pitchFamily="34" charset="-122"/>
                <a:cs typeface="Consolas" pitchFamily="34" charset="-120"/>
              </a:rPr>
              <a:t>, 0), 1)  AS </a:t>
            </a:r>
            <a:r>
              <a:rPr lang="en-US" sz="700" dirty="0" err="1">
                <a:solidFill>
                  <a:srgbClr val="CBD5E1"/>
                </a:solidFill>
                <a:latin typeface="Consolas" pitchFamily="34" charset="0"/>
                <a:ea typeface="Consolas" pitchFamily="34" charset="-122"/>
                <a:cs typeface="Consolas" pitchFamily="34" charset="-120"/>
              </a:rPr>
              <a:t>variation_nb_pct</a:t>
            </a:r>
            <a:r>
              <a:rPr lang="en-US" sz="700" dirty="0">
                <a:solidFill>
                  <a:srgbClr val="CBD5E1"/>
                </a:solidFill>
                <a:latin typeface="Consolas" pitchFamily="34" charset="0"/>
                <a:ea typeface="Consolas" pitchFamily="34" charset="-122"/>
                <a:cs typeface="Consolas" pitchFamily="34" charset="-120"/>
              </a:rPr>
              <a:t>,</a:t>
            </a:r>
            <a:endParaRPr lang="en-US" sz="700" dirty="0"/>
          </a:p>
          <a:p>
            <a:r>
              <a:rPr lang="en-US" sz="700" dirty="0">
                <a:solidFill>
                  <a:srgbClr val="CBD5E1"/>
                </a:solidFill>
                <a:latin typeface="Consolas" pitchFamily="34" charset="0"/>
                <a:ea typeface="Consolas" pitchFamily="34" charset="-122"/>
                <a:cs typeface="Consolas" pitchFamily="34" charset="-120"/>
              </a:rPr>
              <a:t>    ROUND((</a:t>
            </a:r>
            <a:r>
              <a:rPr lang="en-US" sz="700" dirty="0" err="1">
                <a:solidFill>
                  <a:srgbClr val="CBD5E1"/>
                </a:solidFill>
                <a:latin typeface="Consolas" pitchFamily="34" charset="0"/>
                <a:ea typeface="Consolas" pitchFamily="34" charset="-122"/>
                <a:cs typeface="Consolas" pitchFamily="34" charset="-120"/>
              </a:rPr>
              <a:t>montant_total_fraude</a:t>
            </a:r>
            <a:r>
              <a:rPr lang="en-US" sz="700" dirty="0">
                <a:solidFill>
                  <a:srgbClr val="CBD5E1"/>
                </a:solidFill>
                <a:latin typeface="Consolas" pitchFamily="34" charset="0"/>
                <a:ea typeface="Consolas" pitchFamily="34" charset="-122"/>
                <a:cs typeface="Consolas" pitchFamily="34" charset="-120"/>
              </a:rPr>
              <a:t> - </a:t>
            </a:r>
            <a:r>
              <a:rPr lang="en-US" sz="700" dirty="0" err="1">
                <a:solidFill>
                  <a:srgbClr val="CBD5E1"/>
                </a:solidFill>
                <a:latin typeface="Consolas" pitchFamily="34" charset="0"/>
                <a:ea typeface="Consolas" pitchFamily="34" charset="-122"/>
                <a:cs typeface="Consolas" pitchFamily="34" charset="-120"/>
              </a:rPr>
              <a:t>montant_mois_prec</a:t>
            </a:r>
            <a:r>
              <a:rPr lang="en-US" sz="700" dirty="0">
                <a:solidFill>
                  <a:srgbClr val="CBD5E1"/>
                </a:solidFill>
                <a:latin typeface="Consolas" pitchFamily="34" charset="0"/>
                <a:ea typeface="Consolas" pitchFamily="34" charset="-122"/>
                <a:cs typeface="Consolas" pitchFamily="34" charset="-120"/>
              </a:rPr>
              <a:t>) * 100.0</a:t>
            </a:r>
            <a:endParaRPr lang="en-US" sz="700" dirty="0"/>
          </a:p>
          <a:p>
            <a:r>
              <a:rPr lang="en-US" sz="700" dirty="0">
                <a:solidFill>
                  <a:srgbClr val="CBD5E1"/>
                </a:solidFill>
                <a:latin typeface="Consolas" pitchFamily="34" charset="0"/>
                <a:ea typeface="Consolas" pitchFamily="34" charset="-122"/>
                <a:cs typeface="Consolas" pitchFamily="34" charset="-120"/>
              </a:rPr>
              <a:t>          / NULLIF(</a:t>
            </a:r>
            <a:r>
              <a:rPr lang="en-US" sz="700" dirty="0" err="1">
                <a:solidFill>
                  <a:srgbClr val="CBD5E1"/>
                </a:solidFill>
                <a:latin typeface="Consolas" pitchFamily="34" charset="0"/>
                <a:ea typeface="Consolas" pitchFamily="34" charset="-122"/>
                <a:cs typeface="Consolas" pitchFamily="34" charset="-120"/>
              </a:rPr>
              <a:t>montant_mois_prec</a:t>
            </a:r>
            <a:r>
              <a:rPr lang="en-US" sz="700" dirty="0">
                <a:solidFill>
                  <a:srgbClr val="CBD5E1"/>
                </a:solidFill>
                <a:latin typeface="Consolas" pitchFamily="34" charset="0"/>
                <a:ea typeface="Consolas" pitchFamily="34" charset="-122"/>
                <a:cs typeface="Consolas" pitchFamily="34" charset="-120"/>
              </a:rPr>
              <a:t>, 0), 1)      AS </a:t>
            </a:r>
            <a:r>
              <a:rPr lang="en-US" sz="700" dirty="0" err="1">
                <a:solidFill>
                  <a:srgbClr val="CBD5E1"/>
                </a:solidFill>
                <a:latin typeface="Consolas" pitchFamily="34" charset="0"/>
                <a:ea typeface="Consolas" pitchFamily="34" charset="-122"/>
                <a:cs typeface="Consolas" pitchFamily="34" charset="-120"/>
              </a:rPr>
              <a:t>variation_montant_pct</a:t>
            </a:r>
            <a:endParaRPr lang="en-US" sz="700" dirty="0"/>
          </a:p>
          <a:p>
            <a:r>
              <a:rPr lang="en-US" sz="700" dirty="0">
                <a:solidFill>
                  <a:srgbClr val="CBD5E1"/>
                </a:solidFill>
                <a:latin typeface="Consolas" pitchFamily="34" charset="0"/>
                <a:ea typeface="Consolas" pitchFamily="34" charset="-122"/>
                <a:cs typeface="Consolas" pitchFamily="34" charset="-120"/>
              </a:rPr>
              <a:t>FROM </a:t>
            </a:r>
            <a:r>
              <a:rPr lang="en-US" sz="700" dirty="0" err="1">
                <a:solidFill>
                  <a:srgbClr val="CBD5E1"/>
                </a:solidFill>
                <a:latin typeface="Consolas" pitchFamily="34" charset="0"/>
                <a:ea typeface="Consolas" pitchFamily="34" charset="-122"/>
                <a:cs typeface="Consolas" pitchFamily="34" charset="-120"/>
              </a:rPr>
              <a:t>fraudes_avec_variation</a:t>
            </a:r>
            <a:endParaRPr lang="en-US" sz="700" dirty="0"/>
          </a:p>
          <a:p>
            <a:r>
              <a:rPr lang="en-US" sz="700" dirty="0">
                <a:solidFill>
                  <a:srgbClr val="CBD5E1"/>
                </a:solidFill>
                <a:latin typeface="Consolas" pitchFamily="34" charset="0"/>
                <a:ea typeface="Consolas" pitchFamily="34" charset="-122"/>
                <a:cs typeface="Consolas" pitchFamily="34" charset="-120"/>
              </a:rPr>
              <a:t>ORDER BY </a:t>
            </a:r>
            <a:r>
              <a:rPr lang="en-US" sz="700" dirty="0" err="1">
                <a:solidFill>
                  <a:srgbClr val="CBD5E1"/>
                </a:solidFill>
                <a:latin typeface="Consolas" pitchFamily="34" charset="0"/>
                <a:ea typeface="Consolas" pitchFamily="34" charset="-122"/>
                <a:cs typeface="Consolas" pitchFamily="34" charset="-120"/>
              </a:rPr>
              <a:t>mois</a:t>
            </a:r>
            <a:r>
              <a:rPr lang="en-US" sz="700" dirty="0">
                <a:solidFill>
                  <a:srgbClr val="CBD5E1"/>
                </a:solidFill>
                <a:latin typeface="Consolas" pitchFamily="34" charset="0"/>
                <a:ea typeface="Consolas" pitchFamily="34" charset="-122"/>
                <a:cs typeface="Consolas" pitchFamily="34" charset="-120"/>
              </a:rPr>
              <a:t>;</a:t>
            </a:r>
            <a:endParaRPr lang="en-US" sz="700" dirty="0"/>
          </a:p>
          <a:p>
            <a:endParaRPr lang="en-US" sz="700" dirty="0"/>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name="Slide 40">
    <p:bg>
      <p:bgPr>
        <a:solidFill>
          <a:srgbClr val="F0F6FF"/>
        </a:solidFill>
        <a:effectLst/>
      </p:bgPr>
    </p:bg>
    <p:spTree>
      <p:nvGrpSpPr>
        <p:cNvPr id="1" name=""/>
        <p:cNvGrpSpPr/>
        <p:nvPr/>
      </p:nvGrpSpPr>
      <p:grpSpPr>
        <a:xfrm>
          <a:off x="0" y="0"/>
          <a:ext cx="0" cy="0"/>
          <a:chOff x="0" y="0"/>
          <a:chExt cx="0" cy="0"/>
        </a:xfrm>
      </p:grpSpPr>
      <p:sp>
        <p:nvSpPr>
          <p:cNvPr id="2" name="Shape 0"/>
          <p:cNvSpPr/>
          <p:nvPr/>
        </p:nvSpPr>
        <p:spPr>
          <a:xfrm>
            <a:off x="0" y="0"/>
            <a:ext cx="118872" cy="5143500"/>
          </a:xfrm>
          <a:prstGeom prst="rect">
            <a:avLst/>
          </a:prstGeom>
          <a:solidFill>
            <a:srgbClr val="0891B2"/>
          </a:solidFill>
          <a:ln w="12700">
            <a:solidFill>
              <a:srgbClr val="0891B2"/>
            </a:solidFill>
            <a:prstDash val="solid"/>
          </a:ln>
        </p:spPr>
      </p:sp>
      <p:sp>
        <p:nvSpPr>
          <p:cNvPr id="3" name="Shape 1"/>
          <p:cNvSpPr/>
          <p:nvPr/>
        </p:nvSpPr>
        <p:spPr>
          <a:xfrm>
            <a:off x="210312" y="91440"/>
            <a:ext cx="640080" cy="310896"/>
          </a:xfrm>
          <a:prstGeom prst="rect">
            <a:avLst/>
          </a:prstGeom>
          <a:solidFill>
            <a:srgbClr val="0891B2"/>
          </a:solidFill>
          <a:ln w="12700">
            <a:solidFill>
              <a:srgbClr val="0891B2"/>
            </a:solidFill>
            <a:prstDash val="solid"/>
          </a:ln>
        </p:spPr>
      </p:sp>
      <p:sp>
        <p:nvSpPr>
          <p:cNvPr id="4" name="Text 2"/>
          <p:cNvSpPr/>
          <p:nvPr/>
        </p:nvSpPr>
        <p:spPr>
          <a:xfrm>
            <a:off x="210312" y="91440"/>
            <a:ext cx="640080"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R32</a:t>
            </a:r>
          </a:p>
        </p:txBody>
      </p:sp>
      <p:sp>
        <p:nvSpPr>
          <p:cNvPr id="5" name="Text 3"/>
          <p:cNvSpPr/>
          <p:nvPr/>
        </p:nvSpPr>
        <p:spPr>
          <a:xfrm>
            <a:off x="932688" y="91440"/>
            <a:ext cx="6583680" cy="310896"/>
          </a:xfrm>
          <a:prstGeom prst="rect">
            <a:avLst/>
          </a:prstGeom>
          <a:noFill/>
          <a:ln/>
        </p:spPr>
        <p:txBody>
          <a:bodyPr wrap="square" rtlCol="0" anchor="ctr"/>
          <a:lstStyle/>
          <a:p>
            <a:pPr marL="0" indent="0">
              <a:buNone/>
            </a:pPr>
            <a:r>
              <a:rPr lang="en-US" sz="1350" b="1" dirty="0">
                <a:solidFill>
                  <a:srgbClr val="1E293B"/>
                </a:solidFill>
                <a:latin typeface="Calibri" pitchFamily="34" charset="0"/>
                <a:ea typeface="Calibri" pitchFamily="34" charset="-122"/>
                <a:cs typeface="Calibri" pitchFamily="34" charset="-120"/>
              </a:rPr>
              <a:t>Fonctions analytiques ROW_NUMBER / RANK — Top transactions par utilisateur</a:t>
            </a:r>
          </a:p>
        </p:txBody>
      </p:sp>
      <p:sp>
        <p:nvSpPr>
          <p:cNvPr id="6" name="Text 4"/>
          <p:cNvSpPr/>
          <p:nvPr/>
        </p:nvSpPr>
        <p:spPr>
          <a:xfrm>
            <a:off x="210312" y="429768"/>
            <a:ext cx="8732520" cy="246888"/>
          </a:xfrm>
          <a:prstGeom prst="rect">
            <a:avLst/>
          </a:prstGeom>
          <a:noFill/>
          <a:ln/>
        </p:spPr>
        <p:txBody>
          <a:bodyPr wrap="square" rtlCol="0" anchor="ctr"/>
          <a:lstStyle/>
          <a:p>
            <a:pPr marL="0" indent="0">
              <a:buNone/>
            </a:pPr>
            <a:r>
              <a:rPr lang="en-US" sz="1000" i="1" dirty="0">
                <a:solidFill>
                  <a:srgbClr val="475569"/>
                </a:solidFill>
                <a:latin typeface="Calibri" pitchFamily="34" charset="0"/>
                <a:ea typeface="Calibri" pitchFamily="34" charset="-122"/>
                <a:cs typeface="Calibri" pitchFamily="34" charset="-120"/>
              </a:rPr>
              <a:t>Pour chaque utilisateur, classer ses transactions par montant décroissant et ne retenir que la plus grosse par compte</a:t>
            </a:r>
          </a:p>
        </p:txBody>
      </p:sp>
      <p:sp>
        <p:nvSpPr>
          <p:cNvPr id="7" name="Shape 5"/>
          <p:cNvSpPr/>
          <p:nvPr/>
        </p:nvSpPr>
        <p:spPr>
          <a:xfrm>
            <a:off x="210312" y="704088"/>
            <a:ext cx="8732520" cy="2839212"/>
          </a:xfrm>
          <a:prstGeom prst="rect">
            <a:avLst/>
          </a:prstGeom>
          <a:solidFill>
            <a:srgbClr val="0F1E2E"/>
          </a:solidFill>
          <a:ln w="6350">
            <a:solidFill>
              <a:srgbClr val="1E3A5F"/>
            </a:solidFill>
            <a:prstDash val="solid"/>
          </a:ln>
        </p:spPr>
      </p:sp>
      <p:sp>
        <p:nvSpPr>
          <p:cNvPr id="8" name="Text 6"/>
          <p:cNvSpPr/>
          <p:nvPr/>
        </p:nvSpPr>
        <p:spPr>
          <a:xfrm>
            <a:off x="292608" y="731520"/>
            <a:ext cx="8549640" cy="3080000"/>
          </a:xfrm>
          <a:prstGeom prst="rect">
            <a:avLst/>
          </a:prstGeom>
          <a:noFill/>
          <a:ln/>
        </p:spPr>
        <p:txBody>
          <a:bodyPr wrap="square" lIns="38100" tIns="38100" rIns="38100" bIns="38100" rtlCol="0" anchor="t"/>
          <a:lstStyle/>
          <a:p>
            <a:pPr marL="0" indent="0">
              <a:buNone/>
            </a:pPr>
            <a:r>
              <a:rPr lang="en-US" sz="700" dirty="0">
                <a:solidFill>
                  <a:srgbClr val="CBD5E1"/>
                </a:solidFill>
                <a:latin typeface="Consolas" pitchFamily="34" charset="0"/>
                <a:ea typeface="Consolas" pitchFamily="34" charset="-122"/>
                <a:cs typeface="Consolas" pitchFamily="34" charset="-120"/>
              </a:rPr>
              <a:t>SELECT id_utilisateur, utilisateur, id_compte,</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       id_transaction, montant, pays, date_heure,</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       rang_par_compte</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FROM (</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    SELECT</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        U.id_utilisateur,</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        U.nom || ' ' || U.prenom              AS utilisateur,</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        ET.id_compte,</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        T.id_transaction,</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        T.montant,</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        T.pays,</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        TO_CHAR(T.date_heure,'DD/MM/YYYY HH24:MI') AS date_heure,</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        ROW_NUMBER() OVER (</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            PARTITION BY ET.id_compte</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            ORDER BY T.montant DESC</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        )                                      AS rang_par_compte,</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        RANK() OVER (</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            PARTITION BY U.id_utilisateur</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            ORDER BY T.montant DESC</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        )                                      AS rang_global_util</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    FROM Transaction T</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    JOIN Est_Titulaire ET ON ET.id_compte      = T.id_compte</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    JOIN Utilisateur   U  ON U.id_utilisateur  = ET.id_utilisateur</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    WHERE T.statut = 'VALIDE'</a:t>
            </a:r>
            <a:endParaRPr lang="en-US" sz="700" dirty="0"/>
          </a:p>
          <a:p>
            <a:pPr marL="0" indent="0">
              <a:buNone/>
            </a:pPr>
            <a:r>
              <a:rPr lang="en-US" sz="700" dirty="0" smtClean="0">
                <a:solidFill>
                  <a:srgbClr val="CBD5E1"/>
                </a:solidFill>
                <a:latin typeface="Consolas" pitchFamily="34" charset="0"/>
                <a:ea typeface="Consolas" pitchFamily="34" charset="-122"/>
                <a:cs typeface="Consolas" pitchFamily="34" charset="-120"/>
              </a:rPr>
              <a:t>)</a:t>
            </a:r>
          </a:p>
        </p:txBody>
      </p:sp>
      <p:sp>
        <p:nvSpPr>
          <p:cNvPr id="9" name="Text 7"/>
          <p:cNvSpPr/>
          <p:nvPr/>
        </p:nvSpPr>
        <p:spPr>
          <a:xfrm>
            <a:off x="210312" y="3543300"/>
            <a:ext cx="3657600" cy="201168"/>
          </a:xfrm>
          <a:prstGeom prst="rect">
            <a:avLst/>
          </a:prstGeom>
          <a:noFill/>
          <a:ln/>
        </p:spPr>
        <p:txBody>
          <a:bodyPr wrap="square" rtlCol="0" anchor="ctr"/>
          <a:lstStyle/>
          <a:p>
            <a:pPr marL="0" indent="0">
              <a:buNone/>
            </a:pPr>
            <a:r>
              <a:rPr lang="en-US" sz="850" b="1" dirty="0">
                <a:solidFill>
                  <a:srgbClr val="0891B2"/>
                </a:solidFill>
                <a:latin typeface="Calibri" pitchFamily="34" charset="0"/>
                <a:ea typeface="Calibri" pitchFamily="34" charset="-122"/>
                <a:cs typeface="Calibri" pitchFamily="34" charset="-120"/>
              </a:rPr>
              <a:t>►  </a:t>
            </a:r>
            <a:r>
              <a:rPr lang="en-US" sz="850" b="1" dirty="0" err="1">
                <a:solidFill>
                  <a:srgbClr val="0891B2"/>
                </a:solidFill>
                <a:latin typeface="Calibri" pitchFamily="34" charset="0"/>
                <a:ea typeface="Calibri" pitchFamily="34" charset="-122"/>
                <a:cs typeface="Calibri" pitchFamily="34" charset="-120"/>
              </a:rPr>
              <a:t>Résultats :</a:t>
            </a:r>
          </a:p>
        </p:txBody>
      </p:sp>
      <p:graphicFrame>
        <p:nvGraphicFramePr>
          <p:cNvPr id="10" name="Table 0"/>
          <p:cNvGraphicFramePr>
            <a:graphicFrameLocks noGrp="1"/>
          </p:cNvGraphicFramePr>
          <p:nvPr>
            <p:extLst>
              <p:ext uri="{D42A27DB-BD31-4B8C-83A1-F6EECF244321}">
                <p14:modId xmlns:p14="http://schemas.microsoft.com/office/powerpoint/2010/main" val="3032200718"/>
              </p:ext>
            </p:extLst>
          </p:nvPr>
        </p:nvGraphicFramePr>
        <p:xfrm>
          <a:off x="210312" y="3794351"/>
          <a:ext cx="8732514" cy="1234440"/>
        </p:xfrm>
        <a:graphic>
          <a:graphicData uri="http://schemas.openxmlformats.org/drawingml/2006/table">
            <a:tbl>
              <a:tblPr/>
              <a:tblGrid>
                <a:gridCol w="1247502"/>
                <a:gridCol w="1247502"/>
                <a:gridCol w="1247502"/>
                <a:gridCol w="1247502"/>
                <a:gridCol w="1247502"/>
                <a:gridCol w="1247502"/>
                <a:gridCol w="1247502"/>
              </a:tblGrid>
              <a:tr h="246888">
                <a:tc>
                  <a:txBody>
                    <a:bodyPr/>
                    <a:lstStyle/>
                    <a:p>
                      <a:pPr marL="0" indent="0" algn="ctr">
                        <a:buNone/>
                      </a:pPr>
                      <a:r>
                        <a:rPr lang="en-US" sz="800" b="1" dirty="0">
                          <a:solidFill>
                            <a:srgbClr val="FFFFFF"/>
                          </a:solidFill>
                          <a:latin typeface="Calibri" pitchFamily="34" charset="0"/>
                          <a:ea typeface="Calibri" pitchFamily="34" charset="-122"/>
                          <a:cs typeface="Calibri" pitchFamily="34" charset="-120"/>
                        </a:rPr>
                        <a:t>ID_UTIL</a:t>
                      </a:r>
                      <a:endParaRPr lang="en-US" sz="8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B1628"/>
                    </a:solidFill>
                  </a:tcPr>
                </a:tc>
                <a:tc>
                  <a:txBody>
                    <a:bodyPr/>
                    <a:lstStyle/>
                    <a:p>
                      <a:pPr marL="0" indent="0" algn="ctr">
                        <a:buNone/>
                      </a:pPr>
                      <a:r>
                        <a:rPr lang="en-US" sz="800" b="1" dirty="0">
                          <a:solidFill>
                            <a:srgbClr val="FFFFFF"/>
                          </a:solidFill>
                          <a:latin typeface="Calibri" pitchFamily="34" charset="0"/>
                          <a:ea typeface="Calibri" pitchFamily="34" charset="-122"/>
                          <a:cs typeface="Calibri" pitchFamily="34" charset="-120"/>
                        </a:rPr>
                        <a:t>UTILISATEUR</a:t>
                      </a:r>
                      <a:endParaRPr lang="en-US" sz="8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B1628"/>
                    </a:solidFill>
                  </a:tcPr>
                </a:tc>
                <a:tc>
                  <a:txBody>
                    <a:bodyPr/>
                    <a:lstStyle/>
                    <a:p>
                      <a:pPr marL="0" indent="0" algn="ctr">
                        <a:buNone/>
                      </a:pPr>
                      <a:r>
                        <a:rPr lang="en-US" sz="800" b="1" dirty="0">
                          <a:solidFill>
                            <a:srgbClr val="FFFFFF"/>
                          </a:solidFill>
                          <a:latin typeface="Calibri" pitchFamily="34" charset="0"/>
                          <a:ea typeface="Calibri" pitchFamily="34" charset="-122"/>
                          <a:cs typeface="Calibri" pitchFamily="34" charset="-120"/>
                        </a:rPr>
                        <a:t>ID_COMPTE</a:t>
                      </a:r>
                      <a:endParaRPr lang="en-US" sz="8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B1628"/>
                    </a:solidFill>
                  </a:tcPr>
                </a:tc>
                <a:tc>
                  <a:txBody>
                    <a:bodyPr/>
                    <a:lstStyle/>
                    <a:p>
                      <a:pPr marL="0" indent="0" algn="ctr">
                        <a:buNone/>
                      </a:pPr>
                      <a:r>
                        <a:rPr lang="en-US" sz="800" b="1" dirty="0">
                          <a:solidFill>
                            <a:srgbClr val="FFFFFF"/>
                          </a:solidFill>
                          <a:latin typeface="Calibri" pitchFamily="34" charset="0"/>
                          <a:ea typeface="Calibri" pitchFamily="34" charset="-122"/>
                          <a:cs typeface="Calibri" pitchFamily="34" charset="-120"/>
                        </a:rPr>
                        <a:t>ID_TRANS</a:t>
                      </a:r>
                      <a:endParaRPr lang="en-US" sz="8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B1628"/>
                    </a:solidFill>
                  </a:tcPr>
                </a:tc>
                <a:tc>
                  <a:txBody>
                    <a:bodyPr/>
                    <a:lstStyle/>
                    <a:p>
                      <a:pPr marL="0" indent="0" algn="ctr">
                        <a:buNone/>
                      </a:pPr>
                      <a:r>
                        <a:rPr lang="en-US" sz="800" b="1" dirty="0">
                          <a:solidFill>
                            <a:srgbClr val="FFFFFF"/>
                          </a:solidFill>
                          <a:latin typeface="Calibri" pitchFamily="34" charset="0"/>
                          <a:ea typeface="Calibri" pitchFamily="34" charset="-122"/>
                          <a:cs typeface="Calibri" pitchFamily="34" charset="-120"/>
                        </a:rPr>
                        <a:t>MONTANT</a:t>
                      </a:r>
                      <a:endParaRPr lang="en-US" sz="8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B1628"/>
                    </a:solidFill>
                  </a:tcPr>
                </a:tc>
                <a:tc>
                  <a:txBody>
                    <a:bodyPr/>
                    <a:lstStyle/>
                    <a:p>
                      <a:pPr marL="0" indent="0" algn="ctr">
                        <a:buNone/>
                      </a:pPr>
                      <a:r>
                        <a:rPr lang="en-US" sz="800" b="1" dirty="0">
                          <a:solidFill>
                            <a:srgbClr val="FFFFFF"/>
                          </a:solidFill>
                          <a:latin typeface="Calibri" pitchFamily="34" charset="0"/>
                          <a:ea typeface="Calibri" pitchFamily="34" charset="-122"/>
                          <a:cs typeface="Calibri" pitchFamily="34" charset="-120"/>
                        </a:rPr>
                        <a:t>PAYS</a:t>
                      </a:r>
                      <a:endParaRPr lang="en-US" sz="8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B1628"/>
                    </a:solidFill>
                  </a:tcPr>
                </a:tc>
                <a:tc>
                  <a:txBody>
                    <a:bodyPr/>
                    <a:lstStyle/>
                    <a:p>
                      <a:pPr marL="0" indent="0" algn="ctr">
                        <a:buNone/>
                      </a:pPr>
                      <a:r>
                        <a:rPr lang="en-US" sz="800" b="1" dirty="0">
                          <a:solidFill>
                            <a:srgbClr val="FFFFFF"/>
                          </a:solidFill>
                          <a:latin typeface="Calibri" pitchFamily="34" charset="0"/>
                          <a:ea typeface="Calibri" pitchFamily="34" charset="-122"/>
                          <a:cs typeface="Calibri" pitchFamily="34" charset="-120"/>
                        </a:rPr>
                        <a:t>DATE_HEURE</a:t>
                      </a:r>
                      <a:endParaRPr lang="en-US" sz="8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B1628"/>
                    </a:solidFill>
                  </a:tcPr>
                </a:tc>
              </a:tr>
              <a:tr h="246888">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1</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Anas SAOUDI</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2001</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5001</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3200</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FR</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15/04/2026 11:20</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246888">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3</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Leila TRABELSI</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2003</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5002</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2850</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MT</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16/04/2026 02:13</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r>
              <a:tr h="246888">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2</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Mohamed BATTI</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2002</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5003</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1999</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TN</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12/04/2026 14:05</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246888">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4</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Karim MANSOURI</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2004</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5004</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1750</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AE</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10/04/2026 09:30</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r>
            </a:tbl>
          </a:graphicData>
        </a:graphic>
      </p:graphicFrame>
      <p:sp>
        <p:nvSpPr>
          <p:cNvPr id="11" name="TextBox 10"/>
          <p:cNvSpPr txBox="1"/>
          <p:nvPr/>
        </p:nvSpPr>
        <p:spPr>
          <a:xfrm>
            <a:off x="4567428" y="733798"/>
            <a:ext cx="3929975" cy="523220"/>
          </a:xfrm>
          <a:prstGeom prst="rect">
            <a:avLst/>
          </a:prstGeom>
          <a:noFill/>
        </p:spPr>
        <p:txBody>
          <a:bodyPr wrap="square" rtlCol="0">
            <a:spAutoFit/>
          </a:bodyPr>
          <a:lstStyle/>
          <a:p>
            <a:r>
              <a:rPr lang="en-US" sz="700" dirty="0">
                <a:solidFill>
                  <a:srgbClr val="CBD5E1"/>
                </a:solidFill>
                <a:latin typeface="Consolas" pitchFamily="34" charset="0"/>
                <a:ea typeface="Consolas" pitchFamily="34" charset="-122"/>
                <a:cs typeface="Consolas" pitchFamily="34" charset="-120"/>
              </a:rPr>
              <a:t>WHERE </a:t>
            </a:r>
            <a:r>
              <a:rPr lang="en-US" sz="700" dirty="0" err="1">
                <a:solidFill>
                  <a:srgbClr val="CBD5E1"/>
                </a:solidFill>
                <a:latin typeface="Consolas" pitchFamily="34" charset="0"/>
                <a:ea typeface="Consolas" pitchFamily="34" charset="-122"/>
                <a:cs typeface="Consolas" pitchFamily="34" charset="-120"/>
              </a:rPr>
              <a:t>rang_par_compte</a:t>
            </a:r>
            <a:r>
              <a:rPr lang="en-US" sz="700" dirty="0">
                <a:solidFill>
                  <a:srgbClr val="CBD5E1"/>
                </a:solidFill>
                <a:latin typeface="Consolas" pitchFamily="34" charset="0"/>
                <a:ea typeface="Consolas" pitchFamily="34" charset="-122"/>
                <a:cs typeface="Consolas" pitchFamily="34" charset="-120"/>
              </a:rPr>
              <a:t> = 1</a:t>
            </a:r>
            <a:endParaRPr lang="en-US" sz="700" dirty="0"/>
          </a:p>
          <a:p>
            <a:r>
              <a:rPr lang="en-US" sz="700" dirty="0">
                <a:solidFill>
                  <a:srgbClr val="CBD5E1"/>
                </a:solidFill>
                <a:latin typeface="Consolas" pitchFamily="34" charset="0"/>
                <a:ea typeface="Consolas" pitchFamily="34" charset="-122"/>
                <a:cs typeface="Consolas" pitchFamily="34" charset="-120"/>
              </a:rPr>
              <a:t>ORDER BY </a:t>
            </a:r>
            <a:r>
              <a:rPr lang="en-US" sz="700" dirty="0" err="1">
                <a:solidFill>
                  <a:srgbClr val="CBD5E1"/>
                </a:solidFill>
                <a:latin typeface="Consolas" pitchFamily="34" charset="0"/>
                <a:ea typeface="Consolas" pitchFamily="34" charset="-122"/>
                <a:cs typeface="Consolas" pitchFamily="34" charset="-120"/>
              </a:rPr>
              <a:t>montant</a:t>
            </a:r>
            <a:r>
              <a:rPr lang="en-US" sz="700" dirty="0">
                <a:solidFill>
                  <a:srgbClr val="CBD5E1"/>
                </a:solidFill>
                <a:latin typeface="Consolas" pitchFamily="34" charset="0"/>
                <a:ea typeface="Consolas" pitchFamily="34" charset="-122"/>
                <a:cs typeface="Consolas" pitchFamily="34" charset="-120"/>
              </a:rPr>
              <a:t> DESC</a:t>
            </a:r>
            <a:endParaRPr lang="en-US" sz="700" dirty="0"/>
          </a:p>
          <a:p>
            <a:r>
              <a:rPr lang="en-US" sz="700" dirty="0">
                <a:solidFill>
                  <a:srgbClr val="CBD5E1"/>
                </a:solidFill>
                <a:latin typeface="Consolas" pitchFamily="34" charset="0"/>
                <a:ea typeface="Consolas" pitchFamily="34" charset="-122"/>
                <a:cs typeface="Consolas" pitchFamily="34" charset="-120"/>
              </a:rPr>
              <a:t>FETCH FIRST 10 ROWS ONLY;</a:t>
            </a:r>
            <a:endParaRPr lang="en-US" sz="700" dirty="0"/>
          </a:p>
          <a:p>
            <a:endParaRPr lang="en-US" sz="700" dirty="0"/>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name="Slide 41">
    <p:bg>
      <p:bgPr>
        <a:solidFill>
          <a:srgbClr val="F0F6FF"/>
        </a:solidFill>
        <a:effectLst/>
      </p:bgPr>
    </p:bg>
    <p:spTree>
      <p:nvGrpSpPr>
        <p:cNvPr id="1" name=""/>
        <p:cNvGrpSpPr/>
        <p:nvPr/>
      </p:nvGrpSpPr>
      <p:grpSpPr>
        <a:xfrm>
          <a:off x="0" y="0"/>
          <a:ext cx="0" cy="0"/>
          <a:chOff x="0" y="0"/>
          <a:chExt cx="0" cy="0"/>
        </a:xfrm>
      </p:grpSpPr>
      <p:sp>
        <p:nvSpPr>
          <p:cNvPr id="2" name="Shape 0"/>
          <p:cNvSpPr/>
          <p:nvPr/>
        </p:nvSpPr>
        <p:spPr>
          <a:xfrm>
            <a:off x="0" y="0"/>
            <a:ext cx="118872" cy="5143500"/>
          </a:xfrm>
          <a:prstGeom prst="rect">
            <a:avLst/>
          </a:prstGeom>
          <a:solidFill>
            <a:srgbClr val="0891B2"/>
          </a:solidFill>
          <a:ln w="12700">
            <a:solidFill>
              <a:srgbClr val="0891B2"/>
            </a:solidFill>
            <a:prstDash val="solid"/>
          </a:ln>
        </p:spPr>
      </p:sp>
      <p:sp>
        <p:nvSpPr>
          <p:cNvPr id="3" name="Shape 1"/>
          <p:cNvSpPr/>
          <p:nvPr/>
        </p:nvSpPr>
        <p:spPr>
          <a:xfrm>
            <a:off x="210312" y="91440"/>
            <a:ext cx="640080" cy="310896"/>
          </a:xfrm>
          <a:prstGeom prst="rect">
            <a:avLst/>
          </a:prstGeom>
          <a:solidFill>
            <a:srgbClr val="0891B2"/>
          </a:solidFill>
          <a:ln w="12700">
            <a:solidFill>
              <a:srgbClr val="0891B2"/>
            </a:solidFill>
            <a:prstDash val="solid"/>
          </a:ln>
        </p:spPr>
      </p:sp>
      <p:sp>
        <p:nvSpPr>
          <p:cNvPr id="4" name="Text 2"/>
          <p:cNvSpPr/>
          <p:nvPr/>
        </p:nvSpPr>
        <p:spPr>
          <a:xfrm>
            <a:off x="210312" y="91440"/>
            <a:ext cx="640080"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R33</a:t>
            </a:r>
          </a:p>
        </p:txBody>
      </p:sp>
      <p:sp>
        <p:nvSpPr>
          <p:cNvPr id="5" name="Text 3"/>
          <p:cNvSpPr/>
          <p:nvPr/>
        </p:nvSpPr>
        <p:spPr>
          <a:xfrm>
            <a:off x="932688" y="91440"/>
            <a:ext cx="6583680" cy="310896"/>
          </a:xfrm>
          <a:prstGeom prst="rect">
            <a:avLst/>
          </a:prstGeom>
          <a:noFill/>
          <a:ln/>
        </p:spPr>
        <p:txBody>
          <a:bodyPr wrap="square" rtlCol="0" anchor="ctr"/>
          <a:lstStyle/>
          <a:p>
            <a:pPr marL="0" indent="0">
              <a:buNone/>
            </a:pPr>
            <a:r>
              <a:rPr lang="en-US" sz="1350" b="1" dirty="0">
                <a:solidFill>
                  <a:srgbClr val="1E293B"/>
                </a:solidFill>
                <a:latin typeface="Calibri" pitchFamily="34" charset="0"/>
                <a:ea typeface="Calibri" pitchFamily="34" charset="-122"/>
                <a:cs typeface="Calibri" pitchFamily="34" charset="-120"/>
              </a:rPr>
              <a:t>LAG / LEAD — Detection de chute brutale de solde</a:t>
            </a:r>
          </a:p>
        </p:txBody>
      </p:sp>
      <p:sp>
        <p:nvSpPr>
          <p:cNvPr id="6" name="Text 4"/>
          <p:cNvSpPr/>
          <p:nvPr/>
        </p:nvSpPr>
        <p:spPr>
          <a:xfrm>
            <a:off x="210312" y="429768"/>
            <a:ext cx="8732520" cy="246888"/>
          </a:xfrm>
          <a:prstGeom prst="rect">
            <a:avLst/>
          </a:prstGeom>
          <a:noFill/>
          <a:ln/>
        </p:spPr>
        <p:txBody>
          <a:bodyPr wrap="square" rtlCol="0" anchor="ctr"/>
          <a:lstStyle/>
          <a:p>
            <a:pPr marL="0" indent="0">
              <a:buNone/>
            </a:pPr>
            <a:r>
              <a:rPr lang="en-US" sz="1000" i="1" dirty="0">
                <a:solidFill>
                  <a:srgbClr val="475569"/>
                </a:solidFill>
                <a:latin typeface="Calibri" pitchFamily="34" charset="0"/>
                <a:ea typeface="Calibri" pitchFamily="34" charset="-122"/>
                <a:cs typeface="Calibri" pitchFamily="34" charset="-120"/>
              </a:rPr>
              <a:t>Détecter les comptes dont le solde a chuté de plus de 50 % entre deux transactions successives en utilisant LAG</a:t>
            </a:r>
          </a:p>
        </p:txBody>
      </p:sp>
      <p:sp>
        <p:nvSpPr>
          <p:cNvPr id="7" name="Shape 5"/>
          <p:cNvSpPr/>
          <p:nvPr/>
        </p:nvSpPr>
        <p:spPr>
          <a:xfrm>
            <a:off x="210312" y="704088"/>
            <a:ext cx="8732520" cy="2601087"/>
          </a:xfrm>
          <a:prstGeom prst="rect">
            <a:avLst/>
          </a:prstGeom>
          <a:solidFill>
            <a:srgbClr val="0F1E2E"/>
          </a:solidFill>
          <a:ln w="6350">
            <a:solidFill>
              <a:srgbClr val="1E3A5F"/>
            </a:solidFill>
            <a:prstDash val="solid"/>
          </a:ln>
        </p:spPr>
      </p:sp>
      <p:sp>
        <p:nvSpPr>
          <p:cNvPr id="8" name="Text 6"/>
          <p:cNvSpPr/>
          <p:nvPr/>
        </p:nvSpPr>
        <p:spPr>
          <a:xfrm>
            <a:off x="292608" y="731520"/>
            <a:ext cx="8549640" cy="3605000"/>
          </a:xfrm>
          <a:prstGeom prst="rect">
            <a:avLst/>
          </a:prstGeom>
          <a:noFill/>
          <a:ln/>
        </p:spPr>
        <p:txBody>
          <a:bodyPr wrap="square" lIns="38100" tIns="38100" rIns="38100" bIns="38100" rtlCol="0" anchor="t"/>
          <a:lstStyle/>
          <a:p>
            <a:pPr marL="0" indent="0">
              <a:buNone/>
            </a:pPr>
            <a:r>
              <a:rPr lang="en-US" sz="700" dirty="0">
                <a:solidFill>
                  <a:srgbClr val="CBD5E1"/>
                </a:solidFill>
                <a:latin typeface="Consolas" pitchFamily="34" charset="0"/>
                <a:ea typeface="Consolas" pitchFamily="34" charset="-122"/>
                <a:cs typeface="Consolas" pitchFamily="34" charset="-120"/>
              </a:rPr>
              <a:t>WITH soldes_historiques AS (</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    SELECT</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        T.id_compte,</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        U.nom || ' ' || U.prenom              AS utilisateur,</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        T.id_transaction,</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        T.montant,</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        T.type_operation,</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        T.date_heure,</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        CO.solde                               AS solde_actuel,</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        LAG(T.montant) OVER (</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            PARTITION BY T.id_compte</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            ORDER BY T.date_heure</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        )                                      AS montant_trans_prec,</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        LAG(T.date_heure) OVER (</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            PARTITION BY T.id_compte</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            ORDER BY T.date_heure</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        )                                      AS date_trans_prec</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    FROM Transaction T</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    JOIN Compte        CO ON CO.id_compte      = T.id_compte</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    JOIN Est_Titulaire ET ON ET.id_compte      = T.id_compte</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    JOIN Utilisateur   U  ON U.id_utilisateur  = ET.id_utilisateur</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    WHERE T.statut = 'VALIDE'</a:t>
            </a:r>
            <a:endParaRPr lang="en-US" sz="700" dirty="0"/>
          </a:p>
          <a:p>
            <a:pPr marL="0" indent="0">
              <a:buNone/>
            </a:pPr>
            <a:r>
              <a:rPr lang="en-US" sz="700" dirty="0" smtClean="0">
                <a:solidFill>
                  <a:srgbClr val="CBD5E1"/>
                </a:solidFill>
                <a:latin typeface="Consolas" pitchFamily="34" charset="0"/>
                <a:ea typeface="Consolas" pitchFamily="34" charset="-122"/>
                <a:cs typeface="Consolas" pitchFamily="34" charset="-120"/>
              </a:rPr>
              <a:t>)</a:t>
            </a:r>
            <a:endParaRPr lang="en-US" sz="700" dirty="0"/>
          </a:p>
        </p:txBody>
      </p:sp>
      <p:sp>
        <p:nvSpPr>
          <p:cNvPr id="9" name="Text 7"/>
          <p:cNvSpPr/>
          <p:nvPr/>
        </p:nvSpPr>
        <p:spPr>
          <a:xfrm>
            <a:off x="210312" y="3332607"/>
            <a:ext cx="3657600" cy="201168"/>
          </a:xfrm>
          <a:prstGeom prst="rect">
            <a:avLst/>
          </a:prstGeom>
          <a:noFill/>
          <a:ln/>
        </p:spPr>
        <p:txBody>
          <a:bodyPr wrap="square" rtlCol="0" anchor="ctr"/>
          <a:lstStyle/>
          <a:p>
            <a:pPr marL="0" indent="0">
              <a:buNone/>
            </a:pPr>
            <a:r>
              <a:rPr lang="en-US" sz="850" b="1" dirty="0">
                <a:solidFill>
                  <a:srgbClr val="0891B2"/>
                </a:solidFill>
                <a:latin typeface="Calibri" pitchFamily="34" charset="0"/>
                <a:ea typeface="Calibri" pitchFamily="34" charset="-122"/>
                <a:cs typeface="Calibri" pitchFamily="34" charset="-120"/>
              </a:rPr>
              <a:t>►  </a:t>
            </a:r>
            <a:r>
              <a:rPr lang="en-US" sz="850" b="1" dirty="0" err="1">
                <a:solidFill>
                  <a:srgbClr val="0891B2"/>
                </a:solidFill>
                <a:latin typeface="Calibri" pitchFamily="34" charset="0"/>
                <a:ea typeface="Calibri" pitchFamily="34" charset="-122"/>
                <a:cs typeface="Calibri" pitchFamily="34" charset="-120"/>
              </a:rPr>
              <a:t>Résultats :</a:t>
            </a:r>
          </a:p>
        </p:txBody>
      </p:sp>
      <p:graphicFrame>
        <p:nvGraphicFramePr>
          <p:cNvPr id="10" name="Table 0"/>
          <p:cNvGraphicFramePr>
            <a:graphicFrameLocks noGrp="1"/>
          </p:cNvGraphicFramePr>
          <p:nvPr>
            <p:extLst>
              <p:ext uri="{D42A27DB-BD31-4B8C-83A1-F6EECF244321}">
                <p14:modId xmlns:p14="http://schemas.microsoft.com/office/powerpoint/2010/main" val="2112114779"/>
              </p:ext>
            </p:extLst>
          </p:nvPr>
        </p:nvGraphicFramePr>
        <p:xfrm>
          <a:off x="210318" y="3561207"/>
          <a:ext cx="8732514" cy="1234440"/>
        </p:xfrm>
        <a:graphic>
          <a:graphicData uri="http://schemas.openxmlformats.org/drawingml/2006/table">
            <a:tbl>
              <a:tblPr/>
              <a:tblGrid>
                <a:gridCol w="1247502"/>
                <a:gridCol w="1247502"/>
                <a:gridCol w="1247502"/>
                <a:gridCol w="1247502"/>
                <a:gridCol w="1247502"/>
                <a:gridCol w="1247502"/>
                <a:gridCol w="1247502"/>
              </a:tblGrid>
              <a:tr h="246888">
                <a:tc>
                  <a:txBody>
                    <a:bodyPr/>
                    <a:lstStyle/>
                    <a:p>
                      <a:pPr marL="0" indent="0" algn="ctr">
                        <a:buNone/>
                      </a:pPr>
                      <a:r>
                        <a:rPr lang="en-US" sz="800" b="1" dirty="0">
                          <a:solidFill>
                            <a:srgbClr val="FFFFFF"/>
                          </a:solidFill>
                          <a:latin typeface="Calibri" pitchFamily="34" charset="0"/>
                          <a:ea typeface="Calibri" pitchFamily="34" charset="-122"/>
                          <a:cs typeface="Calibri" pitchFamily="34" charset="-120"/>
                        </a:rPr>
                        <a:t>ID_COMPTE</a:t>
                      </a:r>
                      <a:endParaRPr lang="en-US" sz="8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B1628"/>
                    </a:solidFill>
                  </a:tcPr>
                </a:tc>
                <a:tc>
                  <a:txBody>
                    <a:bodyPr/>
                    <a:lstStyle/>
                    <a:p>
                      <a:pPr marL="0" indent="0" algn="ctr">
                        <a:buNone/>
                      </a:pPr>
                      <a:r>
                        <a:rPr lang="en-US" sz="800" b="1" dirty="0">
                          <a:solidFill>
                            <a:srgbClr val="FFFFFF"/>
                          </a:solidFill>
                          <a:latin typeface="Calibri" pitchFamily="34" charset="0"/>
                          <a:ea typeface="Calibri" pitchFamily="34" charset="-122"/>
                          <a:cs typeface="Calibri" pitchFamily="34" charset="-120"/>
                        </a:rPr>
                        <a:t>UTILISATEUR</a:t>
                      </a:r>
                      <a:endParaRPr lang="en-US" sz="8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B1628"/>
                    </a:solidFill>
                  </a:tcPr>
                </a:tc>
                <a:tc>
                  <a:txBody>
                    <a:bodyPr/>
                    <a:lstStyle/>
                    <a:p>
                      <a:pPr marL="0" indent="0" algn="ctr">
                        <a:buNone/>
                      </a:pPr>
                      <a:r>
                        <a:rPr lang="en-US" sz="800" b="1" dirty="0">
                          <a:solidFill>
                            <a:srgbClr val="FFFFFF"/>
                          </a:solidFill>
                          <a:latin typeface="Calibri" pitchFamily="34" charset="0"/>
                          <a:ea typeface="Calibri" pitchFamily="34" charset="-122"/>
                          <a:cs typeface="Calibri" pitchFamily="34" charset="-120"/>
                        </a:rPr>
                        <a:t>ID_TRANS</a:t>
                      </a:r>
                      <a:endParaRPr lang="en-US" sz="8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B1628"/>
                    </a:solidFill>
                  </a:tcPr>
                </a:tc>
                <a:tc>
                  <a:txBody>
                    <a:bodyPr/>
                    <a:lstStyle/>
                    <a:p>
                      <a:pPr marL="0" indent="0" algn="ctr">
                        <a:buNone/>
                      </a:pPr>
                      <a:r>
                        <a:rPr lang="en-US" sz="800" b="1" dirty="0">
                          <a:solidFill>
                            <a:srgbClr val="FFFFFF"/>
                          </a:solidFill>
                          <a:latin typeface="Calibri" pitchFamily="34" charset="0"/>
                          <a:ea typeface="Calibri" pitchFamily="34" charset="-122"/>
                          <a:cs typeface="Calibri" pitchFamily="34" charset="-120"/>
                        </a:rPr>
                        <a:t>MONTANT</a:t>
                      </a:r>
                      <a:endParaRPr lang="en-US" sz="8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B1628"/>
                    </a:solidFill>
                  </a:tcPr>
                </a:tc>
                <a:tc>
                  <a:txBody>
                    <a:bodyPr/>
                    <a:lstStyle/>
                    <a:p>
                      <a:pPr marL="0" indent="0" algn="ctr">
                        <a:buNone/>
                      </a:pPr>
                      <a:r>
                        <a:rPr lang="en-US" sz="800" b="1" dirty="0">
                          <a:solidFill>
                            <a:srgbClr val="FFFFFF"/>
                          </a:solidFill>
                          <a:latin typeface="Calibri" pitchFamily="34" charset="0"/>
                          <a:ea typeface="Calibri" pitchFamily="34" charset="-122"/>
                          <a:cs typeface="Calibri" pitchFamily="34" charset="-120"/>
                        </a:rPr>
                        <a:t>TRANS_PREC</a:t>
                      </a:r>
                      <a:endParaRPr lang="en-US" sz="8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B1628"/>
                    </a:solidFill>
                  </a:tcPr>
                </a:tc>
                <a:tc>
                  <a:txBody>
                    <a:bodyPr/>
                    <a:lstStyle/>
                    <a:p>
                      <a:pPr marL="0" indent="0" algn="ctr">
                        <a:buNone/>
                      </a:pPr>
                      <a:r>
                        <a:rPr lang="en-US" sz="800" b="1" dirty="0">
                          <a:solidFill>
                            <a:srgbClr val="FFFFFF"/>
                          </a:solidFill>
                          <a:latin typeface="Calibri" pitchFamily="34" charset="0"/>
                          <a:ea typeface="Calibri" pitchFamily="34" charset="-122"/>
                          <a:cs typeface="Calibri" pitchFamily="34" charset="-120"/>
                        </a:rPr>
                        <a:t>VAR_%</a:t>
                      </a:r>
                      <a:endParaRPr lang="en-US" sz="8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B1628"/>
                    </a:solidFill>
                  </a:tcPr>
                </a:tc>
                <a:tc>
                  <a:txBody>
                    <a:bodyPr/>
                    <a:lstStyle/>
                    <a:p>
                      <a:pPr marL="0" indent="0" algn="ctr">
                        <a:buNone/>
                      </a:pPr>
                      <a:r>
                        <a:rPr lang="en-US" sz="800" b="1" dirty="0">
                          <a:solidFill>
                            <a:srgbClr val="FFFFFF"/>
                          </a:solidFill>
                          <a:latin typeface="Calibri" pitchFamily="34" charset="0"/>
                          <a:ea typeface="Calibri" pitchFamily="34" charset="-122"/>
                          <a:cs typeface="Calibri" pitchFamily="34" charset="-120"/>
                        </a:rPr>
                        <a:t>DATE_HEURE</a:t>
                      </a:r>
                      <a:endParaRPr lang="en-US" sz="8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B1628"/>
                    </a:solidFill>
                  </a:tcPr>
                </a:tc>
              </a:tr>
              <a:tr h="246888">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2007</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Nour CHAABANE</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6088</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2850</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45</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+6233</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16/04/2026 02:13</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246888">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2013</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Fares HAMDI</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6042</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1400</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89</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+1473</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17/04/2026 03:40</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r>
              <a:tr h="246888">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2001</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Anas SAOUDI</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5001</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3200</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750</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+327</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15/04/2026 11:20</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246888">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2004</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Karim MANSOURI</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5004</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1750</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450</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+289</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10/04/2026 09:30</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r>
            </a:tbl>
          </a:graphicData>
        </a:graphic>
      </p:graphicFrame>
      <p:sp>
        <p:nvSpPr>
          <p:cNvPr id="11" name="TextBox 10"/>
          <p:cNvSpPr txBox="1"/>
          <p:nvPr/>
        </p:nvSpPr>
        <p:spPr>
          <a:xfrm>
            <a:off x="4697770" y="733798"/>
            <a:ext cx="3929975" cy="1277273"/>
          </a:xfrm>
          <a:prstGeom prst="rect">
            <a:avLst/>
          </a:prstGeom>
          <a:noFill/>
        </p:spPr>
        <p:txBody>
          <a:bodyPr wrap="square" rtlCol="0">
            <a:spAutoFit/>
          </a:bodyPr>
          <a:lstStyle/>
          <a:p>
            <a:r>
              <a:rPr lang="en-US" sz="700" dirty="0">
                <a:solidFill>
                  <a:srgbClr val="CBD5E1"/>
                </a:solidFill>
                <a:latin typeface="Consolas" pitchFamily="34" charset="0"/>
                <a:ea typeface="Consolas" pitchFamily="34" charset="-122"/>
                <a:cs typeface="Consolas" pitchFamily="34" charset="-120"/>
              </a:rPr>
              <a:t>SELECT </a:t>
            </a:r>
            <a:r>
              <a:rPr lang="en-US" sz="700" dirty="0" err="1">
                <a:solidFill>
                  <a:srgbClr val="CBD5E1"/>
                </a:solidFill>
                <a:latin typeface="Consolas" pitchFamily="34" charset="0"/>
                <a:ea typeface="Consolas" pitchFamily="34" charset="-122"/>
                <a:cs typeface="Consolas" pitchFamily="34" charset="-120"/>
              </a:rPr>
              <a:t>id_compte</a:t>
            </a:r>
            <a:r>
              <a:rPr lang="en-US" sz="700" dirty="0">
                <a:solidFill>
                  <a:srgbClr val="CBD5E1"/>
                </a:solidFill>
                <a:latin typeface="Consolas" pitchFamily="34" charset="0"/>
                <a:ea typeface="Consolas" pitchFamily="34" charset="-122"/>
                <a:cs typeface="Consolas" pitchFamily="34" charset="-120"/>
              </a:rPr>
              <a:t>, </a:t>
            </a:r>
            <a:r>
              <a:rPr lang="en-US" sz="700" dirty="0" err="1">
                <a:solidFill>
                  <a:srgbClr val="CBD5E1"/>
                </a:solidFill>
                <a:latin typeface="Consolas" pitchFamily="34" charset="0"/>
                <a:ea typeface="Consolas" pitchFamily="34" charset="-122"/>
                <a:cs typeface="Consolas" pitchFamily="34" charset="-120"/>
              </a:rPr>
              <a:t>utilisateur</a:t>
            </a:r>
            <a:r>
              <a:rPr lang="en-US" sz="700" dirty="0">
                <a:solidFill>
                  <a:srgbClr val="CBD5E1"/>
                </a:solidFill>
                <a:latin typeface="Consolas" pitchFamily="34" charset="0"/>
                <a:ea typeface="Consolas" pitchFamily="34" charset="-122"/>
                <a:cs typeface="Consolas" pitchFamily="34" charset="-120"/>
              </a:rPr>
              <a:t>, </a:t>
            </a:r>
            <a:r>
              <a:rPr lang="en-US" sz="700" dirty="0" err="1">
                <a:solidFill>
                  <a:srgbClr val="CBD5E1"/>
                </a:solidFill>
                <a:latin typeface="Consolas" pitchFamily="34" charset="0"/>
                <a:ea typeface="Consolas" pitchFamily="34" charset="-122"/>
                <a:cs typeface="Consolas" pitchFamily="34" charset="-120"/>
              </a:rPr>
              <a:t>id_transaction</a:t>
            </a:r>
            <a:r>
              <a:rPr lang="en-US" sz="700" dirty="0">
                <a:solidFill>
                  <a:srgbClr val="CBD5E1"/>
                </a:solidFill>
                <a:latin typeface="Consolas" pitchFamily="34" charset="0"/>
                <a:ea typeface="Consolas" pitchFamily="34" charset="-122"/>
                <a:cs typeface="Consolas" pitchFamily="34" charset="-120"/>
              </a:rPr>
              <a:t>,</a:t>
            </a:r>
            <a:endParaRPr lang="en-US" sz="700" dirty="0"/>
          </a:p>
          <a:p>
            <a:r>
              <a:rPr lang="en-US" sz="700" dirty="0">
                <a:solidFill>
                  <a:srgbClr val="CBD5E1"/>
                </a:solidFill>
                <a:latin typeface="Consolas" pitchFamily="34" charset="0"/>
                <a:ea typeface="Consolas" pitchFamily="34" charset="-122"/>
                <a:cs typeface="Consolas" pitchFamily="34" charset="-120"/>
              </a:rPr>
              <a:t>       </a:t>
            </a:r>
            <a:r>
              <a:rPr lang="en-US" sz="700" dirty="0" err="1">
                <a:solidFill>
                  <a:srgbClr val="CBD5E1"/>
                </a:solidFill>
                <a:latin typeface="Consolas" pitchFamily="34" charset="0"/>
                <a:ea typeface="Consolas" pitchFamily="34" charset="-122"/>
                <a:cs typeface="Consolas" pitchFamily="34" charset="-120"/>
              </a:rPr>
              <a:t>montant</a:t>
            </a:r>
            <a:r>
              <a:rPr lang="en-US" sz="700" dirty="0">
                <a:solidFill>
                  <a:srgbClr val="CBD5E1"/>
                </a:solidFill>
                <a:latin typeface="Consolas" pitchFamily="34" charset="0"/>
                <a:ea typeface="Consolas" pitchFamily="34" charset="-122"/>
                <a:cs typeface="Consolas" pitchFamily="34" charset="-120"/>
              </a:rPr>
              <a:t>, </a:t>
            </a:r>
            <a:r>
              <a:rPr lang="en-US" sz="700" dirty="0" err="1">
                <a:solidFill>
                  <a:srgbClr val="CBD5E1"/>
                </a:solidFill>
                <a:latin typeface="Consolas" pitchFamily="34" charset="0"/>
                <a:ea typeface="Consolas" pitchFamily="34" charset="-122"/>
                <a:cs typeface="Consolas" pitchFamily="34" charset="-120"/>
              </a:rPr>
              <a:t>type_operation</a:t>
            </a:r>
            <a:r>
              <a:rPr lang="en-US" sz="700" dirty="0">
                <a:solidFill>
                  <a:srgbClr val="CBD5E1"/>
                </a:solidFill>
                <a:latin typeface="Consolas" pitchFamily="34" charset="0"/>
                <a:ea typeface="Consolas" pitchFamily="34" charset="-122"/>
                <a:cs typeface="Consolas" pitchFamily="34" charset="-120"/>
              </a:rPr>
              <a:t>,</a:t>
            </a:r>
            <a:endParaRPr lang="en-US" sz="700" dirty="0"/>
          </a:p>
          <a:p>
            <a:r>
              <a:rPr lang="en-US" sz="700" dirty="0">
                <a:solidFill>
                  <a:srgbClr val="CBD5E1"/>
                </a:solidFill>
                <a:latin typeface="Consolas" pitchFamily="34" charset="0"/>
                <a:ea typeface="Consolas" pitchFamily="34" charset="-122"/>
                <a:cs typeface="Consolas" pitchFamily="34" charset="-120"/>
              </a:rPr>
              <a:t>       TO_CHAR(</a:t>
            </a:r>
            <a:r>
              <a:rPr lang="en-US" sz="700" dirty="0" err="1">
                <a:solidFill>
                  <a:srgbClr val="CBD5E1"/>
                </a:solidFill>
                <a:latin typeface="Consolas" pitchFamily="34" charset="0"/>
                <a:ea typeface="Consolas" pitchFamily="34" charset="-122"/>
                <a:cs typeface="Consolas" pitchFamily="34" charset="-120"/>
              </a:rPr>
              <a:t>date_heure</a:t>
            </a:r>
            <a:r>
              <a:rPr lang="en-US" sz="700" dirty="0">
                <a:solidFill>
                  <a:srgbClr val="CBD5E1"/>
                </a:solidFill>
                <a:latin typeface="Consolas" pitchFamily="34" charset="0"/>
                <a:ea typeface="Consolas" pitchFamily="34" charset="-122"/>
                <a:cs typeface="Consolas" pitchFamily="34" charset="-120"/>
              </a:rPr>
              <a:t>, 'DD/MM/YYYY HH24:MI') AS </a:t>
            </a:r>
            <a:r>
              <a:rPr lang="en-US" sz="700" dirty="0" err="1">
                <a:solidFill>
                  <a:srgbClr val="CBD5E1"/>
                </a:solidFill>
                <a:latin typeface="Consolas" pitchFamily="34" charset="0"/>
                <a:ea typeface="Consolas" pitchFamily="34" charset="-122"/>
                <a:cs typeface="Consolas" pitchFamily="34" charset="-120"/>
              </a:rPr>
              <a:t>date_heure</a:t>
            </a:r>
            <a:r>
              <a:rPr lang="en-US" sz="700" dirty="0">
                <a:solidFill>
                  <a:srgbClr val="CBD5E1"/>
                </a:solidFill>
                <a:latin typeface="Consolas" pitchFamily="34" charset="0"/>
                <a:ea typeface="Consolas" pitchFamily="34" charset="-122"/>
                <a:cs typeface="Consolas" pitchFamily="34" charset="-120"/>
              </a:rPr>
              <a:t>,</a:t>
            </a:r>
            <a:endParaRPr lang="en-US" sz="700" dirty="0"/>
          </a:p>
          <a:p>
            <a:r>
              <a:rPr lang="en-US" sz="700" dirty="0">
                <a:solidFill>
                  <a:srgbClr val="CBD5E1"/>
                </a:solidFill>
                <a:latin typeface="Consolas" pitchFamily="34" charset="0"/>
                <a:ea typeface="Consolas" pitchFamily="34" charset="-122"/>
                <a:cs typeface="Consolas" pitchFamily="34" charset="-120"/>
              </a:rPr>
              <a:t>       </a:t>
            </a:r>
            <a:r>
              <a:rPr lang="en-US" sz="700" dirty="0" err="1">
                <a:solidFill>
                  <a:srgbClr val="CBD5E1"/>
                </a:solidFill>
                <a:latin typeface="Consolas" pitchFamily="34" charset="0"/>
                <a:ea typeface="Consolas" pitchFamily="34" charset="-122"/>
                <a:cs typeface="Consolas" pitchFamily="34" charset="-120"/>
              </a:rPr>
              <a:t>montant_trans_prec</a:t>
            </a:r>
            <a:r>
              <a:rPr lang="en-US" sz="700" dirty="0">
                <a:solidFill>
                  <a:srgbClr val="CBD5E1"/>
                </a:solidFill>
                <a:latin typeface="Consolas" pitchFamily="34" charset="0"/>
                <a:ea typeface="Consolas" pitchFamily="34" charset="-122"/>
                <a:cs typeface="Consolas" pitchFamily="34" charset="-120"/>
              </a:rPr>
              <a:t>,</a:t>
            </a:r>
            <a:endParaRPr lang="en-US" sz="700" dirty="0"/>
          </a:p>
          <a:p>
            <a:r>
              <a:rPr lang="en-US" sz="700" dirty="0">
                <a:solidFill>
                  <a:srgbClr val="CBD5E1"/>
                </a:solidFill>
                <a:latin typeface="Consolas" pitchFamily="34" charset="0"/>
                <a:ea typeface="Consolas" pitchFamily="34" charset="-122"/>
                <a:cs typeface="Consolas" pitchFamily="34" charset="-120"/>
              </a:rPr>
              <a:t>       ROUND((</a:t>
            </a:r>
            <a:r>
              <a:rPr lang="en-US" sz="700" dirty="0" err="1">
                <a:solidFill>
                  <a:srgbClr val="CBD5E1"/>
                </a:solidFill>
                <a:latin typeface="Consolas" pitchFamily="34" charset="0"/>
                <a:ea typeface="Consolas" pitchFamily="34" charset="-122"/>
                <a:cs typeface="Consolas" pitchFamily="34" charset="-120"/>
              </a:rPr>
              <a:t>montant</a:t>
            </a:r>
            <a:r>
              <a:rPr lang="en-US" sz="700" dirty="0">
                <a:solidFill>
                  <a:srgbClr val="CBD5E1"/>
                </a:solidFill>
                <a:latin typeface="Consolas" pitchFamily="34" charset="0"/>
                <a:ea typeface="Consolas" pitchFamily="34" charset="-122"/>
                <a:cs typeface="Consolas" pitchFamily="34" charset="-120"/>
              </a:rPr>
              <a:t> - </a:t>
            </a:r>
            <a:r>
              <a:rPr lang="en-US" sz="700" dirty="0" err="1">
                <a:solidFill>
                  <a:srgbClr val="CBD5E1"/>
                </a:solidFill>
                <a:latin typeface="Consolas" pitchFamily="34" charset="0"/>
                <a:ea typeface="Consolas" pitchFamily="34" charset="-122"/>
                <a:cs typeface="Consolas" pitchFamily="34" charset="-120"/>
              </a:rPr>
              <a:t>montant_trans_prec</a:t>
            </a:r>
            <a:r>
              <a:rPr lang="en-US" sz="700" dirty="0">
                <a:solidFill>
                  <a:srgbClr val="CBD5E1"/>
                </a:solidFill>
                <a:latin typeface="Consolas" pitchFamily="34" charset="0"/>
                <a:ea typeface="Consolas" pitchFamily="34" charset="-122"/>
                <a:cs typeface="Consolas" pitchFamily="34" charset="-120"/>
              </a:rPr>
              <a:t>) * 100.0</a:t>
            </a:r>
            <a:endParaRPr lang="en-US" sz="700" dirty="0"/>
          </a:p>
          <a:p>
            <a:r>
              <a:rPr lang="en-US" sz="700" dirty="0">
                <a:solidFill>
                  <a:srgbClr val="CBD5E1"/>
                </a:solidFill>
                <a:latin typeface="Consolas" pitchFamily="34" charset="0"/>
                <a:ea typeface="Consolas" pitchFamily="34" charset="-122"/>
                <a:cs typeface="Consolas" pitchFamily="34" charset="-120"/>
              </a:rPr>
              <a:t>             / NULLIF(</a:t>
            </a:r>
            <a:r>
              <a:rPr lang="en-US" sz="700" dirty="0" err="1">
                <a:solidFill>
                  <a:srgbClr val="CBD5E1"/>
                </a:solidFill>
                <a:latin typeface="Consolas" pitchFamily="34" charset="0"/>
                <a:ea typeface="Consolas" pitchFamily="34" charset="-122"/>
                <a:cs typeface="Consolas" pitchFamily="34" charset="-120"/>
              </a:rPr>
              <a:t>montant_trans_prec</a:t>
            </a:r>
            <a:r>
              <a:rPr lang="en-US" sz="700" dirty="0">
                <a:solidFill>
                  <a:srgbClr val="CBD5E1"/>
                </a:solidFill>
                <a:latin typeface="Consolas" pitchFamily="34" charset="0"/>
                <a:ea typeface="Consolas" pitchFamily="34" charset="-122"/>
                <a:cs typeface="Consolas" pitchFamily="34" charset="-120"/>
              </a:rPr>
              <a:t>, 0), 1)  AS </a:t>
            </a:r>
            <a:r>
              <a:rPr lang="en-US" sz="700" dirty="0" err="1">
                <a:solidFill>
                  <a:srgbClr val="CBD5E1"/>
                </a:solidFill>
                <a:latin typeface="Consolas" pitchFamily="34" charset="0"/>
                <a:ea typeface="Consolas" pitchFamily="34" charset="-122"/>
                <a:cs typeface="Consolas" pitchFamily="34" charset="-120"/>
              </a:rPr>
              <a:t>variation_pct</a:t>
            </a:r>
            <a:endParaRPr lang="en-US" sz="700" dirty="0"/>
          </a:p>
          <a:p>
            <a:r>
              <a:rPr lang="en-US" sz="700" dirty="0">
                <a:solidFill>
                  <a:srgbClr val="CBD5E1"/>
                </a:solidFill>
                <a:latin typeface="Consolas" pitchFamily="34" charset="0"/>
                <a:ea typeface="Consolas" pitchFamily="34" charset="-122"/>
                <a:cs typeface="Consolas" pitchFamily="34" charset="-120"/>
              </a:rPr>
              <a:t>FROM </a:t>
            </a:r>
            <a:r>
              <a:rPr lang="en-US" sz="700" dirty="0" err="1">
                <a:solidFill>
                  <a:srgbClr val="CBD5E1"/>
                </a:solidFill>
                <a:latin typeface="Consolas" pitchFamily="34" charset="0"/>
                <a:ea typeface="Consolas" pitchFamily="34" charset="-122"/>
                <a:cs typeface="Consolas" pitchFamily="34" charset="-120"/>
              </a:rPr>
              <a:t>soldes_historiques</a:t>
            </a:r>
            <a:endParaRPr lang="en-US" sz="700" dirty="0"/>
          </a:p>
          <a:p>
            <a:r>
              <a:rPr lang="en-US" sz="700" dirty="0">
                <a:solidFill>
                  <a:srgbClr val="CBD5E1"/>
                </a:solidFill>
                <a:latin typeface="Consolas" pitchFamily="34" charset="0"/>
                <a:ea typeface="Consolas" pitchFamily="34" charset="-122"/>
                <a:cs typeface="Consolas" pitchFamily="34" charset="-120"/>
              </a:rPr>
              <a:t>WHERE </a:t>
            </a:r>
            <a:r>
              <a:rPr lang="en-US" sz="700" dirty="0" err="1">
                <a:solidFill>
                  <a:srgbClr val="CBD5E1"/>
                </a:solidFill>
                <a:latin typeface="Consolas" pitchFamily="34" charset="0"/>
                <a:ea typeface="Consolas" pitchFamily="34" charset="-122"/>
                <a:cs typeface="Consolas" pitchFamily="34" charset="-120"/>
              </a:rPr>
              <a:t>montant_trans_prec</a:t>
            </a:r>
            <a:r>
              <a:rPr lang="en-US" sz="700" dirty="0">
                <a:solidFill>
                  <a:srgbClr val="CBD5E1"/>
                </a:solidFill>
                <a:latin typeface="Consolas" pitchFamily="34" charset="0"/>
                <a:ea typeface="Consolas" pitchFamily="34" charset="-122"/>
                <a:cs typeface="Consolas" pitchFamily="34" charset="-120"/>
              </a:rPr>
              <a:t> IS NOT NULL</a:t>
            </a:r>
            <a:endParaRPr lang="en-US" sz="700" dirty="0"/>
          </a:p>
          <a:p>
            <a:r>
              <a:rPr lang="en-US" sz="700" dirty="0">
                <a:solidFill>
                  <a:srgbClr val="CBD5E1"/>
                </a:solidFill>
                <a:latin typeface="Consolas" pitchFamily="34" charset="0"/>
                <a:ea typeface="Consolas" pitchFamily="34" charset="-122"/>
                <a:cs typeface="Consolas" pitchFamily="34" charset="-120"/>
              </a:rPr>
              <a:t>  AND </a:t>
            </a:r>
            <a:r>
              <a:rPr lang="en-US" sz="700" dirty="0" err="1">
                <a:solidFill>
                  <a:srgbClr val="CBD5E1"/>
                </a:solidFill>
                <a:latin typeface="Consolas" pitchFamily="34" charset="0"/>
                <a:ea typeface="Consolas" pitchFamily="34" charset="-122"/>
                <a:cs typeface="Consolas" pitchFamily="34" charset="-120"/>
              </a:rPr>
              <a:t>montant</a:t>
            </a:r>
            <a:r>
              <a:rPr lang="en-US" sz="700" dirty="0">
                <a:solidFill>
                  <a:srgbClr val="CBD5E1"/>
                </a:solidFill>
                <a:latin typeface="Consolas" pitchFamily="34" charset="0"/>
                <a:ea typeface="Consolas" pitchFamily="34" charset="-122"/>
                <a:cs typeface="Consolas" pitchFamily="34" charset="-120"/>
              </a:rPr>
              <a:t> &gt; </a:t>
            </a:r>
            <a:r>
              <a:rPr lang="en-US" sz="700" dirty="0" err="1">
                <a:solidFill>
                  <a:srgbClr val="CBD5E1"/>
                </a:solidFill>
                <a:latin typeface="Consolas" pitchFamily="34" charset="0"/>
                <a:ea typeface="Consolas" pitchFamily="34" charset="-122"/>
                <a:cs typeface="Consolas" pitchFamily="34" charset="-120"/>
              </a:rPr>
              <a:t>montant_trans_prec</a:t>
            </a:r>
            <a:r>
              <a:rPr lang="en-US" sz="700" dirty="0">
                <a:solidFill>
                  <a:srgbClr val="CBD5E1"/>
                </a:solidFill>
                <a:latin typeface="Consolas" pitchFamily="34" charset="0"/>
                <a:ea typeface="Consolas" pitchFamily="34" charset="-122"/>
                <a:cs typeface="Consolas" pitchFamily="34" charset="-120"/>
              </a:rPr>
              <a:t> * 3</a:t>
            </a:r>
            <a:endParaRPr lang="en-US" sz="700" dirty="0"/>
          </a:p>
          <a:p>
            <a:r>
              <a:rPr lang="en-US" sz="700" dirty="0">
                <a:solidFill>
                  <a:srgbClr val="CBD5E1"/>
                </a:solidFill>
                <a:latin typeface="Consolas" pitchFamily="34" charset="0"/>
                <a:ea typeface="Consolas" pitchFamily="34" charset="-122"/>
                <a:cs typeface="Consolas" pitchFamily="34" charset="-120"/>
              </a:rPr>
              <a:t>ORDER BY </a:t>
            </a:r>
            <a:r>
              <a:rPr lang="en-US" sz="700" dirty="0" err="1">
                <a:solidFill>
                  <a:srgbClr val="CBD5E1"/>
                </a:solidFill>
                <a:latin typeface="Consolas" pitchFamily="34" charset="0"/>
                <a:ea typeface="Consolas" pitchFamily="34" charset="-122"/>
                <a:cs typeface="Consolas" pitchFamily="34" charset="-120"/>
              </a:rPr>
              <a:t>variation_pct</a:t>
            </a:r>
            <a:r>
              <a:rPr lang="en-US" sz="700" dirty="0">
                <a:solidFill>
                  <a:srgbClr val="CBD5E1"/>
                </a:solidFill>
                <a:latin typeface="Consolas" pitchFamily="34" charset="0"/>
                <a:ea typeface="Consolas" pitchFamily="34" charset="-122"/>
                <a:cs typeface="Consolas" pitchFamily="34" charset="-120"/>
              </a:rPr>
              <a:t> DESC;</a:t>
            </a:r>
            <a:endParaRPr lang="en-US" sz="700" dirty="0"/>
          </a:p>
          <a:p>
            <a:endParaRPr lang="en-US" sz="700" dirty="0"/>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name="Slide 42">
    <p:bg>
      <p:bgPr>
        <a:solidFill>
          <a:srgbClr val="F0F6FF"/>
        </a:solidFill>
        <a:effectLst/>
      </p:bgPr>
    </p:bg>
    <p:spTree>
      <p:nvGrpSpPr>
        <p:cNvPr id="1" name=""/>
        <p:cNvGrpSpPr/>
        <p:nvPr/>
      </p:nvGrpSpPr>
      <p:grpSpPr>
        <a:xfrm>
          <a:off x="0" y="0"/>
          <a:ext cx="0" cy="0"/>
          <a:chOff x="0" y="0"/>
          <a:chExt cx="0" cy="0"/>
        </a:xfrm>
      </p:grpSpPr>
      <p:sp>
        <p:nvSpPr>
          <p:cNvPr id="2" name="Shape 0"/>
          <p:cNvSpPr/>
          <p:nvPr/>
        </p:nvSpPr>
        <p:spPr>
          <a:xfrm>
            <a:off x="0" y="0"/>
            <a:ext cx="118872" cy="5143500"/>
          </a:xfrm>
          <a:prstGeom prst="rect">
            <a:avLst/>
          </a:prstGeom>
          <a:solidFill>
            <a:srgbClr val="0891B2"/>
          </a:solidFill>
          <a:ln w="12700">
            <a:solidFill>
              <a:srgbClr val="0891B2"/>
            </a:solidFill>
            <a:prstDash val="solid"/>
          </a:ln>
        </p:spPr>
      </p:sp>
      <p:sp>
        <p:nvSpPr>
          <p:cNvPr id="3" name="Shape 1"/>
          <p:cNvSpPr/>
          <p:nvPr/>
        </p:nvSpPr>
        <p:spPr>
          <a:xfrm>
            <a:off x="210312" y="91440"/>
            <a:ext cx="640080" cy="310896"/>
          </a:xfrm>
          <a:prstGeom prst="rect">
            <a:avLst/>
          </a:prstGeom>
          <a:solidFill>
            <a:srgbClr val="0891B2"/>
          </a:solidFill>
          <a:ln w="12700">
            <a:solidFill>
              <a:srgbClr val="0891B2"/>
            </a:solidFill>
            <a:prstDash val="solid"/>
          </a:ln>
        </p:spPr>
      </p:sp>
      <p:sp>
        <p:nvSpPr>
          <p:cNvPr id="4" name="Text 2"/>
          <p:cNvSpPr/>
          <p:nvPr/>
        </p:nvSpPr>
        <p:spPr>
          <a:xfrm>
            <a:off x="210312" y="91440"/>
            <a:ext cx="640080"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R34</a:t>
            </a:r>
          </a:p>
        </p:txBody>
      </p:sp>
      <p:sp>
        <p:nvSpPr>
          <p:cNvPr id="5" name="Text 3"/>
          <p:cNvSpPr/>
          <p:nvPr/>
        </p:nvSpPr>
        <p:spPr>
          <a:xfrm>
            <a:off x="932688" y="91440"/>
            <a:ext cx="6583680" cy="310896"/>
          </a:xfrm>
          <a:prstGeom prst="rect">
            <a:avLst/>
          </a:prstGeom>
          <a:noFill/>
          <a:ln/>
        </p:spPr>
        <p:txBody>
          <a:bodyPr wrap="square" rtlCol="0" anchor="ctr"/>
          <a:lstStyle/>
          <a:p>
            <a:pPr marL="0" indent="0">
              <a:buNone/>
            </a:pPr>
            <a:r>
              <a:rPr lang="en-US" sz="1350" b="1" dirty="0">
                <a:solidFill>
                  <a:srgbClr val="1E293B"/>
                </a:solidFill>
                <a:latin typeface="Calibri" pitchFamily="34" charset="0"/>
                <a:ea typeface="Calibri" pitchFamily="34" charset="-122"/>
                <a:cs typeface="Calibri" pitchFamily="34" charset="-120"/>
              </a:rPr>
              <a:t>GROUP BY ROLLUP — Synthese multi-niveaux alertes</a:t>
            </a:r>
          </a:p>
        </p:txBody>
      </p:sp>
      <p:sp>
        <p:nvSpPr>
          <p:cNvPr id="6" name="Text 4"/>
          <p:cNvSpPr/>
          <p:nvPr/>
        </p:nvSpPr>
        <p:spPr>
          <a:xfrm>
            <a:off x="210312" y="429768"/>
            <a:ext cx="8732520" cy="246888"/>
          </a:xfrm>
          <a:prstGeom prst="rect">
            <a:avLst/>
          </a:prstGeom>
          <a:noFill/>
          <a:ln/>
        </p:spPr>
        <p:txBody>
          <a:bodyPr wrap="square" rtlCol="0" anchor="ctr"/>
          <a:lstStyle/>
          <a:p>
            <a:pPr marL="0" indent="0">
              <a:buNone/>
            </a:pPr>
            <a:r>
              <a:rPr lang="en-US" sz="1000" i="1" dirty="0">
                <a:solidFill>
                  <a:srgbClr val="475569"/>
                </a:solidFill>
                <a:latin typeface="Calibri" pitchFamily="34" charset="0"/>
                <a:ea typeface="Calibri" pitchFamily="34" charset="-122"/>
                <a:cs typeface="Calibri" pitchFamily="34" charset="-120"/>
              </a:rPr>
              <a:t>Compter les alertes et le taux de résolution avec totaux intermédiaires par mois, gravité et grand total via ROLLUP</a:t>
            </a:r>
          </a:p>
        </p:txBody>
      </p:sp>
      <p:sp>
        <p:nvSpPr>
          <p:cNvPr id="7" name="Shape 5"/>
          <p:cNvSpPr/>
          <p:nvPr/>
        </p:nvSpPr>
        <p:spPr>
          <a:xfrm>
            <a:off x="210312" y="704088"/>
            <a:ext cx="8732520" cy="2090000"/>
          </a:xfrm>
          <a:prstGeom prst="rect">
            <a:avLst/>
          </a:prstGeom>
          <a:solidFill>
            <a:srgbClr val="0F1E2E"/>
          </a:solidFill>
          <a:ln w="6350">
            <a:solidFill>
              <a:srgbClr val="1E3A5F"/>
            </a:solidFill>
            <a:prstDash val="solid"/>
          </a:ln>
        </p:spPr>
      </p:sp>
      <p:sp>
        <p:nvSpPr>
          <p:cNvPr id="8" name="Text 6"/>
          <p:cNvSpPr/>
          <p:nvPr/>
        </p:nvSpPr>
        <p:spPr>
          <a:xfrm>
            <a:off x="292608" y="731520"/>
            <a:ext cx="8549640" cy="2030000"/>
          </a:xfrm>
          <a:prstGeom prst="rect">
            <a:avLst/>
          </a:prstGeom>
          <a:noFill/>
          <a:ln/>
        </p:spPr>
        <p:txBody>
          <a:bodyPr wrap="square" lIns="38100" tIns="38100" rIns="38100" bIns="38100" rtlCol="0" anchor="t"/>
          <a:lstStyle/>
          <a:p>
            <a:pPr marL="0" indent="0">
              <a:buNone/>
            </a:pPr>
            <a:r>
              <a:rPr lang="en-US" sz="700" dirty="0">
                <a:solidFill>
                  <a:srgbClr val="CBD5E1"/>
                </a:solidFill>
                <a:latin typeface="Consolas" pitchFamily="34" charset="0"/>
                <a:ea typeface="Consolas" pitchFamily="34" charset="-122"/>
                <a:cs typeface="Consolas" pitchFamily="34" charset="-120"/>
              </a:rPr>
              <a:t>SELECT</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    NVL(TO_CHAR(TRUNC(A.date_declenchement,'MM'),'MM/YYYY'), 'TOTAL') AS mois,</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    NVL(A.niveau_gravite, 'TOUS NIVEAUX')                             AS niveau_gravite,</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    COUNT(*)                                                           AS total_alertes,</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    SUM(CASE WHEN A.statut_traitement = 'RESOLUE' THEN 1 ELSE 0 END)  AS nb_resolues,</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    SUM(CASE WHEN A.statut_traitement = 'EN_COURS' THEN 1 ELSE 0 END) AS nb_en_cours,</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    SUM(CASE WHEN A.statut_traitement = 'IGNOREE'  THEN 1 ELSE 0 END) AS nb_ignorees,</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    ROUND(SUM(CASE WHEN A.statut_traitement = 'RESOLUE'</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                   THEN 1 ELSE 0 END) * 100.0 / COUNT(*), 1)          AS taux_resolution_pct,</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    ROUND(AVG(SYSDATE - A.date_declenchement), 1)                     AS delai_moy_jours</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FROM Alerte A</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GROUP BY ROLLUP(</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    TRUNC(A.date_declenchement,'MM'),</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    A.niveau_gravite</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ORDER BY TRUNC(A.date_declenchement,'MM') NULLS LAST,</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         CASE A.niveau_gravite WHEN 'CRITIQUE' THEN 1</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             WHEN 'HAUTE' THEN 2 WHEN 'MOYENNE' THEN 3 ELSE 4 END;</a:t>
            </a:r>
            <a:endParaRPr lang="en-US" sz="700" dirty="0"/>
          </a:p>
        </p:txBody>
      </p:sp>
      <p:sp>
        <p:nvSpPr>
          <p:cNvPr id="9" name="Text 7"/>
          <p:cNvSpPr/>
          <p:nvPr/>
        </p:nvSpPr>
        <p:spPr>
          <a:xfrm>
            <a:off x="210312" y="2854088"/>
            <a:ext cx="3657600" cy="201168"/>
          </a:xfrm>
          <a:prstGeom prst="rect">
            <a:avLst/>
          </a:prstGeom>
          <a:noFill/>
          <a:ln/>
        </p:spPr>
        <p:txBody>
          <a:bodyPr wrap="square" rtlCol="0" anchor="ctr"/>
          <a:lstStyle/>
          <a:p>
            <a:pPr marL="0" indent="0">
              <a:buNone/>
            </a:pPr>
            <a:r>
              <a:rPr lang="en-US" sz="850" b="1" dirty="0">
                <a:solidFill>
                  <a:srgbClr val="0891B2"/>
                </a:solidFill>
                <a:latin typeface="Calibri" pitchFamily="34" charset="0"/>
                <a:ea typeface="Calibri" pitchFamily="34" charset="-122"/>
                <a:cs typeface="Calibri" pitchFamily="34" charset="-120"/>
              </a:rPr>
              <a:t>►  </a:t>
            </a:r>
            <a:r>
              <a:rPr lang="en-US" sz="850" b="1" dirty="0" err="1">
                <a:solidFill>
                  <a:srgbClr val="0891B2"/>
                </a:solidFill>
                <a:latin typeface="Calibri" pitchFamily="34" charset="0"/>
                <a:ea typeface="Calibri" pitchFamily="34" charset="-122"/>
                <a:cs typeface="Calibri" pitchFamily="34" charset="-120"/>
              </a:rPr>
              <a:t>Résultats :</a:t>
            </a:r>
          </a:p>
        </p:txBody>
      </p:sp>
      <p:graphicFrame>
        <p:nvGraphicFramePr>
          <p:cNvPr id="10" name="Table 0"/>
          <p:cNvGraphicFramePr>
            <a:graphicFrameLocks noGrp="1"/>
          </p:cNvGraphicFramePr>
          <p:nvPr>
            <p:extLst>
              <p:ext uri="{D42A27DB-BD31-4B8C-83A1-F6EECF244321}">
                <p14:modId xmlns:p14="http://schemas.microsoft.com/office/powerpoint/2010/main" val="1"/>
              </p:ext>
            </p:extLst>
          </p:nvPr>
        </p:nvGraphicFramePr>
        <p:xfrm>
          <a:off x="210312" y="3095256"/>
          <a:ext cx="8732520" cy="1975104"/>
        </p:xfrm>
        <a:graphic>
          <a:graphicData uri="http://schemas.openxmlformats.org/drawingml/2006/table">
            <a:tbl>
              <a:tblPr/>
              <a:tblGrid>
                <a:gridCol w="1091565"/>
                <a:gridCol w="1091565"/>
                <a:gridCol w="1091565"/>
                <a:gridCol w="1091565"/>
                <a:gridCol w="1091565"/>
                <a:gridCol w="1091565"/>
                <a:gridCol w="1091565"/>
                <a:gridCol w="1091565"/>
              </a:tblGrid>
              <a:tr h="246888">
                <a:tc>
                  <a:txBody>
                    <a:bodyPr/>
                    <a:lstStyle/>
                    <a:p>
                      <a:pPr marL="0" indent="0" algn="ctr">
                        <a:buNone/>
                      </a:pPr>
                      <a:r>
                        <a:rPr lang="en-US" sz="800" b="1" dirty="0">
                          <a:solidFill>
                            <a:srgbClr val="FFFFFF"/>
                          </a:solidFill>
                          <a:latin typeface="Calibri" pitchFamily="34" charset="0"/>
                          <a:ea typeface="Calibri" pitchFamily="34" charset="-122"/>
                          <a:cs typeface="Calibri" pitchFamily="34" charset="-120"/>
                        </a:rPr>
                        <a:t>MOIS</a:t>
                      </a:r>
                      <a:endParaRPr lang="en-US" sz="8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B1628"/>
                    </a:solidFill>
                  </a:tcPr>
                </a:tc>
                <a:tc>
                  <a:txBody>
                    <a:bodyPr/>
                    <a:lstStyle/>
                    <a:p>
                      <a:pPr marL="0" indent="0" algn="ctr">
                        <a:buNone/>
                      </a:pPr>
                      <a:r>
                        <a:rPr lang="en-US" sz="800" b="1" dirty="0">
                          <a:solidFill>
                            <a:srgbClr val="FFFFFF"/>
                          </a:solidFill>
                          <a:latin typeface="Calibri" pitchFamily="34" charset="0"/>
                          <a:ea typeface="Calibri" pitchFamily="34" charset="-122"/>
                          <a:cs typeface="Calibri" pitchFamily="34" charset="-120"/>
                        </a:rPr>
                        <a:t>NIVEAU</a:t>
                      </a:r>
                      <a:endParaRPr lang="en-US" sz="8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B1628"/>
                    </a:solidFill>
                  </a:tcPr>
                </a:tc>
                <a:tc>
                  <a:txBody>
                    <a:bodyPr/>
                    <a:lstStyle/>
                    <a:p>
                      <a:pPr marL="0" indent="0" algn="ctr">
                        <a:buNone/>
                      </a:pPr>
                      <a:r>
                        <a:rPr lang="en-US" sz="800" b="1" dirty="0">
                          <a:solidFill>
                            <a:srgbClr val="FFFFFF"/>
                          </a:solidFill>
                          <a:latin typeface="Calibri" pitchFamily="34" charset="0"/>
                          <a:ea typeface="Calibri" pitchFamily="34" charset="-122"/>
                          <a:cs typeface="Calibri" pitchFamily="34" charset="-120"/>
                        </a:rPr>
                        <a:t>TOTAL</a:t>
                      </a:r>
                      <a:endParaRPr lang="en-US" sz="8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B1628"/>
                    </a:solidFill>
                  </a:tcPr>
                </a:tc>
                <a:tc>
                  <a:txBody>
                    <a:bodyPr/>
                    <a:lstStyle/>
                    <a:p>
                      <a:pPr marL="0" indent="0" algn="ctr">
                        <a:buNone/>
                      </a:pPr>
                      <a:r>
                        <a:rPr lang="en-US" sz="800" b="1" dirty="0">
                          <a:solidFill>
                            <a:srgbClr val="FFFFFF"/>
                          </a:solidFill>
                          <a:latin typeface="Calibri" pitchFamily="34" charset="0"/>
                          <a:ea typeface="Calibri" pitchFamily="34" charset="-122"/>
                          <a:cs typeface="Calibri" pitchFamily="34" charset="-120"/>
                        </a:rPr>
                        <a:t>RESOLUES</a:t>
                      </a:r>
                      <a:endParaRPr lang="en-US" sz="8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B1628"/>
                    </a:solidFill>
                  </a:tcPr>
                </a:tc>
                <a:tc>
                  <a:txBody>
                    <a:bodyPr/>
                    <a:lstStyle/>
                    <a:p>
                      <a:pPr marL="0" indent="0" algn="ctr">
                        <a:buNone/>
                      </a:pPr>
                      <a:r>
                        <a:rPr lang="en-US" sz="800" b="1" dirty="0">
                          <a:solidFill>
                            <a:srgbClr val="FFFFFF"/>
                          </a:solidFill>
                          <a:latin typeface="Calibri" pitchFamily="34" charset="0"/>
                          <a:ea typeface="Calibri" pitchFamily="34" charset="-122"/>
                          <a:cs typeface="Calibri" pitchFamily="34" charset="-120"/>
                        </a:rPr>
                        <a:t>EN_COURS</a:t>
                      </a:r>
                      <a:endParaRPr lang="en-US" sz="8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B1628"/>
                    </a:solidFill>
                  </a:tcPr>
                </a:tc>
                <a:tc>
                  <a:txBody>
                    <a:bodyPr/>
                    <a:lstStyle/>
                    <a:p>
                      <a:pPr marL="0" indent="0" algn="ctr">
                        <a:buNone/>
                      </a:pPr>
                      <a:r>
                        <a:rPr lang="en-US" sz="800" b="1" dirty="0">
                          <a:solidFill>
                            <a:srgbClr val="FFFFFF"/>
                          </a:solidFill>
                          <a:latin typeface="Calibri" pitchFamily="34" charset="0"/>
                          <a:ea typeface="Calibri" pitchFamily="34" charset="-122"/>
                          <a:cs typeface="Calibri" pitchFamily="34" charset="-120"/>
                        </a:rPr>
                        <a:t>IGNOREES</a:t>
                      </a:r>
                      <a:endParaRPr lang="en-US" sz="8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B1628"/>
                    </a:solidFill>
                  </a:tcPr>
                </a:tc>
                <a:tc>
                  <a:txBody>
                    <a:bodyPr/>
                    <a:lstStyle/>
                    <a:p>
                      <a:pPr marL="0" indent="0" algn="ctr">
                        <a:buNone/>
                      </a:pPr>
                      <a:r>
                        <a:rPr lang="en-US" sz="800" b="1" dirty="0">
                          <a:solidFill>
                            <a:srgbClr val="FFFFFF"/>
                          </a:solidFill>
                          <a:latin typeface="Calibri" pitchFamily="34" charset="0"/>
                          <a:ea typeface="Calibri" pitchFamily="34" charset="-122"/>
                          <a:cs typeface="Calibri" pitchFamily="34" charset="-120"/>
                        </a:rPr>
                        <a:t>TX_RES%</a:t>
                      </a:r>
                      <a:endParaRPr lang="en-US" sz="8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B1628"/>
                    </a:solidFill>
                  </a:tcPr>
                </a:tc>
                <a:tc>
                  <a:txBody>
                    <a:bodyPr/>
                    <a:lstStyle/>
                    <a:p>
                      <a:pPr marL="0" indent="0" algn="ctr">
                        <a:buNone/>
                      </a:pPr>
                      <a:r>
                        <a:rPr lang="en-US" sz="800" b="1" dirty="0">
                          <a:solidFill>
                            <a:srgbClr val="FFFFFF"/>
                          </a:solidFill>
                          <a:latin typeface="Calibri" pitchFamily="34" charset="0"/>
                          <a:ea typeface="Calibri" pitchFamily="34" charset="-122"/>
                          <a:cs typeface="Calibri" pitchFamily="34" charset="-120"/>
                        </a:rPr>
                        <a:t>DELAI_J</a:t>
                      </a:r>
                      <a:endParaRPr lang="en-US" sz="8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B1628"/>
                    </a:solidFill>
                  </a:tcPr>
                </a:tc>
              </a:tr>
              <a:tr h="246888">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03/2026</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CRITIQUE</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4</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2</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2</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0</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50.0</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22.3</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246888">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03/2026</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HAUTE</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9</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5</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3</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1</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55.6</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18.7</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r>
              <a:tr h="246888">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03/2026</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TOUS NIVEAUX</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21</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13</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6</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2</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61.9</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19.4</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246888">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04/2026</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CRITIQUE</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8</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4</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3</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1</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50.0</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9.1</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r>
              <a:tr h="246888">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04/2026</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HAUTE</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19</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10</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7</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2</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52.6</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7.8</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246888">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04/2026</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TOUS NIVEAUX</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79</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48</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25</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6</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60.8</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8.4</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r>
              <a:tr h="246888">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TOTAL</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TOUS NIVEAUX</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100</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61</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31</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8</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61.0</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11.2</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bl>
          </a:graphicData>
        </a:graphic>
      </p:graphicFrame>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name="Slide 43">
    <p:bg>
      <p:bgPr>
        <a:solidFill>
          <a:srgbClr val="F0F6FF"/>
        </a:solidFill>
        <a:effectLst/>
      </p:bgPr>
    </p:bg>
    <p:spTree>
      <p:nvGrpSpPr>
        <p:cNvPr id="1" name=""/>
        <p:cNvGrpSpPr/>
        <p:nvPr/>
      </p:nvGrpSpPr>
      <p:grpSpPr>
        <a:xfrm>
          <a:off x="0" y="0"/>
          <a:ext cx="0" cy="0"/>
          <a:chOff x="0" y="0"/>
          <a:chExt cx="0" cy="0"/>
        </a:xfrm>
      </p:grpSpPr>
      <p:sp>
        <p:nvSpPr>
          <p:cNvPr id="2" name="Shape 0"/>
          <p:cNvSpPr/>
          <p:nvPr/>
        </p:nvSpPr>
        <p:spPr>
          <a:xfrm>
            <a:off x="0" y="0"/>
            <a:ext cx="118872" cy="5143500"/>
          </a:xfrm>
          <a:prstGeom prst="rect">
            <a:avLst/>
          </a:prstGeom>
          <a:solidFill>
            <a:srgbClr val="0891B2"/>
          </a:solidFill>
          <a:ln w="12700">
            <a:solidFill>
              <a:srgbClr val="0891B2"/>
            </a:solidFill>
            <a:prstDash val="solid"/>
          </a:ln>
        </p:spPr>
      </p:sp>
      <p:sp>
        <p:nvSpPr>
          <p:cNvPr id="3" name="Shape 1"/>
          <p:cNvSpPr/>
          <p:nvPr/>
        </p:nvSpPr>
        <p:spPr>
          <a:xfrm>
            <a:off x="210312" y="91440"/>
            <a:ext cx="640080" cy="310896"/>
          </a:xfrm>
          <a:prstGeom prst="rect">
            <a:avLst/>
          </a:prstGeom>
          <a:solidFill>
            <a:srgbClr val="0891B2"/>
          </a:solidFill>
          <a:ln w="12700">
            <a:solidFill>
              <a:srgbClr val="0891B2"/>
            </a:solidFill>
            <a:prstDash val="solid"/>
          </a:ln>
        </p:spPr>
      </p:sp>
      <p:sp>
        <p:nvSpPr>
          <p:cNvPr id="4" name="Text 2"/>
          <p:cNvSpPr/>
          <p:nvPr/>
        </p:nvSpPr>
        <p:spPr>
          <a:xfrm>
            <a:off x="210312" y="91440"/>
            <a:ext cx="640080"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R35</a:t>
            </a:r>
          </a:p>
        </p:txBody>
      </p:sp>
      <p:sp>
        <p:nvSpPr>
          <p:cNvPr id="5" name="Text 3"/>
          <p:cNvSpPr/>
          <p:nvPr/>
        </p:nvSpPr>
        <p:spPr>
          <a:xfrm>
            <a:off x="932688" y="91440"/>
            <a:ext cx="6583680" cy="310896"/>
          </a:xfrm>
          <a:prstGeom prst="rect">
            <a:avLst/>
          </a:prstGeom>
          <a:noFill/>
          <a:ln/>
        </p:spPr>
        <p:txBody>
          <a:bodyPr wrap="square" rtlCol="0" anchor="ctr"/>
          <a:lstStyle/>
          <a:p>
            <a:pPr marL="0" indent="0">
              <a:buNone/>
            </a:pPr>
            <a:r>
              <a:rPr lang="en-US" sz="1350" b="1" dirty="0">
                <a:solidFill>
                  <a:srgbClr val="1E293B"/>
                </a:solidFill>
                <a:latin typeface="Calibri" pitchFamily="34" charset="0"/>
                <a:ea typeface="Calibri" pitchFamily="34" charset="-122"/>
                <a:cs typeface="Calibri" pitchFamily="34" charset="-120"/>
              </a:rPr>
              <a:t>DETECTION DE FRAUDE — Structuring (transactions sous seuil)</a:t>
            </a:r>
          </a:p>
        </p:txBody>
      </p:sp>
      <p:sp>
        <p:nvSpPr>
          <p:cNvPr id="6" name="Text 4"/>
          <p:cNvSpPr/>
          <p:nvPr/>
        </p:nvSpPr>
        <p:spPr>
          <a:xfrm>
            <a:off x="210312" y="429768"/>
            <a:ext cx="8732520" cy="246888"/>
          </a:xfrm>
          <a:prstGeom prst="rect">
            <a:avLst/>
          </a:prstGeom>
          <a:noFill/>
          <a:ln/>
        </p:spPr>
        <p:txBody>
          <a:bodyPr wrap="square" rtlCol="0" anchor="ctr"/>
          <a:lstStyle/>
          <a:p>
            <a:pPr marL="0" indent="0">
              <a:buNone/>
            </a:pPr>
            <a:r>
              <a:rPr lang="en-US" sz="1000" i="1" dirty="0">
                <a:solidFill>
                  <a:srgbClr val="475569"/>
                </a:solidFill>
                <a:latin typeface="Calibri" pitchFamily="34" charset="0"/>
                <a:ea typeface="Calibri" pitchFamily="34" charset="-122"/>
                <a:cs typeface="Calibri" pitchFamily="34" charset="-120"/>
              </a:rPr>
              <a:t>Identifier les comptes fractionnant délibérément des paiements juste sous 10 000 pour éviter le contrôle réglementaire</a:t>
            </a:r>
          </a:p>
        </p:txBody>
      </p:sp>
      <p:sp>
        <p:nvSpPr>
          <p:cNvPr id="7" name="Shape 5"/>
          <p:cNvSpPr/>
          <p:nvPr/>
        </p:nvSpPr>
        <p:spPr>
          <a:xfrm>
            <a:off x="210312" y="704088"/>
            <a:ext cx="8732520" cy="2048637"/>
          </a:xfrm>
          <a:prstGeom prst="rect">
            <a:avLst/>
          </a:prstGeom>
          <a:solidFill>
            <a:srgbClr val="0F1E2E"/>
          </a:solidFill>
          <a:ln w="6350">
            <a:solidFill>
              <a:srgbClr val="1E3A5F"/>
            </a:solidFill>
            <a:prstDash val="solid"/>
          </a:ln>
        </p:spPr>
      </p:sp>
      <p:sp>
        <p:nvSpPr>
          <p:cNvPr id="8" name="Text 6"/>
          <p:cNvSpPr/>
          <p:nvPr/>
        </p:nvSpPr>
        <p:spPr>
          <a:xfrm>
            <a:off x="292608" y="731520"/>
            <a:ext cx="8549640" cy="2975000"/>
          </a:xfrm>
          <a:prstGeom prst="rect">
            <a:avLst/>
          </a:prstGeom>
          <a:noFill/>
          <a:ln/>
        </p:spPr>
        <p:txBody>
          <a:bodyPr wrap="square" lIns="38100" tIns="38100" rIns="38100" bIns="38100" rtlCol="0" anchor="t"/>
          <a:lstStyle/>
          <a:p>
            <a:pPr marL="0" indent="0">
              <a:buNone/>
            </a:pPr>
            <a:r>
              <a:rPr lang="en-US" sz="700" dirty="0">
                <a:solidFill>
                  <a:srgbClr val="CBD5E1"/>
                </a:solidFill>
                <a:latin typeface="Consolas" pitchFamily="34" charset="0"/>
                <a:ea typeface="Consolas" pitchFamily="34" charset="-122"/>
                <a:cs typeface="Consolas" pitchFamily="34" charset="-120"/>
              </a:rPr>
              <a:t>WITH trans_sous_seuil AS (</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    SELECT</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        T.id_compte,</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        U.nom || ' ' || U.prenom               AS utilisateur,</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        TRUNC(T.date_heure)                     AS jour,</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        COUNT(T.id_transaction)                 AS nb_trans_suspectes,</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        SUM(T.montant)                          AS cumul_journalier,</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        MIN(T.montant)                          AS montant_min,</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        MAX(T.montant)                          AS montant_max</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    FROM Transaction T</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    JOIN Est_Titulaire ET ON ET.id_compte      = T.id_compte</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    JOIN Utilisateur   U  ON U.id_utilisateur  = ET.id_utilisateur</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    WHERE T.montant BETWEEN 8000 AND 9999</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      AND T.type_operation IN ('VIREMENT','PAIEMENT')</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      AND T.statut = 'VALIDE'</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    GROUP BY T.id_compte, U.nom, U.prenom, TRUNC(T.date_heure)</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    HAVING COUNT(T.id_transaction) &gt;= 2</a:t>
            </a:r>
            <a:endParaRPr lang="en-US" sz="700" dirty="0"/>
          </a:p>
          <a:p>
            <a:pPr marL="0" indent="0">
              <a:buNone/>
            </a:pPr>
            <a:r>
              <a:rPr lang="en-US" sz="700" dirty="0" smtClean="0">
                <a:solidFill>
                  <a:srgbClr val="CBD5E1"/>
                </a:solidFill>
                <a:latin typeface="Consolas" pitchFamily="34" charset="0"/>
                <a:ea typeface="Consolas" pitchFamily="34" charset="-122"/>
                <a:cs typeface="Consolas" pitchFamily="34" charset="-120"/>
              </a:rPr>
              <a:t>)</a:t>
            </a:r>
            <a:endParaRPr lang="en-US" sz="700" dirty="0"/>
          </a:p>
        </p:txBody>
      </p:sp>
      <p:sp>
        <p:nvSpPr>
          <p:cNvPr id="9" name="Text 7"/>
          <p:cNvSpPr/>
          <p:nvPr/>
        </p:nvSpPr>
        <p:spPr>
          <a:xfrm>
            <a:off x="210312" y="2799207"/>
            <a:ext cx="3657600" cy="201168"/>
          </a:xfrm>
          <a:prstGeom prst="rect">
            <a:avLst/>
          </a:prstGeom>
          <a:noFill/>
          <a:ln/>
        </p:spPr>
        <p:txBody>
          <a:bodyPr wrap="square" rtlCol="0" anchor="ctr"/>
          <a:lstStyle/>
          <a:p>
            <a:pPr marL="0" indent="0">
              <a:buNone/>
            </a:pPr>
            <a:r>
              <a:rPr lang="en-US" sz="850" b="1" dirty="0">
                <a:solidFill>
                  <a:srgbClr val="0891B2"/>
                </a:solidFill>
                <a:latin typeface="Calibri" pitchFamily="34" charset="0"/>
                <a:ea typeface="Calibri" pitchFamily="34" charset="-122"/>
                <a:cs typeface="Calibri" pitchFamily="34" charset="-120"/>
              </a:rPr>
              <a:t>►  </a:t>
            </a:r>
            <a:r>
              <a:rPr lang="en-US" sz="850" b="1" dirty="0" err="1">
                <a:solidFill>
                  <a:srgbClr val="0891B2"/>
                </a:solidFill>
                <a:latin typeface="Calibri" pitchFamily="34" charset="0"/>
                <a:ea typeface="Calibri" pitchFamily="34" charset="-122"/>
                <a:cs typeface="Calibri" pitchFamily="34" charset="-120"/>
              </a:rPr>
              <a:t>Résultats :</a:t>
            </a:r>
          </a:p>
        </p:txBody>
      </p:sp>
      <p:graphicFrame>
        <p:nvGraphicFramePr>
          <p:cNvPr id="10" name="Table 0"/>
          <p:cNvGraphicFramePr>
            <a:graphicFrameLocks noGrp="1"/>
          </p:cNvGraphicFramePr>
          <p:nvPr>
            <p:extLst>
              <p:ext uri="{D42A27DB-BD31-4B8C-83A1-F6EECF244321}">
                <p14:modId xmlns:p14="http://schemas.microsoft.com/office/powerpoint/2010/main" val="703405983"/>
              </p:ext>
            </p:extLst>
          </p:nvPr>
        </p:nvGraphicFramePr>
        <p:xfrm>
          <a:off x="210312" y="3116732"/>
          <a:ext cx="8732520" cy="1234440"/>
        </p:xfrm>
        <a:graphic>
          <a:graphicData uri="http://schemas.openxmlformats.org/drawingml/2006/table">
            <a:tbl>
              <a:tblPr/>
              <a:tblGrid>
                <a:gridCol w="1091565"/>
                <a:gridCol w="1091565"/>
                <a:gridCol w="1091565"/>
                <a:gridCol w="1091565"/>
                <a:gridCol w="1091565"/>
                <a:gridCol w="1091565"/>
                <a:gridCol w="1091565"/>
                <a:gridCol w="1091565"/>
              </a:tblGrid>
              <a:tr h="246888">
                <a:tc>
                  <a:txBody>
                    <a:bodyPr/>
                    <a:lstStyle/>
                    <a:p>
                      <a:pPr marL="0" indent="0" algn="ctr">
                        <a:buNone/>
                      </a:pPr>
                      <a:r>
                        <a:rPr lang="en-US" sz="800" b="1" dirty="0">
                          <a:solidFill>
                            <a:srgbClr val="FFFFFF"/>
                          </a:solidFill>
                          <a:latin typeface="Calibri" pitchFamily="34" charset="0"/>
                          <a:ea typeface="Calibri" pitchFamily="34" charset="-122"/>
                          <a:cs typeface="Calibri" pitchFamily="34" charset="-120"/>
                        </a:rPr>
                        <a:t>ID_COMPTE</a:t>
                      </a:r>
                      <a:endParaRPr lang="en-US" sz="8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B1628"/>
                    </a:solidFill>
                  </a:tcPr>
                </a:tc>
                <a:tc>
                  <a:txBody>
                    <a:bodyPr/>
                    <a:lstStyle/>
                    <a:p>
                      <a:pPr marL="0" indent="0" algn="ctr">
                        <a:buNone/>
                      </a:pPr>
                      <a:r>
                        <a:rPr lang="en-US" sz="800" b="1" dirty="0">
                          <a:solidFill>
                            <a:srgbClr val="FFFFFF"/>
                          </a:solidFill>
                          <a:latin typeface="Calibri" pitchFamily="34" charset="0"/>
                          <a:ea typeface="Calibri" pitchFamily="34" charset="-122"/>
                          <a:cs typeface="Calibri" pitchFamily="34" charset="-120"/>
                        </a:rPr>
                        <a:t>UTILISATEUR</a:t>
                      </a:r>
                      <a:endParaRPr lang="en-US" sz="8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B1628"/>
                    </a:solidFill>
                  </a:tcPr>
                </a:tc>
                <a:tc>
                  <a:txBody>
                    <a:bodyPr/>
                    <a:lstStyle/>
                    <a:p>
                      <a:pPr marL="0" indent="0" algn="ctr">
                        <a:buNone/>
                      </a:pPr>
                      <a:r>
                        <a:rPr lang="en-US" sz="800" b="1" dirty="0">
                          <a:solidFill>
                            <a:srgbClr val="FFFFFF"/>
                          </a:solidFill>
                          <a:latin typeface="Calibri" pitchFamily="34" charset="0"/>
                          <a:ea typeface="Calibri" pitchFamily="34" charset="-122"/>
                          <a:cs typeface="Calibri" pitchFamily="34" charset="-120"/>
                        </a:rPr>
                        <a:t>JOUR</a:t>
                      </a:r>
                      <a:endParaRPr lang="en-US" sz="8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B1628"/>
                    </a:solidFill>
                  </a:tcPr>
                </a:tc>
                <a:tc>
                  <a:txBody>
                    <a:bodyPr/>
                    <a:lstStyle/>
                    <a:p>
                      <a:pPr marL="0" indent="0" algn="ctr">
                        <a:buNone/>
                      </a:pPr>
                      <a:r>
                        <a:rPr lang="en-US" sz="800" b="1" dirty="0">
                          <a:solidFill>
                            <a:srgbClr val="FFFFFF"/>
                          </a:solidFill>
                          <a:latin typeface="Calibri" pitchFamily="34" charset="0"/>
                          <a:ea typeface="Calibri" pitchFamily="34" charset="-122"/>
                          <a:cs typeface="Calibri" pitchFamily="34" charset="-120"/>
                        </a:rPr>
                        <a:t>NB_TRANS</a:t>
                      </a:r>
                      <a:endParaRPr lang="en-US" sz="8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B1628"/>
                    </a:solidFill>
                  </a:tcPr>
                </a:tc>
                <a:tc>
                  <a:txBody>
                    <a:bodyPr/>
                    <a:lstStyle/>
                    <a:p>
                      <a:pPr marL="0" indent="0" algn="ctr">
                        <a:buNone/>
                      </a:pPr>
                      <a:r>
                        <a:rPr lang="en-US" sz="800" b="1" dirty="0">
                          <a:solidFill>
                            <a:srgbClr val="FFFFFF"/>
                          </a:solidFill>
                          <a:latin typeface="Calibri" pitchFamily="34" charset="0"/>
                          <a:ea typeface="Calibri" pitchFamily="34" charset="-122"/>
                          <a:cs typeface="Calibri" pitchFamily="34" charset="-120"/>
                        </a:rPr>
                        <a:t>CUMUL</a:t>
                      </a:r>
                      <a:endParaRPr lang="en-US" sz="8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B1628"/>
                    </a:solidFill>
                  </a:tcPr>
                </a:tc>
                <a:tc>
                  <a:txBody>
                    <a:bodyPr/>
                    <a:lstStyle/>
                    <a:p>
                      <a:pPr marL="0" indent="0" algn="ctr">
                        <a:buNone/>
                      </a:pPr>
                      <a:r>
                        <a:rPr lang="en-US" sz="800" b="1" dirty="0">
                          <a:solidFill>
                            <a:srgbClr val="FFFFFF"/>
                          </a:solidFill>
                          <a:latin typeface="Calibri" pitchFamily="34" charset="0"/>
                          <a:ea typeface="Calibri" pitchFamily="34" charset="-122"/>
                          <a:cs typeface="Calibri" pitchFamily="34" charset="-120"/>
                        </a:rPr>
                        <a:t>MIN</a:t>
                      </a:r>
                      <a:endParaRPr lang="en-US" sz="8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B1628"/>
                    </a:solidFill>
                  </a:tcPr>
                </a:tc>
                <a:tc>
                  <a:txBody>
                    <a:bodyPr/>
                    <a:lstStyle/>
                    <a:p>
                      <a:pPr marL="0" indent="0" algn="ctr">
                        <a:buNone/>
                      </a:pPr>
                      <a:r>
                        <a:rPr lang="en-US" sz="800" b="1" dirty="0">
                          <a:solidFill>
                            <a:srgbClr val="FFFFFF"/>
                          </a:solidFill>
                          <a:latin typeface="Calibri" pitchFamily="34" charset="0"/>
                          <a:ea typeface="Calibri" pitchFamily="34" charset="-122"/>
                          <a:cs typeface="Calibri" pitchFamily="34" charset="-120"/>
                        </a:rPr>
                        <a:t>MAX</a:t>
                      </a:r>
                      <a:endParaRPr lang="en-US" sz="8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B1628"/>
                    </a:solidFill>
                  </a:tcPr>
                </a:tc>
                <a:tc>
                  <a:txBody>
                    <a:bodyPr/>
                    <a:lstStyle/>
                    <a:p>
                      <a:pPr marL="0" indent="0" algn="ctr">
                        <a:buNone/>
                      </a:pPr>
                      <a:r>
                        <a:rPr lang="en-US" sz="800" b="1" dirty="0">
                          <a:solidFill>
                            <a:srgbClr val="FFFFFF"/>
                          </a:solidFill>
                          <a:latin typeface="Calibri" pitchFamily="34" charset="0"/>
                          <a:ea typeface="Calibri" pitchFamily="34" charset="-122"/>
                          <a:cs typeface="Calibri" pitchFamily="34" charset="-120"/>
                        </a:rPr>
                        <a:t>STATUT</a:t>
                      </a:r>
                      <a:endParaRPr lang="en-US" sz="8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B1628"/>
                    </a:solidFill>
                  </a:tcPr>
                </a:tc>
              </a:tr>
              <a:tr h="246888">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2001</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Anas SAOUDI</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14/04/2026</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3</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28500</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8750</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9990</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SEUIL DEPASSE</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246888">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2007</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Nour CHAABANE</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15/04/2026</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2</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19800</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9200</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9600</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SEUIL DEPASSE</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r>
              <a:tr h="246888">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2013</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Fares HAMDI</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16/04/2026</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2</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17400</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8400</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9000</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SEUIL DEPASSE</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246888">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2019</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Rim BEN ALI</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12/04/2026</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2</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16500</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8100</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8400</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SEUIL DEPASSE</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r>
            </a:tbl>
          </a:graphicData>
        </a:graphic>
      </p:graphicFrame>
      <p:sp>
        <p:nvSpPr>
          <p:cNvPr id="11" name="TextBox 10"/>
          <p:cNvSpPr txBox="1"/>
          <p:nvPr/>
        </p:nvSpPr>
        <p:spPr>
          <a:xfrm>
            <a:off x="4697770" y="733798"/>
            <a:ext cx="3929975" cy="1169551"/>
          </a:xfrm>
          <a:prstGeom prst="rect">
            <a:avLst/>
          </a:prstGeom>
          <a:noFill/>
        </p:spPr>
        <p:txBody>
          <a:bodyPr wrap="square" rtlCol="0">
            <a:spAutoFit/>
          </a:bodyPr>
          <a:lstStyle/>
          <a:p>
            <a:r>
              <a:rPr lang="en-US" sz="700" dirty="0">
                <a:solidFill>
                  <a:srgbClr val="CBD5E1"/>
                </a:solidFill>
                <a:latin typeface="Consolas" pitchFamily="34" charset="0"/>
                <a:ea typeface="Consolas" pitchFamily="34" charset="-122"/>
                <a:cs typeface="Consolas" pitchFamily="34" charset="-120"/>
              </a:rPr>
              <a:t>SELECT</a:t>
            </a:r>
            <a:endParaRPr lang="en-US" sz="700" dirty="0"/>
          </a:p>
          <a:p>
            <a:r>
              <a:rPr lang="en-US" sz="700" dirty="0">
                <a:solidFill>
                  <a:srgbClr val="CBD5E1"/>
                </a:solidFill>
                <a:latin typeface="Consolas" pitchFamily="34" charset="0"/>
                <a:ea typeface="Consolas" pitchFamily="34" charset="-122"/>
                <a:cs typeface="Consolas" pitchFamily="34" charset="-120"/>
              </a:rPr>
              <a:t>    </a:t>
            </a:r>
            <a:r>
              <a:rPr lang="en-US" sz="700" dirty="0" err="1">
                <a:solidFill>
                  <a:srgbClr val="CBD5E1"/>
                </a:solidFill>
                <a:latin typeface="Consolas" pitchFamily="34" charset="0"/>
                <a:ea typeface="Consolas" pitchFamily="34" charset="-122"/>
                <a:cs typeface="Consolas" pitchFamily="34" charset="-120"/>
              </a:rPr>
              <a:t>id_compte</a:t>
            </a:r>
            <a:r>
              <a:rPr lang="en-US" sz="700" dirty="0">
                <a:solidFill>
                  <a:srgbClr val="CBD5E1"/>
                </a:solidFill>
                <a:latin typeface="Consolas" pitchFamily="34" charset="0"/>
                <a:ea typeface="Consolas" pitchFamily="34" charset="-122"/>
                <a:cs typeface="Consolas" pitchFamily="34" charset="-120"/>
              </a:rPr>
              <a:t>, </a:t>
            </a:r>
            <a:r>
              <a:rPr lang="en-US" sz="700" dirty="0" err="1">
                <a:solidFill>
                  <a:srgbClr val="CBD5E1"/>
                </a:solidFill>
                <a:latin typeface="Consolas" pitchFamily="34" charset="0"/>
                <a:ea typeface="Consolas" pitchFamily="34" charset="-122"/>
                <a:cs typeface="Consolas" pitchFamily="34" charset="-120"/>
              </a:rPr>
              <a:t>utilisateur</a:t>
            </a:r>
            <a:r>
              <a:rPr lang="en-US" sz="700" dirty="0">
                <a:solidFill>
                  <a:srgbClr val="CBD5E1"/>
                </a:solidFill>
                <a:latin typeface="Consolas" pitchFamily="34" charset="0"/>
                <a:ea typeface="Consolas" pitchFamily="34" charset="-122"/>
                <a:cs typeface="Consolas" pitchFamily="34" charset="-120"/>
              </a:rPr>
              <a:t>, jour,</a:t>
            </a:r>
            <a:endParaRPr lang="en-US" sz="700" dirty="0"/>
          </a:p>
          <a:p>
            <a:r>
              <a:rPr lang="en-US" sz="700" dirty="0">
                <a:solidFill>
                  <a:srgbClr val="CBD5E1"/>
                </a:solidFill>
                <a:latin typeface="Consolas" pitchFamily="34" charset="0"/>
                <a:ea typeface="Consolas" pitchFamily="34" charset="-122"/>
                <a:cs typeface="Consolas" pitchFamily="34" charset="-120"/>
              </a:rPr>
              <a:t>    </a:t>
            </a:r>
            <a:r>
              <a:rPr lang="en-US" sz="700" dirty="0" err="1">
                <a:solidFill>
                  <a:srgbClr val="CBD5E1"/>
                </a:solidFill>
                <a:latin typeface="Consolas" pitchFamily="34" charset="0"/>
                <a:ea typeface="Consolas" pitchFamily="34" charset="-122"/>
                <a:cs typeface="Consolas" pitchFamily="34" charset="-120"/>
              </a:rPr>
              <a:t>nb_trans_suspectes</a:t>
            </a:r>
            <a:r>
              <a:rPr lang="en-US" sz="700" dirty="0">
                <a:solidFill>
                  <a:srgbClr val="CBD5E1"/>
                </a:solidFill>
                <a:latin typeface="Consolas" pitchFamily="34" charset="0"/>
                <a:ea typeface="Consolas" pitchFamily="34" charset="-122"/>
                <a:cs typeface="Consolas" pitchFamily="34" charset="-120"/>
              </a:rPr>
              <a:t>,</a:t>
            </a:r>
            <a:endParaRPr lang="en-US" sz="700" dirty="0"/>
          </a:p>
          <a:p>
            <a:r>
              <a:rPr lang="en-US" sz="700" dirty="0">
                <a:solidFill>
                  <a:srgbClr val="CBD5E1"/>
                </a:solidFill>
                <a:latin typeface="Consolas" pitchFamily="34" charset="0"/>
                <a:ea typeface="Consolas" pitchFamily="34" charset="-122"/>
                <a:cs typeface="Consolas" pitchFamily="34" charset="-120"/>
              </a:rPr>
              <a:t>    </a:t>
            </a:r>
            <a:r>
              <a:rPr lang="en-US" sz="700" dirty="0" err="1">
                <a:solidFill>
                  <a:srgbClr val="CBD5E1"/>
                </a:solidFill>
                <a:latin typeface="Consolas" pitchFamily="34" charset="0"/>
                <a:ea typeface="Consolas" pitchFamily="34" charset="-122"/>
                <a:cs typeface="Consolas" pitchFamily="34" charset="-120"/>
              </a:rPr>
              <a:t>cumul_journalier</a:t>
            </a:r>
            <a:r>
              <a:rPr lang="en-US" sz="700" dirty="0">
                <a:solidFill>
                  <a:srgbClr val="CBD5E1"/>
                </a:solidFill>
                <a:latin typeface="Consolas" pitchFamily="34" charset="0"/>
                <a:ea typeface="Consolas" pitchFamily="34" charset="-122"/>
                <a:cs typeface="Consolas" pitchFamily="34" charset="-120"/>
              </a:rPr>
              <a:t>,</a:t>
            </a:r>
            <a:endParaRPr lang="en-US" sz="700" dirty="0"/>
          </a:p>
          <a:p>
            <a:r>
              <a:rPr lang="en-US" sz="700" dirty="0">
                <a:solidFill>
                  <a:srgbClr val="CBD5E1"/>
                </a:solidFill>
                <a:latin typeface="Consolas" pitchFamily="34" charset="0"/>
                <a:ea typeface="Consolas" pitchFamily="34" charset="-122"/>
                <a:cs typeface="Consolas" pitchFamily="34" charset="-120"/>
              </a:rPr>
              <a:t>    </a:t>
            </a:r>
            <a:r>
              <a:rPr lang="en-US" sz="700" dirty="0" err="1">
                <a:solidFill>
                  <a:srgbClr val="CBD5E1"/>
                </a:solidFill>
                <a:latin typeface="Consolas" pitchFamily="34" charset="0"/>
                <a:ea typeface="Consolas" pitchFamily="34" charset="-122"/>
                <a:cs typeface="Consolas" pitchFamily="34" charset="-120"/>
              </a:rPr>
              <a:t>montant_min</a:t>
            </a:r>
            <a:r>
              <a:rPr lang="en-US" sz="700" dirty="0">
                <a:solidFill>
                  <a:srgbClr val="CBD5E1"/>
                </a:solidFill>
                <a:latin typeface="Consolas" pitchFamily="34" charset="0"/>
                <a:ea typeface="Consolas" pitchFamily="34" charset="-122"/>
                <a:cs typeface="Consolas" pitchFamily="34" charset="-120"/>
              </a:rPr>
              <a:t>, </a:t>
            </a:r>
            <a:r>
              <a:rPr lang="en-US" sz="700" dirty="0" err="1">
                <a:solidFill>
                  <a:srgbClr val="CBD5E1"/>
                </a:solidFill>
                <a:latin typeface="Consolas" pitchFamily="34" charset="0"/>
                <a:ea typeface="Consolas" pitchFamily="34" charset="-122"/>
                <a:cs typeface="Consolas" pitchFamily="34" charset="-120"/>
              </a:rPr>
              <a:t>montant_max</a:t>
            </a:r>
            <a:r>
              <a:rPr lang="en-US" sz="700" dirty="0">
                <a:solidFill>
                  <a:srgbClr val="CBD5E1"/>
                </a:solidFill>
                <a:latin typeface="Consolas" pitchFamily="34" charset="0"/>
                <a:ea typeface="Consolas" pitchFamily="34" charset="-122"/>
                <a:cs typeface="Consolas" pitchFamily="34" charset="-120"/>
              </a:rPr>
              <a:t>,</a:t>
            </a:r>
            <a:endParaRPr lang="en-US" sz="700" dirty="0"/>
          </a:p>
          <a:p>
            <a:r>
              <a:rPr lang="en-US" sz="700" dirty="0">
                <a:solidFill>
                  <a:srgbClr val="CBD5E1"/>
                </a:solidFill>
                <a:latin typeface="Consolas" pitchFamily="34" charset="0"/>
                <a:ea typeface="Consolas" pitchFamily="34" charset="-122"/>
                <a:cs typeface="Consolas" pitchFamily="34" charset="-120"/>
              </a:rPr>
              <a:t>    CASE WHEN </a:t>
            </a:r>
            <a:r>
              <a:rPr lang="en-US" sz="700" dirty="0" err="1">
                <a:solidFill>
                  <a:srgbClr val="CBD5E1"/>
                </a:solidFill>
                <a:latin typeface="Consolas" pitchFamily="34" charset="0"/>
                <a:ea typeface="Consolas" pitchFamily="34" charset="-122"/>
                <a:cs typeface="Consolas" pitchFamily="34" charset="-120"/>
              </a:rPr>
              <a:t>cumul_journalier</a:t>
            </a:r>
            <a:r>
              <a:rPr lang="en-US" sz="700" dirty="0">
                <a:solidFill>
                  <a:srgbClr val="CBD5E1"/>
                </a:solidFill>
                <a:latin typeface="Consolas" pitchFamily="34" charset="0"/>
                <a:ea typeface="Consolas" pitchFamily="34" charset="-122"/>
                <a:cs typeface="Consolas" pitchFamily="34" charset="-120"/>
              </a:rPr>
              <a:t> &gt;= 10000 THEN 'SEUIL DEPASSE'</a:t>
            </a:r>
            <a:endParaRPr lang="en-US" sz="700" dirty="0"/>
          </a:p>
          <a:p>
            <a:r>
              <a:rPr lang="en-US" sz="700" dirty="0">
                <a:solidFill>
                  <a:srgbClr val="CBD5E1"/>
                </a:solidFill>
                <a:latin typeface="Consolas" pitchFamily="34" charset="0"/>
                <a:ea typeface="Consolas" pitchFamily="34" charset="-122"/>
                <a:cs typeface="Consolas" pitchFamily="34" charset="-120"/>
              </a:rPr>
              <a:t>         ELSE 'SOUS SEUIL' END                 AS </a:t>
            </a:r>
            <a:r>
              <a:rPr lang="en-US" sz="700" dirty="0" err="1">
                <a:solidFill>
                  <a:srgbClr val="CBD5E1"/>
                </a:solidFill>
                <a:latin typeface="Consolas" pitchFamily="34" charset="0"/>
                <a:ea typeface="Consolas" pitchFamily="34" charset="-122"/>
                <a:cs typeface="Consolas" pitchFamily="34" charset="-120"/>
              </a:rPr>
              <a:t>statut_seuil</a:t>
            </a:r>
            <a:endParaRPr lang="en-US" sz="700" dirty="0"/>
          </a:p>
          <a:p>
            <a:r>
              <a:rPr lang="en-US" sz="700" dirty="0">
                <a:solidFill>
                  <a:srgbClr val="CBD5E1"/>
                </a:solidFill>
                <a:latin typeface="Consolas" pitchFamily="34" charset="0"/>
                <a:ea typeface="Consolas" pitchFamily="34" charset="-122"/>
                <a:cs typeface="Consolas" pitchFamily="34" charset="-120"/>
              </a:rPr>
              <a:t>FROM </a:t>
            </a:r>
            <a:r>
              <a:rPr lang="en-US" sz="700" dirty="0" err="1">
                <a:solidFill>
                  <a:srgbClr val="CBD5E1"/>
                </a:solidFill>
                <a:latin typeface="Consolas" pitchFamily="34" charset="0"/>
                <a:ea typeface="Consolas" pitchFamily="34" charset="-122"/>
                <a:cs typeface="Consolas" pitchFamily="34" charset="-120"/>
              </a:rPr>
              <a:t>trans_sous_seuil</a:t>
            </a:r>
            <a:endParaRPr lang="en-US" sz="700" dirty="0"/>
          </a:p>
          <a:p>
            <a:r>
              <a:rPr lang="en-US" sz="700" dirty="0">
                <a:solidFill>
                  <a:srgbClr val="CBD5E1"/>
                </a:solidFill>
                <a:latin typeface="Consolas" pitchFamily="34" charset="0"/>
                <a:ea typeface="Consolas" pitchFamily="34" charset="-122"/>
                <a:cs typeface="Consolas" pitchFamily="34" charset="-120"/>
              </a:rPr>
              <a:t>ORDER BY </a:t>
            </a:r>
            <a:r>
              <a:rPr lang="en-US" sz="700" dirty="0" err="1">
                <a:solidFill>
                  <a:srgbClr val="CBD5E1"/>
                </a:solidFill>
                <a:latin typeface="Consolas" pitchFamily="34" charset="0"/>
                <a:ea typeface="Consolas" pitchFamily="34" charset="-122"/>
                <a:cs typeface="Consolas" pitchFamily="34" charset="-120"/>
              </a:rPr>
              <a:t>cumul_journalier</a:t>
            </a:r>
            <a:r>
              <a:rPr lang="en-US" sz="700" dirty="0">
                <a:solidFill>
                  <a:srgbClr val="CBD5E1"/>
                </a:solidFill>
                <a:latin typeface="Consolas" pitchFamily="34" charset="0"/>
                <a:ea typeface="Consolas" pitchFamily="34" charset="-122"/>
                <a:cs typeface="Consolas" pitchFamily="34" charset="-120"/>
              </a:rPr>
              <a:t> DESC;</a:t>
            </a:r>
            <a:endParaRPr lang="en-US" sz="700" dirty="0"/>
          </a:p>
          <a:p>
            <a:endParaRPr lang="en-US" sz="700" dirty="0"/>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name="Slide 44">
    <p:bg>
      <p:bgPr>
        <a:solidFill>
          <a:srgbClr val="F0F6FF"/>
        </a:solidFill>
        <a:effectLst/>
      </p:bgPr>
    </p:bg>
    <p:spTree>
      <p:nvGrpSpPr>
        <p:cNvPr id="1" name=""/>
        <p:cNvGrpSpPr/>
        <p:nvPr/>
      </p:nvGrpSpPr>
      <p:grpSpPr>
        <a:xfrm>
          <a:off x="0" y="0"/>
          <a:ext cx="0" cy="0"/>
          <a:chOff x="0" y="0"/>
          <a:chExt cx="0" cy="0"/>
        </a:xfrm>
      </p:grpSpPr>
      <p:sp>
        <p:nvSpPr>
          <p:cNvPr id="2" name="Shape 0"/>
          <p:cNvSpPr/>
          <p:nvPr/>
        </p:nvSpPr>
        <p:spPr>
          <a:xfrm>
            <a:off x="0" y="0"/>
            <a:ext cx="118872" cy="5143500"/>
          </a:xfrm>
          <a:prstGeom prst="rect">
            <a:avLst/>
          </a:prstGeom>
          <a:solidFill>
            <a:srgbClr val="0891B2"/>
          </a:solidFill>
          <a:ln w="12700">
            <a:solidFill>
              <a:srgbClr val="0891B2"/>
            </a:solidFill>
            <a:prstDash val="solid"/>
          </a:ln>
        </p:spPr>
      </p:sp>
      <p:sp>
        <p:nvSpPr>
          <p:cNvPr id="3" name="Shape 1"/>
          <p:cNvSpPr/>
          <p:nvPr/>
        </p:nvSpPr>
        <p:spPr>
          <a:xfrm>
            <a:off x="210312" y="91440"/>
            <a:ext cx="640080" cy="310896"/>
          </a:xfrm>
          <a:prstGeom prst="rect">
            <a:avLst/>
          </a:prstGeom>
          <a:solidFill>
            <a:srgbClr val="0891B2"/>
          </a:solidFill>
          <a:ln w="12700">
            <a:solidFill>
              <a:srgbClr val="0891B2"/>
            </a:solidFill>
            <a:prstDash val="solid"/>
          </a:ln>
        </p:spPr>
      </p:sp>
      <p:sp>
        <p:nvSpPr>
          <p:cNvPr id="4" name="Text 2"/>
          <p:cNvSpPr/>
          <p:nvPr/>
        </p:nvSpPr>
        <p:spPr>
          <a:xfrm>
            <a:off x="210312" y="91440"/>
            <a:ext cx="640080"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R36</a:t>
            </a:r>
          </a:p>
        </p:txBody>
      </p:sp>
      <p:sp>
        <p:nvSpPr>
          <p:cNvPr id="5" name="Text 3"/>
          <p:cNvSpPr/>
          <p:nvPr/>
        </p:nvSpPr>
        <p:spPr>
          <a:xfrm>
            <a:off x="932688" y="91440"/>
            <a:ext cx="6583680" cy="310896"/>
          </a:xfrm>
          <a:prstGeom prst="rect">
            <a:avLst/>
          </a:prstGeom>
          <a:noFill/>
          <a:ln/>
        </p:spPr>
        <p:txBody>
          <a:bodyPr wrap="square" rtlCol="0" anchor="ctr"/>
          <a:lstStyle/>
          <a:p>
            <a:pPr marL="0" indent="0">
              <a:buNone/>
            </a:pPr>
            <a:r>
              <a:rPr lang="en-US" sz="1350" b="1" dirty="0">
                <a:solidFill>
                  <a:srgbClr val="1E293B"/>
                </a:solidFill>
                <a:latin typeface="Calibri" pitchFamily="34" charset="0"/>
                <a:ea typeface="Calibri" pitchFamily="34" charset="-122"/>
                <a:cs typeface="Calibri" pitchFamily="34" charset="-120"/>
              </a:rPr>
              <a:t>Sous-requête complexe + DECODE — Matrice de risque multi-criteres</a:t>
            </a:r>
          </a:p>
        </p:txBody>
      </p:sp>
      <p:sp>
        <p:nvSpPr>
          <p:cNvPr id="6" name="Text 4"/>
          <p:cNvSpPr/>
          <p:nvPr/>
        </p:nvSpPr>
        <p:spPr>
          <a:xfrm>
            <a:off x="210312" y="429768"/>
            <a:ext cx="8732520" cy="246888"/>
          </a:xfrm>
          <a:prstGeom prst="rect">
            <a:avLst/>
          </a:prstGeom>
          <a:noFill/>
          <a:ln/>
        </p:spPr>
        <p:txBody>
          <a:bodyPr wrap="square" rtlCol="0" anchor="ctr"/>
          <a:lstStyle/>
          <a:p>
            <a:pPr marL="0" indent="0">
              <a:buNone/>
            </a:pPr>
            <a:r>
              <a:rPr lang="en-US" sz="1000" i="1" dirty="0">
                <a:solidFill>
                  <a:srgbClr val="475569"/>
                </a:solidFill>
                <a:latin typeface="Calibri" pitchFamily="34" charset="0"/>
                <a:ea typeface="Calibri" pitchFamily="34" charset="-122"/>
                <a:cs typeface="Calibri" pitchFamily="34" charset="-120"/>
              </a:rPr>
              <a:t>Classifier chaque utilisateur dans une catégorie de risque (FAIBLE/MOYEN/ELEVÉ/CRITIQUE) en combinant 4 indicateurs pondérés</a:t>
            </a:r>
          </a:p>
        </p:txBody>
      </p:sp>
      <p:sp>
        <p:nvSpPr>
          <p:cNvPr id="7" name="Shape 5"/>
          <p:cNvSpPr/>
          <p:nvPr/>
        </p:nvSpPr>
        <p:spPr>
          <a:xfrm>
            <a:off x="210312" y="704088"/>
            <a:ext cx="8732520" cy="2458212"/>
          </a:xfrm>
          <a:prstGeom prst="rect">
            <a:avLst/>
          </a:prstGeom>
          <a:solidFill>
            <a:srgbClr val="0F1E2E"/>
          </a:solidFill>
          <a:ln w="6350">
            <a:solidFill>
              <a:srgbClr val="1E3A5F"/>
            </a:solidFill>
            <a:prstDash val="solid"/>
          </a:ln>
        </p:spPr>
      </p:sp>
      <p:sp>
        <p:nvSpPr>
          <p:cNvPr id="8" name="Text 6"/>
          <p:cNvSpPr/>
          <p:nvPr/>
        </p:nvSpPr>
        <p:spPr>
          <a:xfrm>
            <a:off x="292608" y="731520"/>
            <a:ext cx="8549640" cy="3710000"/>
          </a:xfrm>
          <a:prstGeom prst="rect">
            <a:avLst/>
          </a:prstGeom>
          <a:noFill/>
          <a:ln/>
        </p:spPr>
        <p:txBody>
          <a:bodyPr wrap="square" lIns="38100" tIns="38100" rIns="38100" bIns="38100" rtlCol="0" anchor="t"/>
          <a:lstStyle/>
          <a:p>
            <a:pPr marL="0" indent="0">
              <a:buNone/>
            </a:pPr>
            <a:r>
              <a:rPr lang="en-US" sz="700" dirty="0">
                <a:solidFill>
                  <a:srgbClr val="CBD5E1"/>
                </a:solidFill>
                <a:latin typeface="Consolas" pitchFamily="34" charset="0"/>
                <a:ea typeface="Consolas" pitchFamily="34" charset="-122"/>
                <a:cs typeface="Consolas" pitchFamily="34" charset="-120"/>
              </a:rPr>
              <a:t>SELECT</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    U.id_utilisateur,</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    U.nom || ' ' || U.prenom                   AS utilisateur,</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    COUNT(DISTINCT CS.id_connex_suspecte)       AS nb_conn_susp,</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    COUNT(DISTINCT TS.id_transac_suspecte)      AS nb_trans_susp,</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    COUNT(DISTINCT AL.id_alerte)                AS nb_alertes,</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    NVL(MAX(CASE WHEN AL.niveau_gravite = 'CRITIQUE' THEN 1 END), 0) AS a_alerte_critique,</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    -- Score pondéré :</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    COUNT(DISTINCT CS.id_connex_suspecte) * 1</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    + COUNT(DISTINCT TS.id_transac_suspecte)  * 2</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    + COUNT(DISTINCT AL.id_alerte)             * 3</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    + NVL(MAX(CASE WHEN AL.niveau_gravite = 'CRITIQUE' THEN 10 END), 0)</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                                               AS score_pondere,</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    DECODE(</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        LEAST(3, CASE</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            WHEN COUNT(DISTINCT TS.id_transac_suspecte) * 2</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               + COUNT(DISTINCT AL.id_alerte) * 3 &gt;= 30 THEN 3</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            WHEN COUNT(DISTINCT TS.id_transac_suspecte) * 2</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               + COUNT(DISTINCT AL.id_alerte) * 3 &gt;= 15 THEN 2</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            WHEN COUNT(DISTINCT TS.id_transac_suspecte) * 2</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               + COUNT(DISTINCT AL.id_alerte) * 3 &gt;= 5  THEN 1</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            ELSE 0 END</a:t>
            </a:r>
            <a:r>
              <a:rPr lang="en-US" sz="700" dirty="0" smtClean="0">
                <a:solidFill>
                  <a:srgbClr val="CBD5E1"/>
                </a:solidFill>
                <a:latin typeface="Consolas" pitchFamily="34" charset="0"/>
                <a:ea typeface="Consolas" pitchFamily="34" charset="-122"/>
                <a:cs typeface="Consolas" pitchFamily="34" charset="-120"/>
              </a:rPr>
              <a:t>),</a:t>
            </a:r>
            <a:endParaRPr lang="en-US" sz="700" dirty="0"/>
          </a:p>
        </p:txBody>
      </p:sp>
      <p:sp>
        <p:nvSpPr>
          <p:cNvPr id="9" name="Text 7"/>
          <p:cNvSpPr/>
          <p:nvPr/>
        </p:nvSpPr>
        <p:spPr>
          <a:xfrm>
            <a:off x="210312" y="3228020"/>
            <a:ext cx="3657600" cy="201168"/>
          </a:xfrm>
          <a:prstGeom prst="rect">
            <a:avLst/>
          </a:prstGeom>
          <a:noFill/>
          <a:ln/>
        </p:spPr>
        <p:txBody>
          <a:bodyPr wrap="square" rtlCol="0" anchor="ctr"/>
          <a:lstStyle/>
          <a:p>
            <a:pPr marL="0" indent="0">
              <a:buNone/>
            </a:pPr>
            <a:r>
              <a:rPr lang="en-US" sz="850" b="1" dirty="0">
                <a:solidFill>
                  <a:srgbClr val="0891B2"/>
                </a:solidFill>
                <a:latin typeface="Calibri" pitchFamily="34" charset="0"/>
                <a:ea typeface="Calibri" pitchFamily="34" charset="-122"/>
                <a:cs typeface="Calibri" pitchFamily="34" charset="-120"/>
              </a:rPr>
              <a:t>►  </a:t>
            </a:r>
            <a:r>
              <a:rPr lang="en-US" sz="850" b="1" dirty="0" err="1">
                <a:solidFill>
                  <a:srgbClr val="0891B2"/>
                </a:solidFill>
                <a:latin typeface="Calibri" pitchFamily="34" charset="0"/>
                <a:ea typeface="Calibri" pitchFamily="34" charset="-122"/>
                <a:cs typeface="Calibri" pitchFamily="34" charset="-120"/>
              </a:rPr>
              <a:t>Résultats :</a:t>
            </a:r>
          </a:p>
        </p:txBody>
      </p:sp>
      <p:graphicFrame>
        <p:nvGraphicFramePr>
          <p:cNvPr id="10" name="Table 0"/>
          <p:cNvGraphicFramePr>
            <a:graphicFrameLocks noGrp="1"/>
          </p:cNvGraphicFramePr>
          <p:nvPr>
            <p:extLst>
              <p:ext uri="{D42A27DB-BD31-4B8C-83A1-F6EECF244321}">
                <p14:modId xmlns:p14="http://schemas.microsoft.com/office/powerpoint/2010/main" val="3560155090"/>
              </p:ext>
            </p:extLst>
          </p:nvPr>
        </p:nvGraphicFramePr>
        <p:xfrm>
          <a:off x="201171" y="3455302"/>
          <a:ext cx="8732514" cy="1481328"/>
        </p:xfrm>
        <a:graphic>
          <a:graphicData uri="http://schemas.openxmlformats.org/drawingml/2006/table">
            <a:tbl>
              <a:tblPr/>
              <a:tblGrid>
                <a:gridCol w="1247502"/>
                <a:gridCol w="1247502"/>
                <a:gridCol w="1247502"/>
                <a:gridCol w="1247502"/>
                <a:gridCol w="1247502"/>
                <a:gridCol w="1247502"/>
                <a:gridCol w="1247502"/>
              </a:tblGrid>
              <a:tr h="246888">
                <a:tc>
                  <a:txBody>
                    <a:bodyPr/>
                    <a:lstStyle/>
                    <a:p>
                      <a:pPr marL="0" indent="0" algn="ctr">
                        <a:buNone/>
                      </a:pPr>
                      <a:r>
                        <a:rPr lang="en-US" sz="800" b="1" dirty="0">
                          <a:solidFill>
                            <a:srgbClr val="FFFFFF"/>
                          </a:solidFill>
                          <a:latin typeface="Calibri" pitchFamily="34" charset="0"/>
                          <a:ea typeface="Calibri" pitchFamily="34" charset="-122"/>
                          <a:cs typeface="Calibri" pitchFamily="34" charset="-120"/>
                        </a:rPr>
                        <a:t>ID_UTIL</a:t>
                      </a:r>
                      <a:endParaRPr lang="en-US" sz="8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B1628"/>
                    </a:solidFill>
                  </a:tcPr>
                </a:tc>
                <a:tc>
                  <a:txBody>
                    <a:bodyPr/>
                    <a:lstStyle/>
                    <a:p>
                      <a:pPr marL="0" indent="0" algn="ctr">
                        <a:buNone/>
                      </a:pPr>
                      <a:r>
                        <a:rPr lang="en-US" sz="800" b="1" dirty="0">
                          <a:solidFill>
                            <a:srgbClr val="FFFFFF"/>
                          </a:solidFill>
                          <a:latin typeface="Calibri" pitchFamily="34" charset="0"/>
                          <a:ea typeface="Calibri" pitchFamily="34" charset="-122"/>
                          <a:cs typeface="Calibri" pitchFamily="34" charset="-120"/>
                        </a:rPr>
                        <a:t>UTILISATEUR</a:t>
                      </a:r>
                      <a:endParaRPr lang="en-US" sz="8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B1628"/>
                    </a:solidFill>
                  </a:tcPr>
                </a:tc>
                <a:tc>
                  <a:txBody>
                    <a:bodyPr/>
                    <a:lstStyle/>
                    <a:p>
                      <a:pPr marL="0" indent="0" algn="ctr">
                        <a:buNone/>
                      </a:pPr>
                      <a:r>
                        <a:rPr lang="en-US" sz="800" b="1" dirty="0">
                          <a:solidFill>
                            <a:srgbClr val="FFFFFF"/>
                          </a:solidFill>
                          <a:latin typeface="Calibri" pitchFamily="34" charset="0"/>
                          <a:ea typeface="Calibri" pitchFamily="34" charset="-122"/>
                          <a:cs typeface="Calibri" pitchFamily="34" charset="-120"/>
                        </a:rPr>
                        <a:t>CONN_SUSP</a:t>
                      </a:r>
                      <a:endParaRPr lang="en-US" sz="8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B1628"/>
                    </a:solidFill>
                  </a:tcPr>
                </a:tc>
                <a:tc>
                  <a:txBody>
                    <a:bodyPr/>
                    <a:lstStyle/>
                    <a:p>
                      <a:pPr marL="0" indent="0" algn="ctr">
                        <a:buNone/>
                      </a:pPr>
                      <a:r>
                        <a:rPr lang="en-US" sz="800" b="1" dirty="0">
                          <a:solidFill>
                            <a:srgbClr val="FFFFFF"/>
                          </a:solidFill>
                          <a:latin typeface="Calibri" pitchFamily="34" charset="0"/>
                          <a:ea typeface="Calibri" pitchFamily="34" charset="-122"/>
                          <a:cs typeface="Calibri" pitchFamily="34" charset="-120"/>
                        </a:rPr>
                        <a:t>TRANS_SUSP</a:t>
                      </a:r>
                      <a:endParaRPr lang="en-US" sz="8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B1628"/>
                    </a:solidFill>
                  </a:tcPr>
                </a:tc>
                <a:tc>
                  <a:txBody>
                    <a:bodyPr/>
                    <a:lstStyle/>
                    <a:p>
                      <a:pPr marL="0" indent="0" algn="ctr">
                        <a:buNone/>
                      </a:pPr>
                      <a:r>
                        <a:rPr lang="en-US" sz="800" b="1" dirty="0">
                          <a:solidFill>
                            <a:srgbClr val="FFFFFF"/>
                          </a:solidFill>
                          <a:latin typeface="Calibri" pitchFamily="34" charset="0"/>
                          <a:ea typeface="Calibri" pitchFamily="34" charset="-122"/>
                          <a:cs typeface="Calibri" pitchFamily="34" charset="-120"/>
                        </a:rPr>
                        <a:t>ALERTES</a:t>
                      </a:r>
                      <a:endParaRPr lang="en-US" sz="8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B1628"/>
                    </a:solidFill>
                  </a:tcPr>
                </a:tc>
                <a:tc>
                  <a:txBody>
                    <a:bodyPr/>
                    <a:lstStyle/>
                    <a:p>
                      <a:pPr marL="0" indent="0" algn="ctr">
                        <a:buNone/>
                      </a:pPr>
                      <a:r>
                        <a:rPr lang="en-US" sz="800" b="1" dirty="0">
                          <a:solidFill>
                            <a:srgbClr val="FFFFFF"/>
                          </a:solidFill>
                          <a:latin typeface="Calibri" pitchFamily="34" charset="0"/>
                          <a:ea typeface="Calibri" pitchFamily="34" charset="-122"/>
                          <a:cs typeface="Calibri" pitchFamily="34" charset="-120"/>
                        </a:rPr>
                        <a:t>SCORE</a:t>
                      </a:r>
                      <a:endParaRPr lang="en-US" sz="8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B1628"/>
                    </a:solidFill>
                  </a:tcPr>
                </a:tc>
                <a:tc>
                  <a:txBody>
                    <a:bodyPr/>
                    <a:lstStyle/>
                    <a:p>
                      <a:pPr marL="0" indent="0" algn="ctr">
                        <a:buNone/>
                      </a:pPr>
                      <a:r>
                        <a:rPr lang="en-US" sz="800" b="1" dirty="0">
                          <a:solidFill>
                            <a:srgbClr val="FFFFFF"/>
                          </a:solidFill>
                          <a:latin typeface="Calibri" pitchFamily="34" charset="0"/>
                          <a:ea typeface="Calibri" pitchFamily="34" charset="-122"/>
                          <a:cs typeface="Calibri" pitchFamily="34" charset="-120"/>
                        </a:rPr>
                        <a:t>CATEGORIE</a:t>
                      </a:r>
                      <a:endParaRPr lang="en-US" sz="8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B1628"/>
                    </a:solidFill>
                  </a:tcPr>
                </a:tc>
              </a:tr>
              <a:tr h="246888">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12</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Karim MANSOURI</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4</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9</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5</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52</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CRITIQUE</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246888">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7</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Rim BEN ALI</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3</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5</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4</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37</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CRITIQUE</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r>
              <a:tr h="246888">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19</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Fares HAMDI</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2</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3</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2</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18</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ELEVE</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246888">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3</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Leila TRABELSI</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1</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2</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2</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13</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ELEVE</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r>
              <a:tr h="246888">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2</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Mohamed BATTI</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1</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2</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1</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9</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MOYEN</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bl>
          </a:graphicData>
        </a:graphic>
      </p:graphicFrame>
      <p:sp>
        <p:nvSpPr>
          <p:cNvPr id="11" name="TextBox 10"/>
          <p:cNvSpPr txBox="1"/>
          <p:nvPr/>
        </p:nvSpPr>
        <p:spPr>
          <a:xfrm>
            <a:off x="4907320" y="733798"/>
            <a:ext cx="3929975" cy="1384995"/>
          </a:xfrm>
          <a:prstGeom prst="rect">
            <a:avLst/>
          </a:prstGeom>
          <a:noFill/>
        </p:spPr>
        <p:txBody>
          <a:bodyPr wrap="square" rtlCol="0">
            <a:spAutoFit/>
          </a:bodyPr>
          <a:lstStyle/>
          <a:p>
            <a:r>
              <a:rPr lang="en-US" sz="700" dirty="0">
                <a:solidFill>
                  <a:srgbClr val="CBD5E1"/>
                </a:solidFill>
                <a:latin typeface="Consolas" pitchFamily="34" charset="0"/>
                <a:ea typeface="Consolas" pitchFamily="34" charset="-122"/>
                <a:cs typeface="Consolas" pitchFamily="34" charset="-120"/>
              </a:rPr>
              <a:t> 3, 'CRITIQUE', 2, 'ELEVE', 1, 'MOYEN', 'FAIBLE'</a:t>
            </a:r>
            <a:endParaRPr lang="en-US" sz="700" dirty="0"/>
          </a:p>
          <a:p>
            <a:r>
              <a:rPr lang="en-US" sz="700" dirty="0">
                <a:solidFill>
                  <a:srgbClr val="CBD5E1"/>
                </a:solidFill>
                <a:latin typeface="Consolas" pitchFamily="34" charset="0"/>
                <a:ea typeface="Consolas" pitchFamily="34" charset="-122"/>
                <a:cs typeface="Consolas" pitchFamily="34" charset="-120"/>
              </a:rPr>
              <a:t>    )                                          AS </a:t>
            </a:r>
            <a:r>
              <a:rPr lang="en-US" sz="700" dirty="0" err="1">
                <a:solidFill>
                  <a:srgbClr val="CBD5E1"/>
                </a:solidFill>
                <a:latin typeface="Consolas" pitchFamily="34" charset="0"/>
                <a:ea typeface="Consolas" pitchFamily="34" charset="-122"/>
                <a:cs typeface="Consolas" pitchFamily="34" charset="-120"/>
              </a:rPr>
              <a:t>categorie_risque</a:t>
            </a:r>
            <a:endParaRPr lang="en-US" sz="700" dirty="0"/>
          </a:p>
          <a:p>
            <a:r>
              <a:rPr lang="en-US" sz="700" dirty="0">
                <a:solidFill>
                  <a:srgbClr val="CBD5E1"/>
                </a:solidFill>
                <a:latin typeface="Consolas" pitchFamily="34" charset="0"/>
                <a:ea typeface="Consolas" pitchFamily="34" charset="-122"/>
                <a:cs typeface="Consolas" pitchFamily="34" charset="-120"/>
              </a:rPr>
              <a:t>FROM </a:t>
            </a:r>
            <a:r>
              <a:rPr lang="en-US" sz="700" dirty="0" err="1">
                <a:solidFill>
                  <a:srgbClr val="CBD5E1"/>
                </a:solidFill>
                <a:latin typeface="Consolas" pitchFamily="34" charset="0"/>
                <a:ea typeface="Consolas" pitchFamily="34" charset="-122"/>
                <a:cs typeface="Consolas" pitchFamily="34" charset="-120"/>
              </a:rPr>
              <a:t>Utilisateur</a:t>
            </a:r>
            <a:r>
              <a:rPr lang="en-US" sz="700" dirty="0">
                <a:solidFill>
                  <a:srgbClr val="CBD5E1"/>
                </a:solidFill>
                <a:latin typeface="Consolas" pitchFamily="34" charset="0"/>
                <a:ea typeface="Consolas" pitchFamily="34" charset="-122"/>
                <a:cs typeface="Consolas" pitchFamily="34" charset="-120"/>
              </a:rPr>
              <a:t> U</a:t>
            </a:r>
            <a:endParaRPr lang="en-US" sz="700" dirty="0"/>
          </a:p>
          <a:p>
            <a:r>
              <a:rPr lang="en-US" sz="700" dirty="0">
                <a:solidFill>
                  <a:srgbClr val="CBD5E1"/>
                </a:solidFill>
                <a:latin typeface="Consolas" pitchFamily="34" charset="0"/>
                <a:ea typeface="Consolas" pitchFamily="34" charset="-122"/>
                <a:cs typeface="Consolas" pitchFamily="34" charset="-120"/>
              </a:rPr>
              <a:t>LEFT JOIN </a:t>
            </a:r>
            <a:r>
              <a:rPr lang="en-US" sz="700" dirty="0" err="1">
                <a:solidFill>
                  <a:srgbClr val="CBD5E1"/>
                </a:solidFill>
                <a:latin typeface="Consolas" pitchFamily="34" charset="0"/>
                <a:ea typeface="Consolas" pitchFamily="34" charset="-122"/>
                <a:cs typeface="Consolas" pitchFamily="34" charset="-120"/>
              </a:rPr>
              <a:t>Connexion</a:t>
            </a:r>
            <a:r>
              <a:rPr lang="en-US" sz="700" dirty="0">
                <a:solidFill>
                  <a:srgbClr val="CBD5E1"/>
                </a:solidFill>
                <a:latin typeface="Consolas" pitchFamily="34" charset="0"/>
                <a:ea typeface="Consolas" pitchFamily="34" charset="-122"/>
                <a:cs typeface="Consolas" pitchFamily="34" charset="-120"/>
              </a:rPr>
              <a:t>            C  ON </a:t>
            </a:r>
            <a:r>
              <a:rPr lang="en-US" sz="700" dirty="0" err="1">
                <a:solidFill>
                  <a:srgbClr val="CBD5E1"/>
                </a:solidFill>
                <a:latin typeface="Consolas" pitchFamily="34" charset="0"/>
                <a:ea typeface="Consolas" pitchFamily="34" charset="-122"/>
                <a:cs typeface="Consolas" pitchFamily="34" charset="-120"/>
              </a:rPr>
              <a:t>C.id_utilisateur</a:t>
            </a:r>
            <a:r>
              <a:rPr lang="en-US" sz="700" dirty="0">
                <a:solidFill>
                  <a:srgbClr val="CBD5E1"/>
                </a:solidFill>
                <a:latin typeface="Consolas" pitchFamily="34" charset="0"/>
                <a:ea typeface="Consolas" pitchFamily="34" charset="-122"/>
                <a:cs typeface="Consolas" pitchFamily="34" charset="-120"/>
              </a:rPr>
              <a:t>  = </a:t>
            </a:r>
            <a:r>
              <a:rPr lang="en-US" sz="700" dirty="0" err="1">
                <a:solidFill>
                  <a:srgbClr val="CBD5E1"/>
                </a:solidFill>
                <a:latin typeface="Consolas" pitchFamily="34" charset="0"/>
                <a:ea typeface="Consolas" pitchFamily="34" charset="-122"/>
                <a:cs typeface="Consolas" pitchFamily="34" charset="-120"/>
              </a:rPr>
              <a:t>U.id_utilisateur</a:t>
            </a:r>
            <a:endParaRPr lang="en-US" sz="700" dirty="0"/>
          </a:p>
          <a:p>
            <a:r>
              <a:rPr lang="en-US" sz="700" dirty="0">
                <a:solidFill>
                  <a:srgbClr val="CBD5E1"/>
                </a:solidFill>
                <a:latin typeface="Consolas" pitchFamily="34" charset="0"/>
                <a:ea typeface="Consolas" pitchFamily="34" charset="-122"/>
                <a:cs typeface="Consolas" pitchFamily="34" charset="-120"/>
              </a:rPr>
              <a:t>LEFT JOIN </a:t>
            </a:r>
            <a:r>
              <a:rPr lang="en-US" sz="700" dirty="0" err="1">
                <a:solidFill>
                  <a:srgbClr val="CBD5E1"/>
                </a:solidFill>
                <a:latin typeface="Consolas" pitchFamily="34" charset="0"/>
                <a:ea typeface="Consolas" pitchFamily="34" charset="-122"/>
                <a:cs typeface="Consolas" pitchFamily="34" charset="-120"/>
              </a:rPr>
              <a:t>Connexion_Suspecte</a:t>
            </a:r>
            <a:r>
              <a:rPr lang="en-US" sz="700" dirty="0">
                <a:solidFill>
                  <a:srgbClr val="CBD5E1"/>
                </a:solidFill>
                <a:latin typeface="Consolas" pitchFamily="34" charset="0"/>
                <a:ea typeface="Consolas" pitchFamily="34" charset="-122"/>
                <a:cs typeface="Consolas" pitchFamily="34" charset="-120"/>
              </a:rPr>
              <a:t>   CS ON </a:t>
            </a:r>
            <a:r>
              <a:rPr lang="en-US" sz="700" dirty="0" err="1">
                <a:solidFill>
                  <a:srgbClr val="CBD5E1"/>
                </a:solidFill>
                <a:latin typeface="Consolas" pitchFamily="34" charset="0"/>
                <a:ea typeface="Consolas" pitchFamily="34" charset="-122"/>
                <a:cs typeface="Consolas" pitchFamily="34" charset="-120"/>
              </a:rPr>
              <a:t>CS.id_connexion</a:t>
            </a:r>
            <a:r>
              <a:rPr lang="en-US" sz="700" dirty="0">
                <a:solidFill>
                  <a:srgbClr val="CBD5E1"/>
                </a:solidFill>
                <a:latin typeface="Consolas" pitchFamily="34" charset="0"/>
                <a:ea typeface="Consolas" pitchFamily="34" charset="-122"/>
                <a:cs typeface="Consolas" pitchFamily="34" charset="-120"/>
              </a:rPr>
              <a:t>   = </a:t>
            </a:r>
            <a:r>
              <a:rPr lang="en-US" sz="700" dirty="0" err="1">
                <a:solidFill>
                  <a:srgbClr val="CBD5E1"/>
                </a:solidFill>
                <a:latin typeface="Consolas" pitchFamily="34" charset="0"/>
                <a:ea typeface="Consolas" pitchFamily="34" charset="-122"/>
                <a:cs typeface="Consolas" pitchFamily="34" charset="-120"/>
              </a:rPr>
              <a:t>C.id_connexion</a:t>
            </a:r>
            <a:endParaRPr lang="en-US" sz="700" dirty="0"/>
          </a:p>
          <a:p>
            <a:r>
              <a:rPr lang="en-US" sz="700" dirty="0">
                <a:solidFill>
                  <a:srgbClr val="CBD5E1"/>
                </a:solidFill>
                <a:latin typeface="Consolas" pitchFamily="34" charset="0"/>
                <a:ea typeface="Consolas" pitchFamily="34" charset="-122"/>
                <a:cs typeface="Consolas" pitchFamily="34" charset="-120"/>
              </a:rPr>
              <a:t>LEFT JOIN </a:t>
            </a:r>
            <a:r>
              <a:rPr lang="en-US" sz="700" dirty="0" err="1">
                <a:solidFill>
                  <a:srgbClr val="CBD5E1"/>
                </a:solidFill>
                <a:latin typeface="Consolas" pitchFamily="34" charset="0"/>
                <a:ea typeface="Consolas" pitchFamily="34" charset="-122"/>
                <a:cs typeface="Consolas" pitchFamily="34" charset="-120"/>
              </a:rPr>
              <a:t>Est_Titulaire</a:t>
            </a:r>
            <a:r>
              <a:rPr lang="en-US" sz="700" dirty="0">
                <a:solidFill>
                  <a:srgbClr val="CBD5E1"/>
                </a:solidFill>
                <a:latin typeface="Consolas" pitchFamily="34" charset="0"/>
                <a:ea typeface="Consolas" pitchFamily="34" charset="-122"/>
                <a:cs typeface="Consolas" pitchFamily="34" charset="-120"/>
              </a:rPr>
              <a:t>        ET ON </a:t>
            </a:r>
            <a:r>
              <a:rPr lang="en-US" sz="700" dirty="0" err="1">
                <a:solidFill>
                  <a:srgbClr val="CBD5E1"/>
                </a:solidFill>
                <a:latin typeface="Consolas" pitchFamily="34" charset="0"/>
                <a:ea typeface="Consolas" pitchFamily="34" charset="-122"/>
                <a:cs typeface="Consolas" pitchFamily="34" charset="-120"/>
              </a:rPr>
              <a:t>ET.id_utilisateur</a:t>
            </a:r>
            <a:r>
              <a:rPr lang="en-US" sz="700" dirty="0">
                <a:solidFill>
                  <a:srgbClr val="CBD5E1"/>
                </a:solidFill>
                <a:latin typeface="Consolas" pitchFamily="34" charset="0"/>
                <a:ea typeface="Consolas" pitchFamily="34" charset="-122"/>
                <a:cs typeface="Consolas" pitchFamily="34" charset="-120"/>
              </a:rPr>
              <a:t> = </a:t>
            </a:r>
            <a:r>
              <a:rPr lang="en-US" sz="700" dirty="0" err="1">
                <a:solidFill>
                  <a:srgbClr val="CBD5E1"/>
                </a:solidFill>
                <a:latin typeface="Consolas" pitchFamily="34" charset="0"/>
                <a:ea typeface="Consolas" pitchFamily="34" charset="-122"/>
                <a:cs typeface="Consolas" pitchFamily="34" charset="-120"/>
              </a:rPr>
              <a:t>U.id_utilisateur</a:t>
            </a:r>
            <a:endParaRPr lang="en-US" sz="700" dirty="0"/>
          </a:p>
          <a:p>
            <a:r>
              <a:rPr lang="en-US" sz="700" dirty="0">
                <a:solidFill>
                  <a:srgbClr val="CBD5E1"/>
                </a:solidFill>
                <a:latin typeface="Consolas" pitchFamily="34" charset="0"/>
                <a:ea typeface="Consolas" pitchFamily="34" charset="-122"/>
                <a:cs typeface="Consolas" pitchFamily="34" charset="-120"/>
              </a:rPr>
              <a:t>LEFT JOIN Transaction          T  ON </a:t>
            </a:r>
            <a:r>
              <a:rPr lang="en-US" sz="700" dirty="0" err="1">
                <a:solidFill>
                  <a:srgbClr val="CBD5E1"/>
                </a:solidFill>
                <a:latin typeface="Consolas" pitchFamily="34" charset="0"/>
                <a:ea typeface="Consolas" pitchFamily="34" charset="-122"/>
                <a:cs typeface="Consolas" pitchFamily="34" charset="-120"/>
              </a:rPr>
              <a:t>T.id_compte</a:t>
            </a:r>
            <a:r>
              <a:rPr lang="en-US" sz="700" dirty="0">
                <a:solidFill>
                  <a:srgbClr val="CBD5E1"/>
                </a:solidFill>
                <a:latin typeface="Consolas" pitchFamily="34" charset="0"/>
                <a:ea typeface="Consolas" pitchFamily="34" charset="-122"/>
                <a:cs typeface="Consolas" pitchFamily="34" charset="-120"/>
              </a:rPr>
              <a:t>       = </a:t>
            </a:r>
            <a:r>
              <a:rPr lang="en-US" sz="700" dirty="0" err="1">
                <a:solidFill>
                  <a:srgbClr val="CBD5E1"/>
                </a:solidFill>
                <a:latin typeface="Consolas" pitchFamily="34" charset="0"/>
                <a:ea typeface="Consolas" pitchFamily="34" charset="-122"/>
                <a:cs typeface="Consolas" pitchFamily="34" charset="-120"/>
              </a:rPr>
              <a:t>ET.id_compte</a:t>
            </a:r>
            <a:endParaRPr lang="en-US" sz="700" dirty="0"/>
          </a:p>
          <a:p>
            <a:r>
              <a:rPr lang="en-US" sz="700" dirty="0">
                <a:solidFill>
                  <a:srgbClr val="CBD5E1"/>
                </a:solidFill>
                <a:latin typeface="Consolas" pitchFamily="34" charset="0"/>
                <a:ea typeface="Consolas" pitchFamily="34" charset="-122"/>
                <a:cs typeface="Consolas" pitchFamily="34" charset="-120"/>
              </a:rPr>
              <a:t>LEFT JOIN </a:t>
            </a:r>
            <a:r>
              <a:rPr lang="en-US" sz="700" dirty="0" err="1">
                <a:solidFill>
                  <a:srgbClr val="CBD5E1"/>
                </a:solidFill>
                <a:latin typeface="Consolas" pitchFamily="34" charset="0"/>
                <a:ea typeface="Consolas" pitchFamily="34" charset="-122"/>
                <a:cs typeface="Consolas" pitchFamily="34" charset="-120"/>
              </a:rPr>
              <a:t>Transaction_Suspecte</a:t>
            </a:r>
            <a:r>
              <a:rPr lang="en-US" sz="700" dirty="0">
                <a:solidFill>
                  <a:srgbClr val="CBD5E1"/>
                </a:solidFill>
                <a:latin typeface="Consolas" pitchFamily="34" charset="0"/>
                <a:ea typeface="Consolas" pitchFamily="34" charset="-122"/>
                <a:cs typeface="Consolas" pitchFamily="34" charset="-120"/>
              </a:rPr>
              <a:t> TS ON </a:t>
            </a:r>
            <a:r>
              <a:rPr lang="en-US" sz="700" dirty="0" err="1">
                <a:solidFill>
                  <a:srgbClr val="CBD5E1"/>
                </a:solidFill>
                <a:latin typeface="Consolas" pitchFamily="34" charset="0"/>
                <a:ea typeface="Consolas" pitchFamily="34" charset="-122"/>
                <a:cs typeface="Consolas" pitchFamily="34" charset="-120"/>
              </a:rPr>
              <a:t>TS.id_transaction</a:t>
            </a:r>
            <a:r>
              <a:rPr lang="en-US" sz="700" dirty="0">
                <a:solidFill>
                  <a:srgbClr val="CBD5E1"/>
                </a:solidFill>
                <a:latin typeface="Consolas" pitchFamily="34" charset="0"/>
                <a:ea typeface="Consolas" pitchFamily="34" charset="-122"/>
                <a:cs typeface="Consolas" pitchFamily="34" charset="-120"/>
              </a:rPr>
              <a:t> = </a:t>
            </a:r>
            <a:r>
              <a:rPr lang="en-US" sz="700" dirty="0" err="1">
                <a:solidFill>
                  <a:srgbClr val="CBD5E1"/>
                </a:solidFill>
                <a:latin typeface="Consolas" pitchFamily="34" charset="0"/>
                <a:ea typeface="Consolas" pitchFamily="34" charset="-122"/>
                <a:cs typeface="Consolas" pitchFamily="34" charset="-120"/>
              </a:rPr>
              <a:t>T.id_transaction</a:t>
            </a:r>
            <a:endParaRPr lang="en-US" sz="700" dirty="0"/>
          </a:p>
          <a:p>
            <a:r>
              <a:rPr lang="en-US" sz="700" dirty="0">
                <a:solidFill>
                  <a:srgbClr val="CBD5E1"/>
                </a:solidFill>
                <a:latin typeface="Consolas" pitchFamily="34" charset="0"/>
                <a:ea typeface="Consolas" pitchFamily="34" charset="-122"/>
                <a:cs typeface="Consolas" pitchFamily="34" charset="-120"/>
              </a:rPr>
              <a:t>LEFT JOIN </a:t>
            </a:r>
            <a:r>
              <a:rPr lang="en-US" sz="700" dirty="0" err="1">
                <a:solidFill>
                  <a:srgbClr val="CBD5E1"/>
                </a:solidFill>
                <a:latin typeface="Consolas" pitchFamily="34" charset="0"/>
                <a:ea typeface="Consolas" pitchFamily="34" charset="-122"/>
                <a:cs typeface="Consolas" pitchFamily="34" charset="-120"/>
              </a:rPr>
              <a:t>Alerte</a:t>
            </a:r>
            <a:r>
              <a:rPr lang="en-US" sz="700" dirty="0">
                <a:solidFill>
                  <a:srgbClr val="CBD5E1"/>
                </a:solidFill>
                <a:latin typeface="Consolas" pitchFamily="34" charset="0"/>
                <a:ea typeface="Consolas" pitchFamily="34" charset="-122"/>
                <a:cs typeface="Consolas" pitchFamily="34" charset="-120"/>
              </a:rPr>
              <a:t>               AL ON </a:t>
            </a:r>
            <a:r>
              <a:rPr lang="en-US" sz="700" dirty="0" err="1">
                <a:solidFill>
                  <a:srgbClr val="CBD5E1"/>
                </a:solidFill>
                <a:latin typeface="Consolas" pitchFamily="34" charset="0"/>
                <a:ea typeface="Consolas" pitchFamily="34" charset="-122"/>
                <a:cs typeface="Consolas" pitchFamily="34" charset="-120"/>
              </a:rPr>
              <a:t>AL.id_transaction</a:t>
            </a:r>
            <a:r>
              <a:rPr lang="en-US" sz="700" dirty="0">
                <a:solidFill>
                  <a:srgbClr val="CBD5E1"/>
                </a:solidFill>
                <a:latin typeface="Consolas" pitchFamily="34" charset="0"/>
                <a:ea typeface="Consolas" pitchFamily="34" charset="-122"/>
                <a:cs typeface="Consolas" pitchFamily="34" charset="-120"/>
              </a:rPr>
              <a:t> = </a:t>
            </a:r>
            <a:r>
              <a:rPr lang="en-US" sz="700" dirty="0" err="1">
                <a:solidFill>
                  <a:srgbClr val="CBD5E1"/>
                </a:solidFill>
                <a:latin typeface="Consolas" pitchFamily="34" charset="0"/>
                <a:ea typeface="Consolas" pitchFamily="34" charset="-122"/>
                <a:cs typeface="Consolas" pitchFamily="34" charset="-120"/>
              </a:rPr>
              <a:t>T.id_transaction</a:t>
            </a:r>
            <a:endParaRPr lang="en-US" sz="700" dirty="0"/>
          </a:p>
          <a:p>
            <a:r>
              <a:rPr lang="en-US" sz="700" dirty="0">
                <a:solidFill>
                  <a:srgbClr val="CBD5E1"/>
                </a:solidFill>
                <a:latin typeface="Consolas" pitchFamily="34" charset="0"/>
                <a:ea typeface="Consolas" pitchFamily="34" charset="-122"/>
                <a:cs typeface="Consolas" pitchFamily="34" charset="-120"/>
              </a:rPr>
              <a:t>GROUP BY </a:t>
            </a:r>
            <a:r>
              <a:rPr lang="en-US" sz="700" dirty="0" err="1">
                <a:solidFill>
                  <a:srgbClr val="CBD5E1"/>
                </a:solidFill>
                <a:latin typeface="Consolas" pitchFamily="34" charset="0"/>
                <a:ea typeface="Consolas" pitchFamily="34" charset="-122"/>
                <a:cs typeface="Consolas" pitchFamily="34" charset="-120"/>
              </a:rPr>
              <a:t>U.id_utilisateur</a:t>
            </a:r>
            <a:r>
              <a:rPr lang="en-US" sz="700" dirty="0">
                <a:solidFill>
                  <a:srgbClr val="CBD5E1"/>
                </a:solidFill>
                <a:latin typeface="Consolas" pitchFamily="34" charset="0"/>
                <a:ea typeface="Consolas" pitchFamily="34" charset="-122"/>
                <a:cs typeface="Consolas" pitchFamily="34" charset="-120"/>
              </a:rPr>
              <a:t>, </a:t>
            </a:r>
            <a:r>
              <a:rPr lang="en-US" sz="700" dirty="0" err="1">
                <a:solidFill>
                  <a:srgbClr val="CBD5E1"/>
                </a:solidFill>
                <a:latin typeface="Consolas" pitchFamily="34" charset="0"/>
                <a:ea typeface="Consolas" pitchFamily="34" charset="-122"/>
                <a:cs typeface="Consolas" pitchFamily="34" charset="-120"/>
              </a:rPr>
              <a:t>U.nom</a:t>
            </a:r>
            <a:r>
              <a:rPr lang="en-US" sz="700" dirty="0">
                <a:solidFill>
                  <a:srgbClr val="CBD5E1"/>
                </a:solidFill>
                <a:latin typeface="Consolas" pitchFamily="34" charset="0"/>
                <a:ea typeface="Consolas" pitchFamily="34" charset="-122"/>
                <a:cs typeface="Consolas" pitchFamily="34" charset="-120"/>
              </a:rPr>
              <a:t>, </a:t>
            </a:r>
            <a:r>
              <a:rPr lang="en-US" sz="700" dirty="0" err="1">
                <a:solidFill>
                  <a:srgbClr val="CBD5E1"/>
                </a:solidFill>
                <a:latin typeface="Consolas" pitchFamily="34" charset="0"/>
                <a:ea typeface="Consolas" pitchFamily="34" charset="-122"/>
                <a:cs typeface="Consolas" pitchFamily="34" charset="-120"/>
              </a:rPr>
              <a:t>U.prenom</a:t>
            </a:r>
            <a:endParaRPr lang="en-US" sz="700" dirty="0"/>
          </a:p>
          <a:p>
            <a:r>
              <a:rPr lang="en-US" sz="700" dirty="0">
                <a:solidFill>
                  <a:srgbClr val="CBD5E1"/>
                </a:solidFill>
                <a:latin typeface="Consolas" pitchFamily="34" charset="0"/>
                <a:ea typeface="Consolas" pitchFamily="34" charset="-122"/>
                <a:cs typeface="Consolas" pitchFamily="34" charset="-120"/>
              </a:rPr>
              <a:t>ORDER BY </a:t>
            </a:r>
            <a:r>
              <a:rPr lang="en-US" sz="700" dirty="0" err="1">
                <a:solidFill>
                  <a:srgbClr val="CBD5E1"/>
                </a:solidFill>
                <a:latin typeface="Consolas" pitchFamily="34" charset="0"/>
                <a:ea typeface="Consolas" pitchFamily="34" charset="-122"/>
                <a:cs typeface="Consolas" pitchFamily="34" charset="-120"/>
              </a:rPr>
              <a:t>score_pondere</a:t>
            </a:r>
            <a:r>
              <a:rPr lang="en-US" sz="700" dirty="0">
                <a:solidFill>
                  <a:srgbClr val="CBD5E1"/>
                </a:solidFill>
                <a:latin typeface="Consolas" pitchFamily="34" charset="0"/>
                <a:ea typeface="Consolas" pitchFamily="34" charset="-122"/>
                <a:cs typeface="Consolas" pitchFamily="34" charset="-120"/>
              </a:rPr>
              <a:t> DESC</a:t>
            </a:r>
            <a:endParaRPr lang="en-US" sz="700" dirty="0"/>
          </a:p>
          <a:p>
            <a:r>
              <a:rPr lang="en-US" sz="700" dirty="0">
                <a:solidFill>
                  <a:srgbClr val="CBD5E1"/>
                </a:solidFill>
                <a:latin typeface="Consolas" pitchFamily="34" charset="0"/>
                <a:ea typeface="Consolas" pitchFamily="34" charset="-122"/>
                <a:cs typeface="Consolas" pitchFamily="34" charset="-120"/>
              </a:rPr>
              <a:t>FETCH FIRST 15 ROWS ONLY;</a:t>
            </a:r>
            <a:endParaRPr lang="en-US" sz="700" dirty="0"/>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name="Slide 45">
    <p:bg>
      <p:bgPr>
        <a:solidFill>
          <a:srgbClr val="F0F6FF"/>
        </a:solidFill>
        <a:effectLst/>
      </p:bgPr>
    </p:bg>
    <p:spTree>
      <p:nvGrpSpPr>
        <p:cNvPr id="1" name=""/>
        <p:cNvGrpSpPr/>
        <p:nvPr/>
      </p:nvGrpSpPr>
      <p:grpSpPr>
        <a:xfrm>
          <a:off x="0" y="0"/>
          <a:ext cx="0" cy="0"/>
          <a:chOff x="0" y="0"/>
          <a:chExt cx="0" cy="0"/>
        </a:xfrm>
      </p:grpSpPr>
      <p:sp>
        <p:nvSpPr>
          <p:cNvPr id="2" name="Shape 0"/>
          <p:cNvSpPr/>
          <p:nvPr/>
        </p:nvSpPr>
        <p:spPr>
          <a:xfrm>
            <a:off x="0" y="0"/>
            <a:ext cx="118872" cy="5143500"/>
          </a:xfrm>
          <a:prstGeom prst="rect">
            <a:avLst/>
          </a:prstGeom>
          <a:solidFill>
            <a:srgbClr val="0891B2"/>
          </a:solidFill>
          <a:ln w="12700">
            <a:solidFill>
              <a:srgbClr val="0891B2"/>
            </a:solidFill>
            <a:prstDash val="solid"/>
          </a:ln>
        </p:spPr>
      </p:sp>
      <p:sp>
        <p:nvSpPr>
          <p:cNvPr id="3" name="Shape 1"/>
          <p:cNvSpPr/>
          <p:nvPr/>
        </p:nvSpPr>
        <p:spPr>
          <a:xfrm>
            <a:off x="210312" y="91440"/>
            <a:ext cx="640080" cy="310896"/>
          </a:xfrm>
          <a:prstGeom prst="rect">
            <a:avLst/>
          </a:prstGeom>
          <a:solidFill>
            <a:srgbClr val="0891B2"/>
          </a:solidFill>
          <a:ln w="12700">
            <a:solidFill>
              <a:srgbClr val="0891B2"/>
            </a:solidFill>
            <a:prstDash val="solid"/>
          </a:ln>
        </p:spPr>
      </p:sp>
      <p:sp>
        <p:nvSpPr>
          <p:cNvPr id="4" name="Text 2"/>
          <p:cNvSpPr/>
          <p:nvPr/>
        </p:nvSpPr>
        <p:spPr>
          <a:xfrm>
            <a:off x="210312" y="91440"/>
            <a:ext cx="640080"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R37</a:t>
            </a:r>
          </a:p>
        </p:txBody>
      </p:sp>
      <p:sp>
        <p:nvSpPr>
          <p:cNvPr id="5" name="Text 3"/>
          <p:cNvSpPr/>
          <p:nvPr/>
        </p:nvSpPr>
        <p:spPr>
          <a:xfrm>
            <a:off x="932688" y="91440"/>
            <a:ext cx="6583680" cy="310896"/>
          </a:xfrm>
          <a:prstGeom prst="rect">
            <a:avLst/>
          </a:prstGeom>
          <a:noFill/>
          <a:ln/>
        </p:spPr>
        <p:txBody>
          <a:bodyPr wrap="square" rtlCol="0" anchor="ctr"/>
          <a:lstStyle/>
          <a:p>
            <a:pPr marL="0" indent="0">
              <a:buNone/>
            </a:pPr>
            <a:r>
              <a:rPr lang="en-US" sz="1350" b="1" dirty="0">
                <a:solidFill>
                  <a:srgbClr val="1E293B"/>
                </a:solidFill>
                <a:latin typeface="Calibri" pitchFamily="34" charset="0"/>
                <a:ea typeface="Calibri" pitchFamily="34" charset="-122"/>
                <a:cs typeface="Calibri" pitchFamily="34" charset="-120"/>
              </a:rPr>
              <a:t>DETECTION DE FRAUDE — Chaine de virements en cascade (CTE recursive)</a:t>
            </a:r>
          </a:p>
        </p:txBody>
      </p:sp>
      <p:sp>
        <p:nvSpPr>
          <p:cNvPr id="6" name="Text 4"/>
          <p:cNvSpPr/>
          <p:nvPr/>
        </p:nvSpPr>
        <p:spPr>
          <a:xfrm>
            <a:off x="210312" y="429768"/>
            <a:ext cx="8732520" cy="246888"/>
          </a:xfrm>
          <a:prstGeom prst="rect">
            <a:avLst/>
          </a:prstGeom>
          <a:noFill/>
          <a:ln/>
        </p:spPr>
        <p:txBody>
          <a:bodyPr wrap="square" rtlCol="0" anchor="ctr"/>
          <a:lstStyle/>
          <a:p>
            <a:pPr marL="0" indent="0">
              <a:buNone/>
            </a:pPr>
            <a:r>
              <a:rPr lang="en-US" sz="1000" i="1" dirty="0">
                <a:solidFill>
                  <a:srgbClr val="475569"/>
                </a:solidFill>
                <a:latin typeface="Calibri" pitchFamily="34" charset="0"/>
                <a:ea typeface="Calibri" pitchFamily="34" charset="-122"/>
                <a:cs typeface="Calibri" pitchFamily="34" charset="-120"/>
              </a:rPr>
              <a:t>Tracer une chaîne de virements depuis un compte fraudeur jusqu'à 3 niveaux de profondeur pour cartographier le blanchiment</a:t>
            </a:r>
          </a:p>
        </p:txBody>
      </p:sp>
      <p:sp>
        <p:nvSpPr>
          <p:cNvPr id="7" name="Shape 5"/>
          <p:cNvSpPr/>
          <p:nvPr/>
        </p:nvSpPr>
        <p:spPr>
          <a:xfrm>
            <a:off x="210312" y="704088"/>
            <a:ext cx="8732520" cy="2591562"/>
          </a:xfrm>
          <a:prstGeom prst="rect">
            <a:avLst/>
          </a:prstGeom>
          <a:solidFill>
            <a:srgbClr val="0F1E2E"/>
          </a:solidFill>
          <a:ln w="6350">
            <a:solidFill>
              <a:srgbClr val="1E3A5F"/>
            </a:solidFill>
            <a:prstDash val="solid"/>
          </a:ln>
        </p:spPr>
      </p:sp>
      <p:sp>
        <p:nvSpPr>
          <p:cNvPr id="8" name="Text 6"/>
          <p:cNvSpPr/>
          <p:nvPr/>
        </p:nvSpPr>
        <p:spPr>
          <a:xfrm>
            <a:off x="292608" y="731520"/>
            <a:ext cx="8549640" cy="4025000"/>
          </a:xfrm>
          <a:prstGeom prst="rect">
            <a:avLst/>
          </a:prstGeom>
          <a:noFill/>
          <a:ln/>
        </p:spPr>
        <p:txBody>
          <a:bodyPr wrap="square" lIns="38100" tIns="38100" rIns="38100" bIns="38100" rtlCol="0" anchor="t"/>
          <a:lstStyle/>
          <a:p>
            <a:pPr marL="0" indent="0">
              <a:buNone/>
            </a:pPr>
            <a:r>
              <a:rPr lang="en-US" sz="700" dirty="0" smtClean="0">
                <a:solidFill>
                  <a:srgbClr val="CBD5E1"/>
                </a:solidFill>
                <a:latin typeface="Consolas" pitchFamily="34" charset="0"/>
                <a:ea typeface="Consolas" pitchFamily="34" charset="-122"/>
                <a:cs typeface="Consolas" pitchFamily="34" charset="-120"/>
              </a:rPr>
              <a:t>WITH </a:t>
            </a:r>
            <a:r>
              <a:rPr lang="en-US" sz="700" dirty="0" err="1" smtClean="0">
                <a:solidFill>
                  <a:srgbClr val="CBD5E1"/>
                </a:solidFill>
                <a:latin typeface="Consolas" pitchFamily="34" charset="0"/>
                <a:ea typeface="Consolas" pitchFamily="34" charset="-122"/>
                <a:cs typeface="Consolas" pitchFamily="34" charset="-120"/>
              </a:rPr>
              <a:t>chaine</a:t>
            </a:r>
            <a:r>
              <a:rPr lang="en-US" sz="700" dirty="0" smtClean="0">
                <a:solidFill>
                  <a:srgbClr val="CBD5E1"/>
                </a:solidFill>
                <a:latin typeface="Consolas" pitchFamily="34" charset="0"/>
                <a:ea typeface="Consolas" pitchFamily="34" charset="-122"/>
                <a:cs typeface="Consolas" pitchFamily="34" charset="-120"/>
              </a:rPr>
              <a:t> AS (                                                                                 </a:t>
            </a:r>
            <a:endParaRPr lang="en-US" sz="700" dirty="0" smtClean="0"/>
          </a:p>
          <a:p>
            <a:pPr marL="0" indent="0">
              <a:buNone/>
            </a:pPr>
            <a:r>
              <a:rPr lang="en-US" sz="700" dirty="0" smtClean="0">
                <a:solidFill>
                  <a:srgbClr val="CBD5E1"/>
                </a:solidFill>
                <a:latin typeface="Consolas" pitchFamily="34" charset="0"/>
                <a:ea typeface="Consolas" pitchFamily="34" charset="-122"/>
                <a:cs typeface="Consolas" pitchFamily="34" charset="-120"/>
              </a:rPr>
              <a:t>    </a:t>
            </a:r>
            <a:r>
              <a:rPr lang="en-US" sz="700" dirty="0">
                <a:solidFill>
                  <a:srgbClr val="CBD5E1"/>
                </a:solidFill>
                <a:latin typeface="Consolas" pitchFamily="34" charset="0"/>
                <a:ea typeface="Consolas" pitchFamily="34" charset="-122"/>
                <a:cs typeface="Consolas" pitchFamily="34" charset="-120"/>
              </a:rPr>
              <a:t>-- Niveau 0 : compte fraudeur source</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    SELECT</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        T.id_compte                             AS compte_emetteur,</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        T.id_compte_dest                        AS compte_receveur,</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        T.montant,</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        T.date_heure,</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        1                                       AS niveau,</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        CAST(T.id_compte AS VARCHAR2(200)) || '-&gt;' ||</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        CAST(T.id_compte_dest AS VARCHAR2(200)) AS chemin</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    FROM Transaction T</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    WHERE T.id_compte = 1001</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      AND T.type_operation = 'VIREMENT'</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    UNION ALL</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    -- Niveaux suivants : chaque receveur devient emetteur</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    SELECT</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        T2.id_compte,</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        T2.id_compte_dest,</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        T2.montant,</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        T2.date_heure,</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        CH.niveau + 1,</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        CH.chemin || '-&gt;' || CAST(T2.id_compte_dest AS VARCHAR2(200))</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    FROM Transaction T2</a:t>
            </a:r>
            <a:endParaRPr lang="en-US" sz="700" dirty="0"/>
          </a:p>
          <a:p>
            <a:pPr marL="0" indent="0">
              <a:buNone/>
            </a:pPr>
            <a:r>
              <a:rPr lang="en-US" sz="700" dirty="0">
                <a:solidFill>
                  <a:srgbClr val="CBD5E1"/>
                </a:solidFill>
                <a:latin typeface="Consolas" pitchFamily="34" charset="0"/>
                <a:ea typeface="Consolas" pitchFamily="34" charset="-122"/>
                <a:cs typeface="Consolas" pitchFamily="34" charset="-120"/>
              </a:rPr>
              <a:t>    </a:t>
            </a:r>
            <a:endParaRPr lang="en-US" sz="700" dirty="0"/>
          </a:p>
        </p:txBody>
      </p:sp>
      <p:sp>
        <p:nvSpPr>
          <p:cNvPr id="9" name="Text 7"/>
          <p:cNvSpPr/>
          <p:nvPr/>
        </p:nvSpPr>
        <p:spPr>
          <a:xfrm>
            <a:off x="118872" y="3352520"/>
            <a:ext cx="3657600" cy="201168"/>
          </a:xfrm>
          <a:prstGeom prst="rect">
            <a:avLst/>
          </a:prstGeom>
          <a:noFill/>
          <a:ln/>
        </p:spPr>
        <p:txBody>
          <a:bodyPr wrap="square" rtlCol="0" anchor="ctr"/>
          <a:lstStyle/>
          <a:p>
            <a:pPr marL="0" indent="0">
              <a:buNone/>
            </a:pPr>
            <a:r>
              <a:rPr lang="en-US" sz="850" b="1" dirty="0">
                <a:solidFill>
                  <a:srgbClr val="0891B2"/>
                </a:solidFill>
                <a:latin typeface="Calibri" pitchFamily="34" charset="0"/>
                <a:ea typeface="Calibri" pitchFamily="34" charset="-122"/>
                <a:cs typeface="Calibri" pitchFamily="34" charset="-120"/>
              </a:rPr>
              <a:t>►  </a:t>
            </a:r>
            <a:r>
              <a:rPr lang="en-US" sz="850" b="1" dirty="0" err="1">
                <a:solidFill>
                  <a:srgbClr val="0891B2"/>
                </a:solidFill>
                <a:latin typeface="Calibri" pitchFamily="34" charset="0"/>
                <a:ea typeface="Calibri" pitchFamily="34" charset="-122"/>
                <a:cs typeface="Calibri" pitchFamily="34" charset="-120"/>
              </a:rPr>
              <a:t>Résultats :</a:t>
            </a:r>
          </a:p>
        </p:txBody>
      </p:sp>
      <p:graphicFrame>
        <p:nvGraphicFramePr>
          <p:cNvPr id="10" name="Table 0"/>
          <p:cNvGraphicFramePr>
            <a:graphicFrameLocks noGrp="1"/>
          </p:cNvGraphicFramePr>
          <p:nvPr>
            <p:extLst>
              <p:ext uri="{D42A27DB-BD31-4B8C-83A1-F6EECF244321}">
                <p14:modId xmlns:p14="http://schemas.microsoft.com/office/powerpoint/2010/main" val="1326811733"/>
              </p:ext>
            </p:extLst>
          </p:nvPr>
        </p:nvGraphicFramePr>
        <p:xfrm>
          <a:off x="210312" y="3553688"/>
          <a:ext cx="8732520" cy="1481328"/>
        </p:xfrm>
        <a:graphic>
          <a:graphicData uri="http://schemas.openxmlformats.org/drawingml/2006/table">
            <a:tbl>
              <a:tblPr/>
              <a:tblGrid>
                <a:gridCol w="1455420"/>
                <a:gridCol w="1455420"/>
                <a:gridCol w="1455420"/>
                <a:gridCol w="1455420"/>
                <a:gridCol w="1455420"/>
                <a:gridCol w="1455420"/>
              </a:tblGrid>
              <a:tr h="246888">
                <a:tc>
                  <a:txBody>
                    <a:bodyPr/>
                    <a:lstStyle/>
                    <a:p>
                      <a:pPr marL="0" indent="0" algn="ctr">
                        <a:buNone/>
                      </a:pPr>
                      <a:r>
                        <a:rPr lang="en-US" sz="800" b="1" dirty="0">
                          <a:solidFill>
                            <a:srgbClr val="FFFFFF"/>
                          </a:solidFill>
                          <a:latin typeface="Calibri" pitchFamily="34" charset="0"/>
                          <a:ea typeface="Calibri" pitchFamily="34" charset="-122"/>
                          <a:cs typeface="Calibri" pitchFamily="34" charset="-120"/>
                        </a:rPr>
                        <a:t>NIVEAU</a:t>
                      </a:r>
                      <a:endParaRPr lang="en-US" sz="8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B1628"/>
                    </a:solidFill>
                  </a:tcPr>
                </a:tc>
                <a:tc>
                  <a:txBody>
                    <a:bodyPr/>
                    <a:lstStyle/>
                    <a:p>
                      <a:pPr marL="0" indent="0" algn="ctr">
                        <a:buNone/>
                      </a:pPr>
                      <a:r>
                        <a:rPr lang="en-US" sz="800" b="1" dirty="0">
                          <a:solidFill>
                            <a:srgbClr val="FFFFFF"/>
                          </a:solidFill>
                          <a:latin typeface="Calibri" pitchFamily="34" charset="0"/>
                          <a:ea typeface="Calibri" pitchFamily="34" charset="-122"/>
                          <a:cs typeface="Calibri" pitchFamily="34" charset="-120"/>
                        </a:rPr>
                        <a:t>EMETTEUR</a:t>
                      </a:r>
                      <a:endParaRPr lang="en-US" sz="8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B1628"/>
                    </a:solidFill>
                  </a:tcPr>
                </a:tc>
                <a:tc>
                  <a:txBody>
                    <a:bodyPr/>
                    <a:lstStyle/>
                    <a:p>
                      <a:pPr marL="0" indent="0" algn="ctr">
                        <a:buNone/>
                      </a:pPr>
                      <a:r>
                        <a:rPr lang="en-US" sz="800" b="1" dirty="0">
                          <a:solidFill>
                            <a:srgbClr val="FFFFFF"/>
                          </a:solidFill>
                          <a:latin typeface="Calibri" pitchFamily="34" charset="0"/>
                          <a:ea typeface="Calibri" pitchFamily="34" charset="-122"/>
                          <a:cs typeface="Calibri" pitchFamily="34" charset="-120"/>
                        </a:rPr>
                        <a:t>RECEVEUR</a:t>
                      </a:r>
                      <a:endParaRPr lang="en-US" sz="8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B1628"/>
                    </a:solidFill>
                  </a:tcPr>
                </a:tc>
                <a:tc>
                  <a:txBody>
                    <a:bodyPr/>
                    <a:lstStyle/>
                    <a:p>
                      <a:pPr marL="0" indent="0" algn="ctr">
                        <a:buNone/>
                      </a:pPr>
                      <a:r>
                        <a:rPr lang="en-US" sz="800" b="1" dirty="0">
                          <a:solidFill>
                            <a:srgbClr val="FFFFFF"/>
                          </a:solidFill>
                          <a:latin typeface="Calibri" pitchFamily="34" charset="0"/>
                          <a:ea typeface="Calibri" pitchFamily="34" charset="-122"/>
                          <a:cs typeface="Calibri" pitchFamily="34" charset="-120"/>
                        </a:rPr>
                        <a:t>MONTANT</a:t>
                      </a:r>
                      <a:endParaRPr lang="en-US" sz="8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B1628"/>
                    </a:solidFill>
                  </a:tcPr>
                </a:tc>
                <a:tc>
                  <a:txBody>
                    <a:bodyPr/>
                    <a:lstStyle/>
                    <a:p>
                      <a:pPr marL="0" indent="0" algn="ctr">
                        <a:buNone/>
                      </a:pPr>
                      <a:r>
                        <a:rPr lang="en-US" sz="800" b="1" dirty="0">
                          <a:solidFill>
                            <a:srgbClr val="FFFFFF"/>
                          </a:solidFill>
                          <a:latin typeface="Calibri" pitchFamily="34" charset="0"/>
                          <a:ea typeface="Calibri" pitchFamily="34" charset="-122"/>
                          <a:cs typeface="Calibri" pitchFamily="34" charset="-120"/>
                        </a:rPr>
                        <a:t>DATE_HEURE</a:t>
                      </a:r>
                      <a:endParaRPr lang="en-US" sz="8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B1628"/>
                    </a:solidFill>
                  </a:tcPr>
                </a:tc>
                <a:tc>
                  <a:txBody>
                    <a:bodyPr/>
                    <a:lstStyle/>
                    <a:p>
                      <a:pPr marL="0" indent="0" algn="ctr">
                        <a:buNone/>
                      </a:pPr>
                      <a:r>
                        <a:rPr lang="en-US" sz="800" b="1" dirty="0">
                          <a:solidFill>
                            <a:srgbClr val="FFFFFF"/>
                          </a:solidFill>
                          <a:latin typeface="Calibri" pitchFamily="34" charset="0"/>
                          <a:ea typeface="Calibri" pitchFamily="34" charset="-122"/>
                          <a:cs typeface="Calibri" pitchFamily="34" charset="-120"/>
                        </a:rPr>
                        <a:t>CHEMIN</a:t>
                      </a:r>
                      <a:endParaRPr lang="en-US" sz="8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B1628"/>
                    </a:solidFill>
                  </a:tcPr>
                </a:tc>
              </a:tr>
              <a:tr h="246888">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1</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1001</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2007</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500</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10/04 14:20</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1001-&gt;2007</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246888">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1</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1001</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2013</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350</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11/04 09:05</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1001-&gt;2013</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r>
              <a:tr h="246888">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2</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2007</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2019</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480</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10/04 20:00</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1001-&gt;2007-&gt;2019</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246888">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2</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2013</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2031</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320</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11/04 18:30</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1001-&gt;2013-&gt;2031</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r>
              <a:tr h="246888">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3</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2019</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2045</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460</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11/04 02:15</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750" dirty="0">
                          <a:solidFill>
                            <a:srgbClr val="1E293B"/>
                          </a:solidFill>
                          <a:latin typeface="Calibri" pitchFamily="34" charset="0"/>
                          <a:ea typeface="Calibri" pitchFamily="34" charset="-122"/>
                          <a:cs typeface="Calibri" pitchFamily="34" charset="-120"/>
                        </a:rPr>
                        <a:t>1001-&gt;2007-&gt;2019-&gt;2045</a:t>
                      </a:r>
                      <a:endParaRPr lang="en-US" sz="7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bl>
          </a:graphicData>
        </a:graphic>
      </p:graphicFrame>
      <p:sp>
        <p:nvSpPr>
          <p:cNvPr id="11" name="TextBox 10"/>
          <p:cNvSpPr txBox="1"/>
          <p:nvPr/>
        </p:nvSpPr>
        <p:spPr>
          <a:xfrm>
            <a:off x="4328922" y="733798"/>
            <a:ext cx="3929975" cy="1985159"/>
          </a:xfrm>
          <a:prstGeom prst="rect">
            <a:avLst/>
          </a:prstGeom>
          <a:noFill/>
        </p:spPr>
        <p:txBody>
          <a:bodyPr wrap="square" rtlCol="0">
            <a:spAutoFit/>
          </a:bodyPr>
          <a:lstStyle/>
          <a:p>
            <a:r>
              <a:rPr lang="en-US" sz="700" dirty="0">
                <a:solidFill>
                  <a:srgbClr val="CBD5E1"/>
                </a:solidFill>
                <a:latin typeface="Consolas" pitchFamily="34" charset="0"/>
                <a:ea typeface="Consolas" pitchFamily="34" charset="-122"/>
                <a:cs typeface="Consolas" pitchFamily="34" charset="-120"/>
              </a:rPr>
              <a:t>JOIN </a:t>
            </a:r>
            <a:r>
              <a:rPr lang="en-US" sz="700" dirty="0" err="1">
                <a:solidFill>
                  <a:srgbClr val="CBD5E1"/>
                </a:solidFill>
                <a:latin typeface="Consolas" pitchFamily="34" charset="0"/>
                <a:ea typeface="Consolas" pitchFamily="34" charset="-122"/>
                <a:cs typeface="Consolas" pitchFamily="34" charset="-120"/>
              </a:rPr>
              <a:t>chaine</a:t>
            </a:r>
            <a:r>
              <a:rPr lang="en-US" sz="700" dirty="0">
                <a:solidFill>
                  <a:srgbClr val="CBD5E1"/>
                </a:solidFill>
                <a:latin typeface="Consolas" pitchFamily="34" charset="0"/>
                <a:ea typeface="Consolas" pitchFamily="34" charset="-122"/>
                <a:cs typeface="Consolas" pitchFamily="34" charset="-120"/>
              </a:rPr>
              <a:t> CH ON </a:t>
            </a:r>
            <a:r>
              <a:rPr lang="en-US" sz="700" dirty="0" err="1">
                <a:solidFill>
                  <a:srgbClr val="CBD5E1"/>
                </a:solidFill>
                <a:latin typeface="Consolas" pitchFamily="34" charset="0"/>
                <a:ea typeface="Consolas" pitchFamily="34" charset="-122"/>
                <a:cs typeface="Consolas" pitchFamily="34" charset="-120"/>
              </a:rPr>
              <a:t>CH.compte_receveur</a:t>
            </a:r>
            <a:r>
              <a:rPr lang="en-US" sz="700" dirty="0">
                <a:solidFill>
                  <a:srgbClr val="CBD5E1"/>
                </a:solidFill>
                <a:latin typeface="Consolas" pitchFamily="34" charset="0"/>
                <a:ea typeface="Consolas" pitchFamily="34" charset="-122"/>
                <a:cs typeface="Consolas" pitchFamily="34" charset="-120"/>
              </a:rPr>
              <a:t> = T2.id_compte</a:t>
            </a:r>
            <a:endParaRPr lang="en-US" sz="700" dirty="0"/>
          </a:p>
          <a:p>
            <a:r>
              <a:rPr lang="en-US" sz="700" dirty="0">
                <a:solidFill>
                  <a:srgbClr val="CBD5E1"/>
                </a:solidFill>
                <a:latin typeface="Consolas" pitchFamily="34" charset="0"/>
                <a:ea typeface="Consolas" pitchFamily="34" charset="-122"/>
                <a:cs typeface="Consolas" pitchFamily="34" charset="-120"/>
              </a:rPr>
              <a:t>    WHERE T2.type_operation = 'VIREMENT'</a:t>
            </a:r>
            <a:endParaRPr lang="en-US" sz="700" dirty="0"/>
          </a:p>
          <a:p>
            <a:r>
              <a:rPr lang="en-US" sz="700" dirty="0">
                <a:solidFill>
                  <a:srgbClr val="CBD5E1"/>
                </a:solidFill>
                <a:latin typeface="Consolas" pitchFamily="34" charset="0"/>
                <a:ea typeface="Consolas" pitchFamily="34" charset="-122"/>
                <a:cs typeface="Consolas" pitchFamily="34" charset="-120"/>
              </a:rPr>
              <a:t>      AND </a:t>
            </a:r>
            <a:r>
              <a:rPr lang="en-US" sz="700" dirty="0" err="1">
                <a:solidFill>
                  <a:srgbClr val="CBD5E1"/>
                </a:solidFill>
                <a:latin typeface="Consolas" pitchFamily="34" charset="0"/>
                <a:ea typeface="Consolas" pitchFamily="34" charset="-122"/>
                <a:cs typeface="Consolas" pitchFamily="34" charset="-120"/>
              </a:rPr>
              <a:t>CH.niveau</a:t>
            </a:r>
            <a:r>
              <a:rPr lang="en-US" sz="700" dirty="0">
                <a:solidFill>
                  <a:srgbClr val="CBD5E1"/>
                </a:solidFill>
                <a:latin typeface="Consolas" pitchFamily="34" charset="0"/>
                <a:ea typeface="Consolas" pitchFamily="34" charset="-122"/>
                <a:cs typeface="Consolas" pitchFamily="34" charset="-120"/>
              </a:rPr>
              <a:t> &lt; 3</a:t>
            </a:r>
            <a:endParaRPr lang="en-US" sz="700" dirty="0"/>
          </a:p>
          <a:p>
            <a:r>
              <a:rPr lang="en-US" sz="700" dirty="0">
                <a:solidFill>
                  <a:srgbClr val="CBD5E1"/>
                </a:solidFill>
                <a:latin typeface="Consolas" pitchFamily="34" charset="0"/>
                <a:ea typeface="Consolas" pitchFamily="34" charset="-122"/>
                <a:cs typeface="Consolas" pitchFamily="34" charset="-120"/>
              </a:rPr>
              <a:t>      AND </a:t>
            </a:r>
            <a:r>
              <a:rPr lang="en-US" sz="700" dirty="0" err="1">
                <a:solidFill>
                  <a:srgbClr val="CBD5E1"/>
                </a:solidFill>
                <a:latin typeface="Consolas" pitchFamily="34" charset="0"/>
                <a:ea typeface="Consolas" pitchFamily="34" charset="-122"/>
                <a:cs typeface="Consolas" pitchFamily="34" charset="-120"/>
              </a:rPr>
              <a:t>CH.chemin</a:t>
            </a:r>
            <a:r>
              <a:rPr lang="en-US" sz="700" dirty="0">
                <a:solidFill>
                  <a:srgbClr val="CBD5E1"/>
                </a:solidFill>
                <a:latin typeface="Consolas" pitchFamily="34" charset="0"/>
                <a:ea typeface="Consolas" pitchFamily="34" charset="-122"/>
                <a:cs typeface="Consolas" pitchFamily="34" charset="-120"/>
              </a:rPr>
              <a:t> NOT LIKE '%' || CAST(T2.id_compte_dest AS VARCHAR2(200)) || '%'</a:t>
            </a:r>
            <a:endParaRPr lang="en-US" sz="700" dirty="0"/>
          </a:p>
          <a:p>
            <a:r>
              <a:rPr lang="en-US" sz="700" dirty="0">
                <a:solidFill>
                  <a:srgbClr val="CBD5E1"/>
                </a:solidFill>
                <a:latin typeface="Consolas" pitchFamily="34" charset="0"/>
                <a:ea typeface="Consolas" pitchFamily="34" charset="-122"/>
                <a:cs typeface="Consolas" pitchFamily="34" charset="-120"/>
              </a:rPr>
              <a:t>)</a:t>
            </a:r>
            <a:endParaRPr lang="en-US" sz="700" dirty="0"/>
          </a:p>
          <a:p>
            <a:r>
              <a:rPr lang="en-US" sz="700" dirty="0">
                <a:solidFill>
                  <a:srgbClr val="CBD5E1"/>
                </a:solidFill>
                <a:latin typeface="Consolas" pitchFamily="34" charset="0"/>
                <a:ea typeface="Consolas" pitchFamily="34" charset="-122"/>
                <a:cs typeface="Consolas" pitchFamily="34" charset="-120"/>
              </a:rPr>
              <a:t>SELECT</a:t>
            </a:r>
            <a:endParaRPr lang="en-US" sz="700" dirty="0"/>
          </a:p>
          <a:p>
            <a:r>
              <a:rPr lang="en-US" sz="700" dirty="0">
                <a:solidFill>
                  <a:srgbClr val="CBD5E1"/>
                </a:solidFill>
                <a:latin typeface="Consolas" pitchFamily="34" charset="0"/>
                <a:ea typeface="Consolas" pitchFamily="34" charset="-122"/>
                <a:cs typeface="Consolas" pitchFamily="34" charset="-120"/>
              </a:rPr>
              <a:t>    </a:t>
            </a:r>
            <a:r>
              <a:rPr lang="en-US" sz="700" dirty="0" err="1">
                <a:solidFill>
                  <a:srgbClr val="CBD5E1"/>
                </a:solidFill>
                <a:latin typeface="Consolas" pitchFamily="34" charset="0"/>
                <a:ea typeface="Consolas" pitchFamily="34" charset="-122"/>
                <a:cs typeface="Consolas" pitchFamily="34" charset="-120"/>
              </a:rPr>
              <a:t>niveau</a:t>
            </a:r>
            <a:r>
              <a:rPr lang="en-US" sz="700" dirty="0">
                <a:solidFill>
                  <a:srgbClr val="CBD5E1"/>
                </a:solidFill>
                <a:latin typeface="Consolas" pitchFamily="34" charset="0"/>
                <a:ea typeface="Consolas" pitchFamily="34" charset="-122"/>
                <a:cs typeface="Consolas" pitchFamily="34" charset="-120"/>
              </a:rPr>
              <a:t>,</a:t>
            </a:r>
            <a:endParaRPr lang="en-US" sz="700" dirty="0"/>
          </a:p>
          <a:p>
            <a:r>
              <a:rPr lang="en-US" sz="700" dirty="0">
                <a:solidFill>
                  <a:srgbClr val="CBD5E1"/>
                </a:solidFill>
                <a:latin typeface="Consolas" pitchFamily="34" charset="0"/>
                <a:ea typeface="Consolas" pitchFamily="34" charset="-122"/>
                <a:cs typeface="Consolas" pitchFamily="34" charset="-120"/>
              </a:rPr>
              <a:t>    </a:t>
            </a:r>
            <a:r>
              <a:rPr lang="en-US" sz="700" dirty="0" err="1">
                <a:solidFill>
                  <a:srgbClr val="CBD5E1"/>
                </a:solidFill>
                <a:latin typeface="Consolas" pitchFamily="34" charset="0"/>
                <a:ea typeface="Consolas" pitchFamily="34" charset="-122"/>
                <a:cs typeface="Consolas" pitchFamily="34" charset="-120"/>
              </a:rPr>
              <a:t>compte_emetteur</a:t>
            </a:r>
            <a:r>
              <a:rPr lang="en-US" sz="700" dirty="0">
                <a:solidFill>
                  <a:srgbClr val="CBD5E1"/>
                </a:solidFill>
                <a:latin typeface="Consolas" pitchFamily="34" charset="0"/>
                <a:ea typeface="Consolas" pitchFamily="34" charset="-122"/>
                <a:cs typeface="Consolas" pitchFamily="34" charset="-120"/>
              </a:rPr>
              <a:t>,</a:t>
            </a:r>
            <a:endParaRPr lang="en-US" sz="700" dirty="0"/>
          </a:p>
          <a:p>
            <a:r>
              <a:rPr lang="en-US" sz="700" dirty="0">
                <a:solidFill>
                  <a:srgbClr val="CBD5E1"/>
                </a:solidFill>
                <a:latin typeface="Consolas" pitchFamily="34" charset="0"/>
                <a:ea typeface="Consolas" pitchFamily="34" charset="-122"/>
                <a:cs typeface="Consolas" pitchFamily="34" charset="-120"/>
              </a:rPr>
              <a:t>    </a:t>
            </a:r>
            <a:r>
              <a:rPr lang="en-US" sz="700" dirty="0" err="1">
                <a:solidFill>
                  <a:srgbClr val="CBD5E1"/>
                </a:solidFill>
                <a:latin typeface="Consolas" pitchFamily="34" charset="0"/>
                <a:ea typeface="Consolas" pitchFamily="34" charset="-122"/>
                <a:cs typeface="Consolas" pitchFamily="34" charset="-120"/>
              </a:rPr>
              <a:t>compte_receveur</a:t>
            </a:r>
            <a:r>
              <a:rPr lang="en-US" sz="700" dirty="0">
                <a:solidFill>
                  <a:srgbClr val="CBD5E1"/>
                </a:solidFill>
                <a:latin typeface="Consolas" pitchFamily="34" charset="0"/>
                <a:ea typeface="Consolas" pitchFamily="34" charset="-122"/>
                <a:cs typeface="Consolas" pitchFamily="34" charset="-120"/>
              </a:rPr>
              <a:t>,</a:t>
            </a:r>
            <a:endParaRPr lang="en-US" sz="700" dirty="0"/>
          </a:p>
          <a:p>
            <a:r>
              <a:rPr lang="en-US" sz="700" dirty="0">
                <a:solidFill>
                  <a:srgbClr val="CBD5E1"/>
                </a:solidFill>
                <a:latin typeface="Consolas" pitchFamily="34" charset="0"/>
                <a:ea typeface="Consolas" pitchFamily="34" charset="-122"/>
                <a:cs typeface="Consolas" pitchFamily="34" charset="-120"/>
              </a:rPr>
              <a:t>    </a:t>
            </a:r>
            <a:r>
              <a:rPr lang="en-US" sz="700" dirty="0" err="1">
                <a:solidFill>
                  <a:srgbClr val="CBD5E1"/>
                </a:solidFill>
                <a:latin typeface="Consolas" pitchFamily="34" charset="0"/>
                <a:ea typeface="Consolas" pitchFamily="34" charset="-122"/>
                <a:cs typeface="Consolas" pitchFamily="34" charset="-120"/>
              </a:rPr>
              <a:t>montant</a:t>
            </a:r>
            <a:r>
              <a:rPr lang="en-US" sz="700" dirty="0">
                <a:solidFill>
                  <a:srgbClr val="CBD5E1"/>
                </a:solidFill>
                <a:latin typeface="Consolas" pitchFamily="34" charset="0"/>
                <a:ea typeface="Consolas" pitchFamily="34" charset="-122"/>
                <a:cs typeface="Consolas" pitchFamily="34" charset="-120"/>
              </a:rPr>
              <a:t>,</a:t>
            </a:r>
            <a:endParaRPr lang="en-US" sz="700" dirty="0"/>
          </a:p>
          <a:p>
            <a:r>
              <a:rPr lang="en-US" sz="700" dirty="0">
                <a:solidFill>
                  <a:srgbClr val="CBD5E1"/>
                </a:solidFill>
                <a:latin typeface="Consolas" pitchFamily="34" charset="0"/>
                <a:ea typeface="Consolas" pitchFamily="34" charset="-122"/>
                <a:cs typeface="Consolas" pitchFamily="34" charset="-120"/>
              </a:rPr>
              <a:t>    TO_CHAR(date_</a:t>
            </a:r>
            <a:r>
              <a:rPr lang="en-US" sz="700" dirty="0" err="1">
                <a:solidFill>
                  <a:srgbClr val="CBD5E1"/>
                </a:solidFill>
                <a:latin typeface="Consolas" pitchFamily="34" charset="0"/>
                <a:ea typeface="Consolas" pitchFamily="34" charset="-122"/>
                <a:cs typeface="Consolas" pitchFamily="34" charset="-120"/>
              </a:rPr>
              <a:t>heure</a:t>
            </a:r>
            <a:r>
              <a:rPr lang="en-US" sz="700" dirty="0">
                <a:solidFill>
                  <a:srgbClr val="CBD5E1"/>
                </a:solidFill>
                <a:latin typeface="Consolas" pitchFamily="34" charset="0"/>
                <a:ea typeface="Consolas" pitchFamily="34" charset="-122"/>
                <a:cs typeface="Consolas" pitchFamily="34" charset="-120"/>
              </a:rPr>
              <a:t>,'DD/MM/YYYY HH24:MI') AS </a:t>
            </a:r>
            <a:r>
              <a:rPr lang="en-US" sz="700" dirty="0" err="1">
                <a:solidFill>
                  <a:srgbClr val="CBD5E1"/>
                </a:solidFill>
                <a:latin typeface="Consolas" pitchFamily="34" charset="0"/>
                <a:ea typeface="Consolas" pitchFamily="34" charset="-122"/>
                <a:cs typeface="Consolas" pitchFamily="34" charset="-120"/>
              </a:rPr>
              <a:t>date_heure</a:t>
            </a:r>
            <a:r>
              <a:rPr lang="en-US" sz="700" dirty="0">
                <a:solidFill>
                  <a:srgbClr val="CBD5E1"/>
                </a:solidFill>
                <a:latin typeface="Consolas" pitchFamily="34" charset="0"/>
                <a:ea typeface="Consolas" pitchFamily="34" charset="-122"/>
                <a:cs typeface="Consolas" pitchFamily="34" charset="-120"/>
              </a:rPr>
              <a:t>,</a:t>
            </a:r>
            <a:endParaRPr lang="en-US" sz="700" dirty="0"/>
          </a:p>
          <a:p>
            <a:r>
              <a:rPr lang="en-US" sz="700" dirty="0">
                <a:solidFill>
                  <a:srgbClr val="CBD5E1"/>
                </a:solidFill>
                <a:latin typeface="Consolas" pitchFamily="34" charset="0"/>
                <a:ea typeface="Consolas" pitchFamily="34" charset="-122"/>
                <a:cs typeface="Consolas" pitchFamily="34" charset="-120"/>
              </a:rPr>
              <a:t>    </a:t>
            </a:r>
            <a:r>
              <a:rPr lang="en-US" sz="700" dirty="0" err="1">
                <a:solidFill>
                  <a:srgbClr val="CBD5E1"/>
                </a:solidFill>
                <a:latin typeface="Consolas" pitchFamily="34" charset="0"/>
                <a:ea typeface="Consolas" pitchFamily="34" charset="-122"/>
                <a:cs typeface="Consolas" pitchFamily="34" charset="-120"/>
              </a:rPr>
              <a:t>chemin</a:t>
            </a:r>
            <a:endParaRPr lang="en-US" sz="700" dirty="0"/>
          </a:p>
          <a:p>
            <a:r>
              <a:rPr lang="en-US" sz="700" dirty="0">
                <a:solidFill>
                  <a:srgbClr val="CBD5E1"/>
                </a:solidFill>
                <a:latin typeface="Consolas" pitchFamily="34" charset="0"/>
                <a:ea typeface="Consolas" pitchFamily="34" charset="-122"/>
                <a:cs typeface="Consolas" pitchFamily="34" charset="-120"/>
              </a:rPr>
              <a:t>FROM </a:t>
            </a:r>
            <a:r>
              <a:rPr lang="en-US" sz="700" dirty="0" err="1">
                <a:solidFill>
                  <a:srgbClr val="CBD5E1"/>
                </a:solidFill>
                <a:latin typeface="Consolas" pitchFamily="34" charset="0"/>
                <a:ea typeface="Consolas" pitchFamily="34" charset="-122"/>
                <a:cs typeface="Consolas" pitchFamily="34" charset="-120"/>
              </a:rPr>
              <a:t>chaine</a:t>
            </a:r>
            <a:endParaRPr lang="en-US" sz="700" dirty="0"/>
          </a:p>
          <a:p>
            <a:r>
              <a:rPr lang="en-US" sz="700" dirty="0">
                <a:solidFill>
                  <a:srgbClr val="CBD5E1"/>
                </a:solidFill>
                <a:latin typeface="Consolas" pitchFamily="34" charset="0"/>
                <a:ea typeface="Consolas" pitchFamily="34" charset="-122"/>
                <a:cs typeface="Consolas" pitchFamily="34" charset="-120"/>
              </a:rPr>
              <a:t>ORDER BY </a:t>
            </a:r>
            <a:r>
              <a:rPr lang="en-US" sz="700" dirty="0" err="1">
                <a:solidFill>
                  <a:srgbClr val="CBD5E1"/>
                </a:solidFill>
                <a:latin typeface="Consolas" pitchFamily="34" charset="0"/>
                <a:ea typeface="Consolas" pitchFamily="34" charset="-122"/>
                <a:cs typeface="Consolas" pitchFamily="34" charset="-120"/>
              </a:rPr>
              <a:t>niveau</a:t>
            </a:r>
            <a:r>
              <a:rPr lang="en-US" sz="700" dirty="0">
                <a:solidFill>
                  <a:srgbClr val="CBD5E1"/>
                </a:solidFill>
                <a:latin typeface="Consolas" pitchFamily="34" charset="0"/>
                <a:ea typeface="Consolas" pitchFamily="34" charset="-122"/>
                <a:cs typeface="Consolas" pitchFamily="34" charset="-120"/>
              </a:rPr>
              <a:t>, </a:t>
            </a:r>
            <a:r>
              <a:rPr lang="en-US" sz="700" dirty="0" err="1">
                <a:solidFill>
                  <a:srgbClr val="CBD5E1"/>
                </a:solidFill>
                <a:latin typeface="Consolas" pitchFamily="34" charset="0"/>
                <a:ea typeface="Consolas" pitchFamily="34" charset="-122"/>
                <a:cs typeface="Consolas" pitchFamily="34" charset="-120"/>
              </a:rPr>
              <a:t>date_heure</a:t>
            </a:r>
            <a:r>
              <a:rPr lang="en-US" sz="700" dirty="0">
                <a:solidFill>
                  <a:srgbClr val="CBD5E1"/>
                </a:solidFill>
                <a:latin typeface="Consolas" pitchFamily="34" charset="0"/>
                <a:ea typeface="Consolas" pitchFamily="34" charset="-122"/>
                <a:cs typeface="Consolas" pitchFamily="34" charset="-120"/>
              </a:rPr>
              <a:t>;</a:t>
            </a:r>
            <a:endParaRPr lang="en-US" sz="700" dirty="0"/>
          </a:p>
          <a:p>
            <a:endParaRPr lang="en-US" dirty="0"/>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name="Slide 38">
    <p:bg>
      <p:bgPr>
        <a:solidFill>
          <a:srgbClr val="0B1628"/>
        </a:solidFill>
        <a:effectLst/>
      </p:bgPr>
    </p:bg>
    <p:spTree>
      <p:nvGrpSpPr>
        <p:cNvPr id="1" name=""/>
        <p:cNvGrpSpPr/>
        <p:nvPr/>
      </p:nvGrpSpPr>
      <p:grpSpPr>
        <a:xfrm>
          <a:off x="0" y="0"/>
          <a:ext cx="0" cy="0"/>
          <a:chOff x="0" y="0"/>
          <a:chExt cx="0" cy="0"/>
        </a:xfrm>
      </p:grpSpPr>
      <p:sp>
        <p:nvSpPr>
          <p:cNvPr id="2" name="Shape 0"/>
          <p:cNvSpPr/>
          <p:nvPr/>
        </p:nvSpPr>
        <p:spPr>
          <a:xfrm>
            <a:off x="6858000" y="-457200"/>
            <a:ext cx="3200400" cy="3200400"/>
          </a:xfrm>
          <a:prstGeom prst="ellipse">
            <a:avLst/>
          </a:prstGeom>
          <a:solidFill>
            <a:srgbClr val="0891B2">
              <a:alpha val="12000"/>
            </a:srgbClr>
          </a:solidFill>
          <a:ln w="12700">
            <a:solidFill>
              <a:srgbClr val="0891B2">
                <a:alpha val="12000"/>
              </a:srgbClr>
            </a:solidFill>
            <a:prstDash val="solid"/>
          </a:ln>
        </p:spPr>
      </p:sp>
      <p:sp>
        <p:nvSpPr>
          <p:cNvPr id="3" name="Shape 1"/>
          <p:cNvSpPr/>
          <p:nvPr/>
        </p:nvSpPr>
        <p:spPr>
          <a:xfrm>
            <a:off x="7772400" y="2743200"/>
            <a:ext cx="1828800" cy="1828800"/>
          </a:xfrm>
          <a:prstGeom prst="ellipse">
            <a:avLst/>
          </a:prstGeom>
          <a:solidFill>
            <a:srgbClr val="EA580C">
              <a:alpha val="15000"/>
            </a:srgbClr>
          </a:solidFill>
          <a:ln w="12700">
            <a:solidFill>
              <a:srgbClr val="EA580C">
                <a:alpha val="15000"/>
              </a:srgbClr>
            </a:solidFill>
            <a:prstDash val="solid"/>
          </a:ln>
        </p:spPr>
      </p:sp>
      <p:sp>
        <p:nvSpPr>
          <p:cNvPr id="4" name="Text 2"/>
          <p:cNvSpPr/>
          <p:nvPr/>
        </p:nvSpPr>
        <p:spPr>
          <a:xfrm>
            <a:off x="457200" y="320040"/>
            <a:ext cx="5486400" cy="640080"/>
          </a:xfrm>
          <a:prstGeom prst="rect">
            <a:avLst/>
          </a:prstGeom>
          <a:noFill/>
          <a:ln/>
        </p:spPr>
        <p:txBody>
          <a:bodyPr wrap="square" rtlCol="0" anchor="ctr"/>
          <a:lstStyle/>
          <a:p>
            <a:pPr marL="0" indent="0">
              <a:buNone/>
            </a:pPr>
            <a:r>
              <a:rPr lang="en-US" sz="3200" b="1" dirty="0">
                <a:solidFill>
                  <a:srgbClr val="FFFFFF"/>
                </a:solidFill>
                <a:latin typeface="Calibri" pitchFamily="34" charset="0"/>
                <a:ea typeface="Calibri" pitchFamily="34" charset="-122"/>
                <a:cs typeface="Calibri" pitchFamily="34" charset="-120"/>
              </a:rPr>
              <a:t>Conclusion</a:t>
            </a:r>
            <a:endParaRPr lang="en-US" sz="3200" dirty="0"/>
          </a:p>
        </p:txBody>
      </p:sp>
      <p:sp>
        <p:nvSpPr>
          <p:cNvPr id="5" name="Shape 3"/>
          <p:cNvSpPr/>
          <p:nvPr/>
        </p:nvSpPr>
        <p:spPr>
          <a:xfrm>
            <a:off x="457200" y="960120"/>
            <a:ext cx="1097280" cy="45720"/>
          </a:xfrm>
          <a:prstGeom prst="rect">
            <a:avLst/>
          </a:prstGeom>
          <a:solidFill>
            <a:srgbClr val="0891B2"/>
          </a:solidFill>
          <a:ln w="12700">
            <a:solidFill>
              <a:srgbClr val="0891B2"/>
            </a:solidFill>
            <a:prstDash val="solid"/>
          </a:ln>
        </p:spPr>
      </p:sp>
      <p:sp>
        <p:nvSpPr>
          <p:cNvPr id="6" name="Shape 4"/>
          <p:cNvSpPr/>
          <p:nvPr/>
        </p:nvSpPr>
        <p:spPr>
          <a:xfrm>
            <a:off x="365760" y="1143000"/>
            <a:ext cx="2011680" cy="2286000"/>
          </a:xfrm>
          <a:prstGeom prst="rect">
            <a:avLst/>
          </a:prstGeom>
          <a:solidFill>
            <a:srgbClr val="0E2040"/>
          </a:solidFill>
          <a:ln w="10160">
            <a:solidFill>
              <a:srgbClr val="0891B2"/>
            </a:solidFill>
            <a:prstDash val="solid"/>
          </a:ln>
        </p:spPr>
      </p:sp>
      <p:sp>
        <p:nvSpPr>
          <p:cNvPr id="7" name="Shape 5"/>
          <p:cNvSpPr/>
          <p:nvPr/>
        </p:nvSpPr>
        <p:spPr>
          <a:xfrm>
            <a:off x="365760" y="1143000"/>
            <a:ext cx="2011680" cy="457200"/>
          </a:xfrm>
          <a:prstGeom prst="rect">
            <a:avLst/>
          </a:prstGeom>
          <a:solidFill>
            <a:srgbClr val="0E7490"/>
          </a:solidFill>
          <a:ln w="12700">
            <a:solidFill>
              <a:srgbClr val="0E7490"/>
            </a:solidFill>
            <a:prstDash val="solid"/>
          </a:ln>
        </p:spPr>
      </p:sp>
      <p:sp>
        <p:nvSpPr>
          <p:cNvPr id="8" name="Text 6"/>
          <p:cNvSpPr/>
          <p:nvPr/>
        </p:nvSpPr>
        <p:spPr>
          <a:xfrm>
            <a:off x="438912" y="1161288"/>
            <a:ext cx="1865376" cy="420624"/>
          </a:xfrm>
          <a:prstGeom prst="rect">
            <a:avLst/>
          </a:prstGeom>
          <a:noFill/>
          <a:ln/>
        </p:spPr>
        <p:txBody>
          <a:bodyPr wrap="square"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  Architecture solide</a:t>
            </a:r>
            <a:endParaRPr lang="en-US" sz="1050" dirty="0"/>
          </a:p>
        </p:txBody>
      </p:sp>
      <p:sp>
        <p:nvSpPr>
          <p:cNvPr id="9" name="Text 7"/>
          <p:cNvSpPr/>
          <p:nvPr/>
        </p:nvSpPr>
        <p:spPr>
          <a:xfrm>
            <a:off x="475488" y="1673352"/>
            <a:ext cx="1792224" cy="1664208"/>
          </a:xfrm>
          <a:prstGeom prst="rect">
            <a:avLst/>
          </a:prstGeom>
          <a:noFill/>
          <a:ln/>
        </p:spPr>
        <p:txBody>
          <a:bodyPr wrap="square" rtlCol="0" anchor="t"/>
          <a:lstStyle/>
          <a:p>
            <a:pPr marL="0" indent="0">
              <a:buNone/>
            </a:pPr>
            <a:r>
              <a:rPr lang="en-US" sz="900" dirty="0">
                <a:solidFill>
                  <a:srgbClr val="CBD5E1"/>
                </a:solidFill>
                <a:latin typeface="Calibri" pitchFamily="34" charset="0"/>
                <a:ea typeface="Calibri" pitchFamily="34" charset="-122"/>
                <a:cs typeface="Calibri" pitchFamily="34" charset="-120"/>
              </a:rPr>
              <a:t>Base de données relationnelle normalisée</a:t>
            </a:r>
            <a:endParaRPr lang="en-US" sz="900" dirty="0"/>
          </a:p>
          <a:p>
            <a:pPr marL="0" indent="0">
              <a:buNone/>
            </a:pPr>
            <a:r>
              <a:rPr lang="en-US" sz="900" dirty="0">
                <a:solidFill>
                  <a:srgbClr val="CBD5E1"/>
                </a:solidFill>
                <a:latin typeface="Calibri" pitchFamily="34" charset="0"/>
                <a:ea typeface="Calibri" pitchFamily="34" charset="-122"/>
                <a:cs typeface="Calibri" pitchFamily="34" charset="-120"/>
              </a:rPr>
              <a:t>14 tables réparties en 3 domaines métier</a:t>
            </a:r>
            <a:endParaRPr lang="en-US" sz="900" dirty="0"/>
          </a:p>
          <a:p>
            <a:pPr marL="0" indent="0">
              <a:buNone/>
            </a:pPr>
            <a:r>
              <a:rPr lang="en-US" sz="900" dirty="0">
                <a:solidFill>
                  <a:srgbClr val="CBD5E1"/>
                </a:solidFill>
                <a:latin typeface="Calibri" pitchFamily="34" charset="0"/>
                <a:ea typeface="Calibri" pitchFamily="34" charset="-122"/>
                <a:cs typeface="Calibri" pitchFamily="34" charset="-120"/>
              </a:rPr>
              <a:t>Clés primaires/étrangères pour l'intégrité</a:t>
            </a:r>
            <a:endParaRPr lang="en-US" sz="900" dirty="0"/>
          </a:p>
        </p:txBody>
      </p:sp>
      <p:sp>
        <p:nvSpPr>
          <p:cNvPr id="10" name="Shape 8"/>
          <p:cNvSpPr/>
          <p:nvPr/>
        </p:nvSpPr>
        <p:spPr>
          <a:xfrm>
            <a:off x="2542032" y="1143000"/>
            <a:ext cx="2011680" cy="2286000"/>
          </a:xfrm>
          <a:prstGeom prst="rect">
            <a:avLst/>
          </a:prstGeom>
          <a:solidFill>
            <a:srgbClr val="0E2040"/>
          </a:solidFill>
          <a:ln w="10160">
            <a:solidFill>
              <a:srgbClr val="0891B2"/>
            </a:solidFill>
            <a:prstDash val="solid"/>
          </a:ln>
        </p:spPr>
      </p:sp>
      <p:sp>
        <p:nvSpPr>
          <p:cNvPr id="11" name="Shape 9"/>
          <p:cNvSpPr/>
          <p:nvPr/>
        </p:nvSpPr>
        <p:spPr>
          <a:xfrm>
            <a:off x="2542032" y="1143000"/>
            <a:ext cx="2011680" cy="457200"/>
          </a:xfrm>
          <a:prstGeom prst="rect">
            <a:avLst/>
          </a:prstGeom>
          <a:solidFill>
            <a:srgbClr val="0E7490"/>
          </a:solidFill>
          <a:ln w="12700">
            <a:solidFill>
              <a:srgbClr val="0E7490"/>
            </a:solidFill>
            <a:prstDash val="solid"/>
          </a:ln>
        </p:spPr>
      </p:sp>
      <p:sp>
        <p:nvSpPr>
          <p:cNvPr id="12" name="Text 10"/>
          <p:cNvSpPr/>
          <p:nvPr/>
        </p:nvSpPr>
        <p:spPr>
          <a:xfrm>
            <a:off x="2615184" y="1161288"/>
            <a:ext cx="1865376" cy="420624"/>
          </a:xfrm>
          <a:prstGeom prst="rect">
            <a:avLst/>
          </a:prstGeom>
          <a:noFill/>
          <a:ln/>
        </p:spPr>
        <p:txBody>
          <a:bodyPr wrap="square"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  Analyse SQL complète</a:t>
            </a:r>
            <a:endParaRPr lang="en-US" sz="1050" dirty="0"/>
          </a:p>
        </p:txBody>
      </p:sp>
      <p:sp>
        <p:nvSpPr>
          <p:cNvPr id="13" name="Text 11"/>
          <p:cNvSpPr/>
          <p:nvPr/>
        </p:nvSpPr>
        <p:spPr>
          <a:xfrm>
            <a:off x="2651760" y="1673352"/>
            <a:ext cx="1792224" cy="1664208"/>
          </a:xfrm>
          <a:prstGeom prst="rect">
            <a:avLst/>
          </a:prstGeom>
          <a:noFill/>
          <a:ln/>
        </p:spPr>
        <p:txBody>
          <a:bodyPr wrap="square" rtlCol="0" anchor="t"/>
          <a:lstStyle/>
          <a:p>
            <a:pPr marL="0" indent="0">
              <a:buNone/>
            </a:pPr>
            <a:r>
              <a:rPr lang="en-US" sz="900" dirty="0">
                <a:solidFill>
                  <a:srgbClr val="CBD5E1"/>
                </a:solidFill>
                <a:latin typeface="Calibri" pitchFamily="34" charset="0"/>
                <a:ea typeface="Calibri" pitchFamily="34" charset="-122"/>
                <a:cs typeface="Calibri" pitchFamily="34" charset="-120"/>
              </a:rPr>
              <a:t>15 requêtes classiques couvrant</a:t>
            </a:r>
            <a:endParaRPr lang="en-US" sz="900" dirty="0"/>
          </a:p>
          <a:p>
            <a:pPr marL="0" indent="0">
              <a:buNone/>
            </a:pPr>
            <a:r>
              <a:rPr lang="en-US" sz="900" dirty="0">
                <a:solidFill>
                  <a:srgbClr val="CBD5E1"/>
                </a:solidFill>
                <a:latin typeface="Calibri" pitchFamily="34" charset="0"/>
                <a:ea typeface="Calibri" pitchFamily="34" charset="-122"/>
                <a:cs typeface="Calibri" pitchFamily="34" charset="-120"/>
              </a:rPr>
              <a:t>SELECT, JOIN, GROUP BY, sous-requêtes,</a:t>
            </a:r>
            <a:endParaRPr lang="en-US" sz="900" dirty="0"/>
          </a:p>
          <a:p>
            <a:pPr marL="0" indent="0">
              <a:buNone/>
            </a:pPr>
            <a:r>
              <a:rPr lang="en-US" sz="900" dirty="0">
                <a:solidFill>
                  <a:srgbClr val="CBD5E1"/>
                </a:solidFill>
                <a:latin typeface="Calibri" pitchFamily="34" charset="0"/>
                <a:ea typeface="Calibri" pitchFamily="34" charset="-122"/>
                <a:cs typeface="Calibri" pitchFamily="34" charset="-120"/>
              </a:rPr>
              <a:t>CASE WHEN, NVL, FETCH FIRST, BETWEEN</a:t>
            </a:r>
            <a:endParaRPr lang="en-US" sz="900" dirty="0"/>
          </a:p>
        </p:txBody>
      </p:sp>
      <p:sp>
        <p:nvSpPr>
          <p:cNvPr id="14" name="Shape 12"/>
          <p:cNvSpPr/>
          <p:nvPr/>
        </p:nvSpPr>
        <p:spPr>
          <a:xfrm>
            <a:off x="4718304" y="1143000"/>
            <a:ext cx="2011680" cy="2286000"/>
          </a:xfrm>
          <a:prstGeom prst="rect">
            <a:avLst/>
          </a:prstGeom>
          <a:solidFill>
            <a:srgbClr val="0E2040"/>
          </a:solidFill>
          <a:ln w="10160">
            <a:solidFill>
              <a:srgbClr val="0891B2"/>
            </a:solidFill>
            <a:prstDash val="solid"/>
          </a:ln>
        </p:spPr>
      </p:sp>
      <p:sp>
        <p:nvSpPr>
          <p:cNvPr id="15" name="Shape 13"/>
          <p:cNvSpPr/>
          <p:nvPr/>
        </p:nvSpPr>
        <p:spPr>
          <a:xfrm>
            <a:off x="4718304" y="1143000"/>
            <a:ext cx="2011680" cy="457200"/>
          </a:xfrm>
          <a:prstGeom prst="rect">
            <a:avLst/>
          </a:prstGeom>
          <a:solidFill>
            <a:srgbClr val="EA580C"/>
          </a:solidFill>
          <a:ln w="12700">
            <a:solidFill>
              <a:srgbClr val="EA580C"/>
            </a:solidFill>
            <a:prstDash val="solid"/>
          </a:ln>
        </p:spPr>
      </p:sp>
      <p:sp>
        <p:nvSpPr>
          <p:cNvPr id="16" name="Text 14"/>
          <p:cNvSpPr/>
          <p:nvPr/>
        </p:nvSpPr>
        <p:spPr>
          <a:xfrm>
            <a:off x="4791456" y="1161288"/>
            <a:ext cx="1865376" cy="420624"/>
          </a:xfrm>
          <a:prstGeom prst="rect">
            <a:avLst/>
          </a:prstGeom>
          <a:noFill/>
          <a:ln/>
        </p:spPr>
        <p:txBody>
          <a:bodyPr wrap="square"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  Détection de fraude</a:t>
            </a:r>
            <a:endParaRPr lang="en-US" sz="1050" dirty="0"/>
          </a:p>
        </p:txBody>
      </p:sp>
      <p:sp>
        <p:nvSpPr>
          <p:cNvPr id="17" name="Text 15"/>
          <p:cNvSpPr/>
          <p:nvPr/>
        </p:nvSpPr>
        <p:spPr>
          <a:xfrm>
            <a:off x="4828032" y="1673352"/>
            <a:ext cx="1792224" cy="1664208"/>
          </a:xfrm>
          <a:prstGeom prst="rect">
            <a:avLst/>
          </a:prstGeom>
          <a:noFill/>
          <a:ln/>
        </p:spPr>
        <p:txBody>
          <a:bodyPr wrap="square" rtlCol="0" anchor="t"/>
          <a:lstStyle/>
          <a:p>
            <a:pPr marL="0" indent="0">
              <a:buNone/>
            </a:pPr>
            <a:r>
              <a:rPr lang="en-US" sz="900" dirty="0">
                <a:solidFill>
                  <a:srgbClr val="CBD5E1"/>
                </a:solidFill>
                <a:latin typeface="Calibri" pitchFamily="34" charset="0"/>
                <a:ea typeface="Calibri" pitchFamily="34" charset="-122"/>
                <a:cs typeface="Calibri" pitchFamily="34" charset="-120"/>
              </a:rPr>
              <a:t>15 </a:t>
            </a:r>
            <a:r>
              <a:rPr lang="en-US" sz="900" dirty="0" smtClean="0">
                <a:solidFill>
                  <a:srgbClr val="CBD5E1"/>
                </a:solidFill>
                <a:latin typeface="Calibri" pitchFamily="34" charset="0"/>
                <a:ea typeface="Calibri" pitchFamily="34" charset="-122"/>
                <a:cs typeface="Calibri" pitchFamily="34" charset="-120"/>
              </a:rPr>
              <a:t>“</a:t>
            </a:r>
            <a:r>
              <a:rPr lang="en-US" sz="900" dirty="0" err="1" smtClean="0">
                <a:solidFill>
                  <a:srgbClr val="CBD5E1"/>
                </a:solidFill>
                <a:latin typeface="Calibri" pitchFamily="34" charset="0"/>
                <a:ea typeface="Calibri" pitchFamily="34" charset="-122"/>
                <a:cs typeface="Calibri" pitchFamily="34" charset="-120"/>
              </a:rPr>
              <a:t>algorithmes</a:t>
            </a:r>
            <a:r>
              <a:rPr lang="en-US" sz="900" dirty="0" smtClean="0">
                <a:solidFill>
                  <a:srgbClr val="CBD5E1"/>
                </a:solidFill>
                <a:latin typeface="Calibri" pitchFamily="34" charset="0"/>
                <a:ea typeface="Calibri" pitchFamily="34" charset="-122"/>
                <a:cs typeface="Calibri" pitchFamily="34" charset="-120"/>
              </a:rPr>
              <a:t>” </a:t>
            </a:r>
            <a:r>
              <a:rPr lang="en-US" sz="900" dirty="0">
                <a:solidFill>
                  <a:srgbClr val="CBD5E1"/>
                </a:solidFill>
                <a:latin typeface="Calibri" pitchFamily="34" charset="0"/>
                <a:ea typeface="Calibri" pitchFamily="34" charset="-122"/>
                <a:cs typeface="Calibri" pitchFamily="34" charset="-120"/>
              </a:rPr>
              <a:t>de détection :</a:t>
            </a:r>
            <a:endParaRPr lang="en-US" sz="900" dirty="0"/>
          </a:p>
          <a:p>
            <a:pPr marL="0" indent="0">
              <a:buNone/>
            </a:pPr>
            <a:r>
              <a:rPr lang="en-US" sz="900" dirty="0">
                <a:solidFill>
                  <a:srgbClr val="CBD5E1"/>
                </a:solidFill>
                <a:latin typeface="Calibri" pitchFamily="34" charset="0"/>
                <a:ea typeface="Calibri" pitchFamily="34" charset="-122"/>
                <a:cs typeface="Calibri" pitchFamily="34" charset="-120"/>
              </a:rPr>
              <a:t>Velocity Check, Credential Stuffing,</a:t>
            </a:r>
            <a:endParaRPr lang="en-US" sz="900" dirty="0"/>
          </a:p>
          <a:p>
            <a:pPr marL="0" indent="0">
              <a:buNone/>
            </a:pPr>
            <a:r>
              <a:rPr lang="en-US" sz="900" dirty="0">
                <a:solidFill>
                  <a:srgbClr val="CBD5E1"/>
                </a:solidFill>
                <a:latin typeface="Calibri" pitchFamily="34" charset="0"/>
                <a:ea typeface="Calibri" pitchFamily="34" charset="-122"/>
                <a:cs typeface="Calibri" pitchFamily="34" charset="-120"/>
              </a:rPr>
              <a:t>Card Testing, Comptes Mules, Contagion…</a:t>
            </a:r>
            <a:endParaRPr lang="en-US" sz="900" dirty="0"/>
          </a:p>
        </p:txBody>
      </p:sp>
      <p:sp>
        <p:nvSpPr>
          <p:cNvPr id="18" name="Shape 16"/>
          <p:cNvSpPr/>
          <p:nvPr/>
        </p:nvSpPr>
        <p:spPr>
          <a:xfrm>
            <a:off x="6894576" y="1143000"/>
            <a:ext cx="2011680" cy="2286000"/>
          </a:xfrm>
          <a:prstGeom prst="rect">
            <a:avLst/>
          </a:prstGeom>
          <a:solidFill>
            <a:srgbClr val="0E2040"/>
          </a:solidFill>
          <a:ln w="10160">
            <a:solidFill>
              <a:srgbClr val="0891B2"/>
            </a:solidFill>
            <a:prstDash val="solid"/>
          </a:ln>
        </p:spPr>
      </p:sp>
      <p:sp>
        <p:nvSpPr>
          <p:cNvPr id="19" name="Shape 17"/>
          <p:cNvSpPr/>
          <p:nvPr/>
        </p:nvSpPr>
        <p:spPr>
          <a:xfrm>
            <a:off x="6894576" y="1143000"/>
            <a:ext cx="2011680" cy="457200"/>
          </a:xfrm>
          <a:prstGeom prst="rect">
            <a:avLst/>
          </a:prstGeom>
          <a:solidFill>
            <a:srgbClr val="EA580C"/>
          </a:solidFill>
          <a:ln w="12700">
            <a:solidFill>
              <a:srgbClr val="EA580C"/>
            </a:solidFill>
            <a:prstDash val="solid"/>
          </a:ln>
        </p:spPr>
      </p:sp>
      <p:sp>
        <p:nvSpPr>
          <p:cNvPr id="20" name="Text 18"/>
          <p:cNvSpPr/>
          <p:nvPr/>
        </p:nvSpPr>
        <p:spPr>
          <a:xfrm>
            <a:off x="6967728" y="1161288"/>
            <a:ext cx="1865376" cy="420624"/>
          </a:xfrm>
          <a:prstGeom prst="rect">
            <a:avLst/>
          </a:prstGeom>
          <a:noFill/>
          <a:ln/>
        </p:spPr>
        <p:txBody>
          <a:bodyPr wrap="square"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  Perspectives</a:t>
            </a:r>
            <a:endParaRPr lang="en-US" sz="1050" dirty="0"/>
          </a:p>
        </p:txBody>
      </p:sp>
      <p:sp>
        <p:nvSpPr>
          <p:cNvPr id="21" name="Text 19"/>
          <p:cNvSpPr/>
          <p:nvPr/>
        </p:nvSpPr>
        <p:spPr>
          <a:xfrm>
            <a:off x="7004304" y="1673352"/>
            <a:ext cx="1792224" cy="1664208"/>
          </a:xfrm>
          <a:prstGeom prst="rect">
            <a:avLst/>
          </a:prstGeom>
          <a:noFill/>
          <a:ln/>
        </p:spPr>
        <p:txBody>
          <a:bodyPr wrap="square" rtlCol="0" anchor="t"/>
          <a:lstStyle/>
          <a:p>
            <a:pPr marL="0" indent="0">
              <a:buNone/>
            </a:pPr>
            <a:r>
              <a:rPr lang="en-US" sz="900" dirty="0">
                <a:solidFill>
                  <a:srgbClr val="CBD5E1"/>
                </a:solidFill>
                <a:latin typeface="Calibri" pitchFamily="34" charset="0"/>
                <a:ea typeface="Calibri" pitchFamily="34" charset="-122"/>
                <a:cs typeface="Calibri" pitchFamily="34" charset="-120"/>
              </a:rPr>
              <a:t>Ajout de triggers automatiques</a:t>
            </a:r>
            <a:endParaRPr lang="en-US" sz="900" dirty="0"/>
          </a:p>
          <a:p>
            <a:pPr marL="0" indent="0">
              <a:buNone/>
            </a:pPr>
            <a:r>
              <a:rPr lang="en-US" sz="900" dirty="0">
                <a:solidFill>
                  <a:srgbClr val="CBD5E1"/>
                </a:solidFill>
                <a:latin typeface="Calibri" pitchFamily="34" charset="0"/>
                <a:ea typeface="Calibri" pitchFamily="34" charset="-122"/>
                <a:cs typeface="Calibri" pitchFamily="34" charset="-120"/>
              </a:rPr>
              <a:t>Intégration de règles ML de scoring</a:t>
            </a:r>
            <a:endParaRPr lang="en-US" sz="900" dirty="0"/>
          </a:p>
          <a:p>
            <a:pPr marL="0" indent="0">
              <a:buNone/>
            </a:pPr>
            <a:r>
              <a:rPr lang="en-US" sz="900" dirty="0">
                <a:solidFill>
                  <a:srgbClr val="CBD5E1"/>
                </a:solidFill>
                <a:latin typeface="Calibri" pitchFamily="34" charset="0"/>
                <a:ea typeface="Calibri" pitchFamily="34" charset="-122"/>
                <a:cs typeface="Calibri" pitchFamily="34" charset="-120"/>
              </a:rPr>
              <a:t>Tableau de bord temps réel pour analystes</a:t>
            </a:r>
            <a:endParaRPr lang="en-US" sz="900" dirty="0"/>
          </a:p>
        </p:txBody>
      </p:sp>
      <p:sp>
        <p:nvSpPr>
          <p:cNvPr id="22" name="Shape 20"/>
          <p:cNvSpPr/>
          <p:nvPr/>
        </p:nvSpPr>
        <p:spPr>
          <a:xfrm>
            <a:off x="0" y="4754880"/>
            <a:ext cx="9144000" cy="365760"/>
          </a:xfrm>
          <a:prstGeom prst="rect">
            <a:avLst/>
          </a:prstGeom>
          <a:solidFill>
            <a:srgbClr val="06101A"/>
          </a:solidFill>
          <a:ln w="12700">
            <a:solidFill>
              <a:srgbClr val="06101A"/>
            </a:solidFill>
            <a:prstDash val="solid"/>
          </a:ln>
        </p:spPr>
      </p:sp>
      <p:sp>
        <p:nvSpPr>
          <p:cNvPr id="23" name="Text 21"/>
          <p:cNvSpPr/>
          <p:nvPr/>
        </p:nvSpPr>
        <p:spPr>
          <a:xfrm>
            <a:off x="0" y="4754880"/>
            <a:ext cx="9144000" cy="365760"/>
          </a:xfrm>
          <a:prstGeom prst="rect">
            <a:avLst/>
          </a:prstGeom>
          <a:noFill/>
          <a:ln/>
        </p:spPr>
        <p:txBody>
          <a:bodyPr wrap="square" rtlCol="0" anchor="ctr"/>
          <a:lstStyle/>
          <a:p>
            <a:pPr marL="0" indent="0" algn="ctr">
              <a:buNone/>
            </a:pPr>
            <a:r>
              <a:rPr lang="en-US" sz="900" dirty="0">
                <a:solidFill>
                  <a:srgbClr val="475569"/>
                </a:solidFill>
                <a:latin typeface="Calibri" pitchFamily="34" charset="0"/>
                <a:ea typeface="Calibri" pitchFamily="34" charset="-122"/>
                <a:cs typeface="Calibri" pitchFamily="34" charset="-120"/>
              </a:rPr>
              <a:t>Anas SAOUDI  ·  Mohamed BATTI  ·  INDP1 C  ·  Sup'Com  ·  2025–2026  ·  Mme. Malek BEN YOUSSEF</a:t>
            </a:r>
            <a:endParaRPr lang="en-US" sz="900" dirty="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91</TotalTime>
  <Words>5974</Words>
  <Application>Microsoft Office PowerPoint</Application>
  <PresentationFormat>On-screen Show (16:9)</PresentationFormat>
  <Paragraphs>1817</Paragraphs>
  <Slides>42</Slides>
  <Notes>35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42</vt:i4>
      </vt:variant>
    </vt:vector>
  </HeadingPairs>
  <TitlesOfParts>
    <vt:vector size="46" baseType="lpstr">
      <vt:lpstr>Arial</vt:lpstr>
      <vt:lpstr>Calibri</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Alerte Fraude Neo-Banque SecurePay - 30 Requetes Oracle</dc:title>
  <dc:subject>PptxGenJS Presentation</dc:subject>
  <dc:creator>Anas SAOUDI - Mohamed BATTI</dc:creator>
  <cp:lastModifiedBy>anasssss</cp:lastModifiedBy>
  <cp:revision>13</cp:revision>
  <dcterms:created xsi:type="dcterms:W3CDTF">2026-04-20T13:35:38Z</dcterms:created>
  <dcterms:modified xsi:type="dcterms:W3CDTF">2026-04-20T21:11:33Z</dcterms:modified>
</cp:coreProperties>
</file>