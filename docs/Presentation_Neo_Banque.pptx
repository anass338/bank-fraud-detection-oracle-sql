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66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Alerte Fraude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Néo-Banque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d'une Base de Données Relationnelle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Détection de Fraudes Bancaires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Réalisé par : </a:t>
            </a:r>
            <a:r>
              <a:rPr lang="en-US" sz="1100" b="1" dirty="0">
                <a:solidFill>
                  <a:srgbClr val="FFFFFF"/>
                </a:solidFill>
              </a:rPr>
              <a:t>Anas SAOUDI &amp; Mohamed BATTI</a:t>
            </a:r>
            <a:r>
              <a:rPr lang="en-US" sz="1100" dirty="0">
                <a:solidFill>
                  <a:srgbClr val="BDC3C7"/>
                </a:solidFill>
              </a:rPr>
              <a:t>   |   Encadrant : </a:t>
            </a:r>
            <a:r>
              <a:rPr lang="en-US" sz="1100" b="1" dirty="0">
                <a:solidFill>
                  <a:srgbClr val="FFFFFF"/>
                </a:solidFill>
              </a:rPr>
              <a:t>Mme. Malek BEN YOUSSEF</a:t>
            </a:r>
            <a:r>
              <a:rPr lang="en-US" sz="1100" dirty="0">
                <a:solidFill>
                  <a:srgbClr val="BDC3C7"/>
                </a:solidFill>
              </a:rPr>
              <a:t>   |   </a:t>
            </a:r>
            <a:r>
              <a:rPr lang="en-US" sz="1100" dirty="0">
                <a:solidFill>
                  <a:srgbClr val="F39C12"/>
                </a:solidFill>
              </a:rPr>
              <a:t>Sup'Com — INDP1 C — 26 mars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néo-banque "SecurePay" fait face à une augmentation alarmante des fraudes bancaires. Les fraudeurs exploitent deux techniques majeures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023360" cy="1143000"/>
          </a:xfrm>
          <a:prstGeom prst="rect">
            <a:avLst/>
          </a:prstGeom>
          <a:solidFill>
            <a:srgbClr val="1A2A3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Vol de Carte Bancaire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frauduleuse des données de paiement subtilisées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514600"/>
            <a:ext cx="4023360" cy="1143000"/>
          </a:xfrm>
          <a:prstGeom prst="rect">
            <a:avLst/>
          </a:prstGeom>
          <a:solidFill>
            <a:srgbClr val="1A2A3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Account Takeover (ATO)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Piratage de comptes par compromission des identifiants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0A2218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587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Concevoir une base de données relationnelle (13 tables) permettant de stocker l'historique des clients et d'identifier automatiquement les comportements frauduleux via des requêtes SQL.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Besoins Fonctionnels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les informations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46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Profils, comptes, appareils, adresses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opérations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transactions et connexions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fraudes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SQL automatiques des comportements suspects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581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alertes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95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Signalements et suivi d'enquête jusqu'à résolution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69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Besoins Non-Fonctionnels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746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sensibles (cartes, mots de passe)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258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primaires/étrangères, aucune transaction orpheline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3246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optimisées pour des milliers de transactions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6048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7581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Évolutivité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995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extensible pour de nouvelles règles de détection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Détections Comportementales Basiques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7D1A1A"/>
          </a:solidFill>
          <a:ln w="12700">
            <a:solidFill>
              <a:srgbClr val="7D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502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Fraude de Vitesse (Velocity Check)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transactions effectuées avec la même carte dans deux pays différents en moins de 2 heures.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261872"/>
            <a:ext cx="1645920" cy="292608"/>
          </a:xfrm>
          <a:prstGeom prst="rect">
            <a:avLst/>
          </a:prstGeom>
          <a:solidFill>
            <a:srgbClr val="0A0A1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2984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Jointure + Fenêtrage temporel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1A3A7D"/>
          </a:solidFill>
          <a:ln w="12700">
            <a:solidFill>
              <a:srgbClr val="1A3A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23160"/>
            <a:ext cx="50292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0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 Comportement Inhabituel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utilisateurs ayant plus de 5 paiements refusés dans la même journée chez des commerçants Casino.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2633472"/>
            <a:ext cx="1645920" cy="292608"/>
          </a:xfrm>
          <a:prstGeom prst="rect">
            <a:avLst/>
          </a:prstGeom>
          <a:solidFill>
            <a:srgbClr val="0A0A1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26700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+ HAVING + DATE filter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1A5A2A"/>
          </a:solidFill>
          <a:ln w="12700">
            <a:solidFill>
              <a:srgbClr val="1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94760"/>
            <a:ext cx="50292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221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Nouveaux Appareils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114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les virements importants réalisés depuis un appareil récemment ajouté au compte client.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4005072"/>
            <a:ext cx="1645920" cy="292608"/>
          </a:xfrm>
          <a:prstGeom prst="rect">
            <a:avLst/>
          </a:prstGeom>
          <a:solidFill>
            <a:srgbClr val="0A0A14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404164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Sous-requête + Jointure temporelle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Détections Algorithmiques Avancées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Risque Commerçant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fraude par site marchand (seuil &gt; 5%) sur 30 jours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344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IP/appareil tentant &gt;3 comptes différents en &lt;10 minutes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🐟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Mules (Blanchiment)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761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virements entrants + virement sortant vidant &gt;90% vers Crypto en &lt;24h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761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micro-transactions (&lt;2€) en 3h chez de nouveaux commerçants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64008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Contagion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178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 réseau d'un fraudeur identifié (envois/réceptions)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Attendus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1A3A7D"/>
          </a:solidFill>
          <a:ln w="12700">
            <a:solidFill>
              <a:srgbClr val="1A3A7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1069848"/>
            <a:ext cx="1828800" cy="320040"/>
          </a:xfrm>
          <a:prstGeom prst="rect">
            <a:avLst/>
          </a:prstGeom>
          <a:solidFill>
            <a:srgbClr val="0A0A1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10642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0698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Script Schéma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49047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CREATE TABLE pour les 13 tables normalisées avec clés primaires et étrangères garantissant l'intégrité référentielle.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1A5A2A"/>
          </a:solidFill>
          <a:ln w="12700">
            <a:solidFill>
              <a:srgbClr val="1A5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05840" y="2395728"/>
            <a:ext cx="1828800" cy="320040"/>
          </a:xfrm>
          <a:prstGeom prst="rect">
            <a:avLst/>
          </a:prstGeom>
          <a:solidFill>
            <a:srgbClr val="0A0A14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43230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3957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Script Données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8163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Peuplement de la base avec des données fictives réalistes simulant des scénarios de fraude variés et exploitables.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5A1A1A"/>
          </a:solidFill>
          <a:ln w="12700">
            <a:solidFill>
              <a:srgbClr val="5A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6400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05840" y="3721608"/>
            <a:ext cx="1828800" cy="320040"/>
          </a:xfrm>
          <a:prstGeom prst="rect">
            <a:avLst/>
          </a:prstGeom>
          <a:solidFill>
            <a:srgbClr val="0A0A1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75818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queries.sql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7216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Requêtes d'Analyse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422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</a:t>
            </a:r>
            <a:r>
              <a:rPr lang="en-US" sz="1100" dirty="0" err="1" smtClean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r>
              <a:rPr lang="en-US" sz="1100" dirty="0" smtClean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complexes (jointures, agrégations, sous-requêtes, fonctions de fenêtrage) couvrant tous les cas de détection.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9202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192024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1155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60604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192024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155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192024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005840"/>
            <a:ext cx="19202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11556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903720" y="1993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SQL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0A1A0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12724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met en œuvre une architecture SQL normalisée capable de protéger les clients de SecurePay contre la fraude grâce à des modèles de détection avancés — de la vérification de vitesse à l'analyse de réseaux de fraude complexes.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4526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526</Words>
  <Application>Microsoft Office PowerPoint</Application>
  <PresentationFormat>On-screen Show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Alerte Fraude Néo-Banque</dc:title>
  <dc:subject>PptxGenJS Presentation</dc:subject>
  <dc:creator>PptxGenJS</dc:creator>
  <cp:lastModifiedBy>anasssss</cp:lastModifiedBy>
  <cp:revision>3</cp:revision>
  <dcterms:created xsi:type="dcterms:W3CDTF">2026-03-26T20:28:42Z</dcterms:created>
  <dcterms:modified xsi:type="dcterms:W3CDTF">2026-07-02T23:59:43Z</dcterms:modified>
</cp:coreProperties>
</file>